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From a product snapshot to five decisions
Suggested speaking time: 45 seconds. Whole deck: approximately 10–11 minutes.
TALK TRACK
This is a review for a fictional retailer, using 235 synthetic products. The goal is not to put every metric on a slide. It is to arrive at five specific, defensible decisions, show the evidence and uncertainties behind them, and agree who should validate the next step. None of the proposed actions or financial scenarios is a measured outcome.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
  "fields": [
    "summary.n_skus",
    "recommendations",
    "generated",
    "snapshot_id"
  ],
  "product_count": 235,
  "selected_ids": [
    "HC0070",
    "HC0002",
    "HC0101",
    "HC0024",
    "HC0083"
  ],
  "disclaimer": "Synthetic data, not a deployed or approved commercial programme."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The issue: decisions are buried in separate data
Suggested speaking time: 60 seconds. Whole deck: approximately 10–11 minutes.
TALK TRACK
The source files answer different questions. Performance tells us what was sold and the current flags; metadata adds product context; competitor observations add signals to investigate. They do not tell us why a product is inactive, how long stock has been missing or whether products are genuinely comparable. So the business issue is to connect these sources without turning correlation or a status flag into a commercial conclusion.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Sources: sku_performance.csv; product_metadata.csv; competitor_market_signals.csv.
Snapshot only = direct fields support an investigation, not a causal conclusion. Needs context = lifecycle, zero-sales or seasonal reasons are unknown. Limited comparison = category/shade matches with unverified product comparability. These labels describe evidence, not probability of success.
Synthetic dataset: product names, classifications and suppliers need validation before real commercial use.
The performance window is 12 weeks, but its end date and the date of the stock snapshot are not supplied.
Market revenue is a demand proxy. Channel / market is a descriptive ratio, not verified market share or proof of poor execution.
4 popularity scores are outside 0-100 and excluded from popularity calculations; raw values remain visible.
Oldest competitor observations are 81 days old as of 2026-09-20. The 60-day refresh threshold is an explicit review assumption, not a freshness guarantee.
Revenue/units zero-state mismatch; validate the sales feed for: HC0202.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Our approach: facts first, action second
Suggested speaking time: 60 seconds. Whole deck: approximately 10–11 minutes.
TALK TRACK
The approach separates facts from action. We validate first, apply explicit commercial rules, then rank operational checks before experiments. Selection produces five concrete products to discuss, with a proposed owner and success measure. The implementation is deliberately modest: a Python standard-library pipeline and a portable, standalone dashboard. There is no learned forecast and no automatic replenishment, pricing or range execution.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
  "source_files": [
    "analyze.py",
    "README.md",
    "dashboard_template.html",
    "outputs\\review.json"
  ],
  "selection_rule": "Operational checks come first, then lifecycle validation and commercial tests. Select up to five concrete items, taking the first item per primary action before adding repeats only when fewer than three decisions are available. No empty cards or mandatory one-per-lever recommendations.",
  "explicit_thresholds": {
    "chan_rev_low": 1395.96,
    "margin_low": 0.2666,
    "mkt_rev_strong": 95238.13720000004,
    "volume_seller": 5554.085999999998
  },
  "implementation_limit": "Deterministic stdlib analysis; no ML model; no live commercial-system writes."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The analysis creates a focused review agenda
Suggested speaking time: 65 seconds. Whole deck: approximately 10–11 minutes.
TALK TRACK
The rules match 134 of 235 products. That is an investigation agenda, not a count of proven commercial failures. Availability has 33 primary cases: 9 out of stock and 24 low stock. The other highlighted groups are checks and test candidates, not guaranteed opportunities. The 18 assortment cells are a different unit of analysis and must not be added to SKU counts.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
  "summary": {
    "action_counts": {
      "Confirm exit": 19,
      "Fix availability": 33,
      "Investigate zero sales": 2,
      "Review delist / markdown": 7,
      "Review margin": 11,
      "Review price benchmark": 23,
      "Review reactivation": 19,
      "Review seasonal range": 3,
      "Test promotion": 17
    },
    "availability_low_stock": 24,
    "availability_out_of_stock": 9,
    "channel_rev": 1387129.76,
    "channel_to_market_ratio_pct": 6.291360581808698,
    "gross_profit_scenario_eur": 24923.66,
    "market_rev": 22048168.15,
    "n_flagged": 134,
    "n_skus": 235,
    "reactivation_count": 19,
    "revenue_scenario_eur": 93026.53,
    "zero_sales_count": 2
  },
  "highlighted_groups": "Four selected primary-action groups, not the complete decomposition of n_flagged.",
  "counting_rule": "One primary action per flagged SKU. Secondary flags are not additional SKUs or incremental audiences.",
  "assortment_cell_count": 18,
  "assortment_ids": [
    "gap-1eaa065089c7",
    "gap-48066dd82bc6",
    "gap-1b07bb020c0c",
    "gap-4ddd5e7c9a9a",
    "gap-1d9b9a7f15c7",
    "gap-21fc144762a7",
    "gap-b6f50cf99981",
    "gap-88421ba8880f",
    "gap-6547995fcab1",
    "gap-3a3cd87f4674",
    "gap-83a1063d5331",
    "gap-2309b4ab0b3f",
    "gap-d1c3b51d1491",
    "gap-edf3991e8f07",
    "gap-b1cfbb3f58d0",
    "gap-199182d70e08",
    "gap-1ee9479df4d2",
    "gap-5f5273963197"
  ],
  "assortment_definition": "Subcategory × shade follow-up comparisons; not missing-SKU or monetary opportunity counts."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Five decisions for the next category review
Suggested speaking time: 105 seconds. Whole deck: approximately 10–11 minutes.
TALK TRACK
Read these as five real product conversations. Wella starts with a supply check. Sunlit Peach has stock but no recorded sales, so listing and feed validation come first, with a Summer caution. Bleach London needs an explanation for inactivity before any reactivation trial. Herbatint has a margin question, but is also out of stock: validate supply before making volume assumptions. Madison Reed is a candidate for a small, controlled merchandising test, not a promise that a peer ratio is attainable. The proposed owners have not been assigned automatically.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HC0070 — Wella Blondor Light Blonde
Primary action: Fix availability; also flagged: Review margin
Proposed owner: Supply planner
Next step: Confirm physical and online availability, stock-feed accuracy and supplier lead time; replenish if feasible before considering promotion.
Success measure: Availability, units sold and gross profit after the supply check.
Current status: aktiv; stock: out_of_stock; seasonality: Evergreen
12-week revenue €14,892.82; units 1,172; margin 19.6%
12-week market proxy €269,228.58; market trend +26.3%
Channel/proxy ratio 5.53166384%; peer ratio 7.21665887%; peer margin 39.100%
Peers (50; subject excluded): HC0001, HC0008, HC0011, HC0013, HC0015, HC0017, HC0018, HC0025, HC0028, HC0032, HC0037, HC0040, HC0041, HC0048, HC0049, HC0051, HC0064, HC0083, HC0094, HC0096, HC0099, HC0105, HC0106, HC0110, HC0112, HC0120, HC0123, HC0131, HC0132, HC0142, HC0146, HC0159, HC0167, HC0170, HC0172, HC0176, HC0177, HC0179, HC0182, HC0184, HC0190, HC0191, HC0195, HC0201, HC0206, HC0207, HC0211, HC0212, HC0222, HC0231
Scenario: {"assumptions":["Benchmark: median channel / market-demand-proxy ratio of 50 other active, in-stock, selling SKUs in this subcategory.","Assumes the peer ratio is a relevant comparison; it does not prove stock or promotion caused the distance.","Snapshot benchmark distance, not forecast, guaranteed gain or upper bound; stock duration and distribution coverage are unknown.","No annualisation, elasticity, promotional cost or cannibalisation is modelled."],"formula":"max(0, €269,228.58 x 0.07216658873886855 - €14,892.82) = €4,536.49","period":"12 weeks","value_eur":4536.49,"value_type":"Revenue"}
Caveats: One 12-week aggregate and current status/stock fields; the period end and stock duration are not supplied. Market revenue is a demand proxy, not a verified addressable sales pool.
Source records:
sku_performance.csv: HC0070, CSV row 71
product_metadata.csv: HC0070, CSV row 71
competitor_market_signals.csv: CM009, CSV row 10
competitor_market_signals.csv: CM054, CSV row 55
competitor_market_signals.csv: CM056, CSV row 57
competitor_market_signals.csv: CM058, CSV row 59
HC0002 — ZenBeauty Private Label Color Studio Sunlit Peach
Primary action: Investigate zero sales; also flagged: none
Proposed owner: E-commerce / category operations
Next step: Check listing visibility, barcode mapping, distribution and sales-feed completeness. Check the selling season before allocating promotional spend.
Success measure: Validated listing and sales feed; first confirmed sales, units and gross profit.
Current status: aktiv; stock: in_stock; seasonality: Summer
12-week revenue €0.00; units 0; margin 57.0%
12-week market proxy €64,200.00; market trend +31.0%
Channel/proxy ratio 0.00000000%; peer ratio 4.21597294%; peer margin 36.300%
Peers (27; subject excluded): HC0038, HC0055, HC0057, HC0059, HC0061, HC0068, HC0074, HC0077, HC0078, HC0080, HC0088, HC0102, HC0113, HC0115, HC0133, HC0149, HC0154, HC0171, HC0180, HC0186, HC0197, HC0208, HC0209, HC0215, HC0219, HC0224, HC0228
Scenario: {"assumptions":["An investigation is recommended; financial impact is not established."],"formula":"No defensible monetary estimate from the supplied data.","period":"12 weeks","value_eur":null,"value_type":"Not estimated"}
Caveats: One 12-week aggregate and current status/stock fields; the period end and stock duration are not supplied. Market revenue is a demand proxy, not a verified addressable sales pool. Summer item: verify the selling calendar before promotion, reactivation or clearance; the performance-window end is unknown.
Source records:
sku_performance.csv: HC0002, CSV row 3
product_metadata.csv: HC0002, CSV row 3
competitor_market_signals.csv: CM023, CSV row 24
HC0101 — Bleach London White Toner Cool Ash Blonde
Primary action: Review reactivation; also flagged: none
Proposed owner: Category manager
Next step: Establish why the item is inactive and whether the demand signal is relevant. Check supply, product role and commercial terms before a reactivation trial.
Success measure: Documented range decision; if trialled, units and gross profit against an agreed baseline.
Current status: inaktiv; stock: in_stock; seasonality: Evergreen
12-week revenue €33,543.34; units 2,024; margin 36.0%
12-week market proxy €332,008.70; market trend +17.8%
Channel/proxy ratio 10.10315091%; peer ratio 7.21665887%; peer margin 39.100%
Peers (50; subject excluded): HC0001, HC0008, HC0011, HC0013, HC0015, HC0017, HC0018, HC0025, HC0028, HC0032, HC0037, HC0040, HC0041, HC0048, HC0049, HC0051, HC0064, HC0083, HC0094, HC0096, HC0099, HC0105, HC0106, HC0110, HC0112, HC0120, HC0123, HC0131, HC0132, HC0142, HC0146, HC0159, HC0167, HC0170, HC0172, HC0176, HC0177, HC0179, HC0182, HC0184, HC0190, HC0191, HC0195, HC0201, HC0206, HC0207, HC0211, HC0212, HC0222, HC0231
Scenario: {"assumptions":["An investigation is recommended; financial impact is not established."],"formula":"No defensible monetary estimate from the supplied data.","period":"12 weeks","value_eur":null,"value_type":"Not estimated"}
Caveats: One 12-week aggregate and current status/stock fields; the period end and stock duration are not supplied. Market revenue is a demand proxy, not a verified addressable sales pool.
Source records:
sku_performance.csv: HC0101, CSV row 102
product_metadata.csv: HC0101, CSV row 102
competitor_market_signals.csv: CM053, CSV row 54
HC0024 — Herbatint Permanent Herbal Color Natural Black
Primary action: Review margin; also flagged: none
Proposed owner: Buyer / commercial finance
Next step: Also verify current availability before making a volume-dependent commercial change. Validate cost and margin definitions and discuss supplier terms. Assess volume risk before any price change; the peer median is not a price target.
Success measure: Gross profit and units sold, not margin percentage alone.
Current status: aktiv; stock: out_of_stock; seasonality: Evergreen
12-week revenue €30,499.52; units 5,462; margin 24.6%
12-week market proxy €522,888.84; market trend -11.1%
Channel/proxy ratio 5.83288792%; peer ratio 7.21665887%; peer margin 39.100%
Peers (50; subject excluded): HC0001, HC0008, HC0011, HC0013, HC0015, HC0017, HC0018, HC0025, HC0028, HC0032, HC0037, HC0040, HC0041, HC0048, HC0049, HC0051, HC0064, HC0083, HC0094, HC0096, HC0099, HC0105, HC0106, HC0110, HC0112, HC0120, HC0123, HC0131, HC0132, HC0142, HC0146, HC0159, HC0167, HC0170, HC0172, HC0176, HC0177, HC0179, HC0182, HC0184, HC0190, HC0191, HC0195, HC0201, HC0206, HC0207, HC0211, HC0212, HC0222, HC0231
Scenario: {"assumptions":["Benchmark: margin median of 50 other active, in-stock, selling SKUs in the subcategory.","Holds current revenue constant; changing price may alter demand. A peer margin is not an achievable supplier concession.","Additional gross profit, not additional revenue or net profit; costs of implementing the action are not supplied."],"formula":"max(0, €30,499.52 x (0.391 - 0.246)) = €4,422.43","period":"12 weeks","value_eur":4422.43,"value_type":"Gross profit"}
Caveats: One 12-week aggregate and current status/stock fields; the period end and stock duration are not supplied. Market revenue is a demand proxy, not a verified addressable sales pool. Current stock is out of stock. Verify supply before assuming the historical sales volume can continue.
Source records:
sku_performance.csv: HC0024, CSV row 25
product_metadata.csv: HC0024, CSV row 25
competitor_market_signals.csv: CM043, CSV row 44
HC0083 — Madison Reed Root Touch Up Pearl Blonde
Primary action: Test promotion; also flagged: none
Proposed owner: Category / merchandising manager
Next step: Verify availability, product visibility and promotional economics. Run a small, time-bounded merchandising test with a baseline or control.
Success measure: Incremental units and gross profit net of promotional costs and cannibalisation.
Current status: aktiv; stock: in_stock; seasonality: Evergreen
12-week revenue €11,148.18; units 468; margin 36.8%
12-week market proxy €226,316.30; market trend +14.7%
Channel/proxy ratio 4.92592889%; peer ratio 7.33387023%; peer margin 39.400%
Peers (49; subject excluded): HC0001, HC0008, HC0011, HC0013, HC0015, HC0017, HC0018, HC0025, HC0028, HC0032, HC0037, HC0040, HC0041, HC0048, HC0049, HC0051, HC0064, HC0094, HC0096, HC0099, HC0105, HC0106, HC0110, HC0112, HC0120, HC0123, HC0131, HC0132, HC0142, HC0146, HC0159, HC0167, HC0170, HC0172, HC0176, HC0177, HC0179, HC0182, HC0184, HC0190, HC0191, HC0195, HC0201, HC0206, HC0207, HC0211, HC0212, HC0222, HC0231
Scenario: {"assumptions":["Benchmark: median channel / market-demand-proxy ratio of 49 other active, in-stock, selling SKUs in this subcategory.","Assumes the peer ratio is a relevant comparison; it does not prove stock or promotion caused the distance.","Snapshot benchmark distance, not forecast, guaranteed gain or upper bound; stock duration and distribution coverage are unknown.","No annualisation, elasticity, promotional cost or cannibalisation is modelled."],"formula":"max(0, €226,316.30 x 0.07333870233961558 - €11,148.18) = €5,449.56","period":"12 weeks","value_eur":5449.56,"value_type":"Revenue"}
Caveats: One 12-week aggregate and current status/stock fields; the period end and stock duration are not supplied. Market revenue is a demand proxy, not a verified addressable sales pool.
Source records:
sku_performance.csv: HC0083, CSV row 84
product_metadata.csv: HC0083, CSV row 84
competitor_market_signals.csv: CM053, CSV row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Financial scenarios guide questions, not promises
Suggested speaking time: 75 seconds. Whole deck: approximately 10–11 minutes.
TALK TRACK
These are deliberately separate scenario measures. €93,026.53 is the total distance to subcategory peer ratios across applicable primary-action SKU cases. €24,923.66 is a margin scenario holding current revenue constant. Neither is actual uplift, ROI, a forecast, a conservative ceiling or an upper bound. We cannot annualise the snapshot, and costs, elasticity and cannibalisation are not modelled. The numbers guide which questions to validate; the pilot would have to measure the benefit.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Exact revenue scenario: €93,026.53.
Exact gross-profit scenario: €24,923.66.
Scope: all opportunities with a primary-action SKU scenario, not recommendations only; no secondary-flag double counting.
Revenue formula per eligible SKU: max(0, market_revenue_eur_12w × peer_ratio_pct / 100 − channel_revenue_eur_12w).
Gross-profit formula per eligible SKU: max(0, channel_revenue_eur_12w × (peer_margin_pct − channel_margin_pct)).
Peers: other active, in-stock, selling SKUs in the same subcategory; subject SKU excluded. No usable peers means not estimated.
All scenario inputs are for the supplied 12-week window. Its end date is not provided. No annualisation.
Zero-sales, lifecycle and assortment investigations have no defensible monetary estimate from these data.
Descriptive channel / market-demand-proxy ratio: 6.29136058%. This is not verified market share or evidence of execution quality.
Revenue scenarios are distances to a subcategory peer ratio; gross-profit scenarios hold current revenue constant and change margin to a peer median. Neither is a forecast, guaranteed gain or statistical upper bound. Do not add revenue to gross profit. No annualisation; promotion cost, elasticity and cannibalisation are not modelled.
Per-case source IDs and calculations:
HC0070 | Revenue | max(0, €269,228.58 x 0.07216658873886855 - €14,892.82) = €4,536.49 | sku_performance.csv: HC0070, CSV row 71; product_metadata.csv: HC0070, CSV row 71; competitor_market_signals.csv: CM009, CSV row 10; competitor_market_signals.csv: CM054, CSV row 55; competitor_market_signals.csv: CM056, CSV row 57; competitor_market_signals.csv: CM058, CSV row 59
HC0006 | Revenue | max(0, €238,000.00 x 0.07216658873886855 - €16,400.00) = €775.65 | sku_performance.csv: HC0006, CSV row 7; product_metadata.csv: HC0006, CSV row 7; competitor_market_signals.csv: CM003, CSV row 4; competitor_market_signals.csv: CM019, CSV row 20; competitor_market_signals.csv: CM073, CSV row 74
HC0053 | Revenue | max(0, €132,930.60 x 0.07216658873886855 - €16,742.67) = €0.00 | sku_performance.csv: HC0053, CSV row 54; product_metadata.csv: HC0053, CSV row 54; competitor_market_signals.csv: CM029, CSV row 30
HC0043 | Revenue | max(0, €109,929.08 x 0.07216658873886855 - €7,330.80) = €602.41 | sku_performance.csv: HC0043, CSV row 44; product_metadata.csv: HC0043, CSV row 44; competitor_market_signals.csv: CM043, CSV row 44
HC0229 | Revenue | max(0, €49,019.36 x 0.05143053591957583 - €2,370.67) = €150.42 | sku_performance.csv: HC0229, CSV row 230; product_metadata.csv: HC0229, CSV row 230; competitor_market_signals.csv: CM041, CSV row 42
HC0111 | Revenue | max(0, €34,818.64 x 0.04158778905071245 - €846.66) = €601.37 | sku_performance.csv: HC0111, CSV row 112; product_metadata.csv: HC0111, CSV row 112
HC0135 | Revenue | max(0, €23,935.84 x 0.07216658873886855 - €189.30) = €1,538.07 | sku_performance.csv: HC0135, CSV row 136; product_metadata.csv: HC0135, CSV row 136
HC0119 | Revenue | max(0, €23,358.69 x 0.05440241102241644 - €2,434.79) = €0.00 | sku_performance.csv: HC0119, CSV row 120; product_metadata.csv: HC0119, CSV row 120; competitor_market_signals.csv: CM011, CSV row 12
HC0165 | Revenue | max(0, €17,403.48 x 0.05143053591957583 - €438.43) = €456.64 | sku_performance.csv: HC0165, CSV row 166; product_metadata.csv: HC0165, CSV row 166; competitor_market_signals.csv: CM002, CSV row 3
HC0143 | Revenue | max(0, €761,015.38 x 0.07216658873886855 - €32,316.38) = €22,603.50 | sku_performance.csv: HC0143, CSV row 144; product_metadata.csv: HC0143, CSV row 144; competitor_market_signals.csv: CM029, CSV row 30
HC0004 | Revenue | max(0, €134,000.00 x 0.05143053591957583 - €220.00) = €6,671.69 | sku_performance.csv: HC0004, CSV row 5; product_metadata.csv: HC0004, CSV row 5; competitor_market_signals.csv: CM002, CSV row 3
HC0089 | Revenue | max(0, €433,515.65 x 0.05440241102241644 - €18,055.52) = €5,528.78 | sku_performance.csv: HC0089, CSV row 90; product_metadata.csv: HC0089, CSV row 90; competitor_market_signals.csv: CM070, CSV row 71
HC0029 | Revenue | max(0, €197,544.64 x 0.07216658873886855 - €8,747.53) = €5,508.59 | sku_performance.csv: HC0029, CSV row 30; product_metadata.csv: HC0029, CSV row 30; competitor_market_signals.csv: CM065, CSV row 66
HC0216 | Revenue | max(0, €82,945.82 x 0.07216658873886855 - €3,954.45) = €2,031.47 | sku_performance.csv: HC0216, CSV row 217; product_metadata.csv: HC0216, CSV row 217; competitor_market_signals.csv: CM053, CSV row 54
HC0188 | Revenue | max(0, €18,876.69 x 0.07216658873886855 - €65.61) = €1,296.66 | sku_performance.csv: HC0188, CSV row 189; product_metadata.csv: HC0188, CSV row 189
HC0022 | Revenue | max(0, €54,053.15 x 0.05143053591957583 - €2,148.67) = €631.31 | sku_performance.csv: HC0022, CSV row 23; product_metadata.csv: HC0022, CSV row 23; competitor_market_signals.csv: CM041, CSV row 42
HC0137 | Revenue | max(0, €6,763.58 x 0.07216658873886855 - €0.00) = €488.10 | sku_performance.csv: HC0137, CSV row 138; product_metadata.csv: HC0137, CSV row 138; competitor_market_signals.csv: CM053, CSV row 54
HC0035 | Revenue | max(0, €81,023.35 x 0.04215972941094782 - €2,935.23) = €480.69 | sku_performance.csv: HC0035, CSV row 36; product_metadata.csv: HC0035, CSV row 36
HC0117 | Revenue | max(0, €7,064.76 x 0.04215972941094782 - €0.00) = €297.85 | sku_performance.csv: HC0117, CSV row 118; product_metadata.csv: HC0117, CSV row 118; competitor_market_signals.csv: CM001, CSV row 2; competitor_market_signals.csv: CM034, CSV row 35
HC0194 | Revenue | max(0, €7,499.71 x 0.05440241102241644 - €198.60) = €209.40 | sku_performance.csv: HC0194, CSV row 195; product_metadata.csv: HC0194, CSV row 195; competitor_market_signals.csv: CM070, CSV row 71
HC0221 | Revenue | max(0, €46,925.04 x 0.04158778905071245 - €1,816.15) = €135.36 | sku_performance.csv: HC0221, CSV row 222; product_metadata.csv: HC0221, CSV row 222
HC0072 | Revenue | max(0, €29,560.44 x 0.05143053591957583 - €1,464.44) = €55.87 | sku_performance.csv: HC0072, CSV row 73; product_metadata.csv: HC0072, CSV row 73
HC0073 | Revenue | max(0, €33,157.81 x 0.04158778905071245 - €1,356.22) = €22.74 | sku_performance.csv: HC0073, CSV row 74; product_metadata.csv: HC0073, CSV row 74
HC0108 | Revenue | max(0, €213,564.79 x 0.05143053591957583 - €15,242.84) = €0.00 | sku_performance.csv: HC0108, CSV row 109; product_metadata.csv: HC0108, CSV row 109; competitor_market_signals.csv: CM042, CSV row 43
HC0021 | Revenue | max(0, €164,441.87 x 0.07216658873886855 - €12,414.74) = €0.00 | sku_performance.csv: HC0021, CSV row 22; product_metadata.csv: HC0021, CSV row 22; competitor_market_signals.csv: CM010, CSV row 11; competitor_market_signals.csv: CM028, CSV row 29; competitor_market_signals.csv: CM044, CSV row 45
HC0164 | Revenue | max(0, €122,995.98 x 0.05440241102241644 - €10,451.07) = €0.00 | sku_performance.csv: HC0164, CSV row 165; product_metadata.csv: HC0164, CSV row 165; competitor_market_signals.csv: CM070, CSV row 71
HC0151 | Revenue | max(0, €68,945.20 x 0.04215972941094782 - €3,109.46) = €0.00 | sku_performance.csv: HC0151, CSV row 152; product_metadata.csv: HC0151, CSV row 152; competitor_market_signals.csv: CM039, CSV row 40
HC0220 | Revenue | max(0, €48,860.17 x 0.04215972941094782 - €3,094.81) = €0.00 | sku_performance.csv: HC0220, CSV row 221; product_metadata.csv: HC0220, CSV row 221; competitor_market_signals.csv: CM001, CSV row 2; competitor_market_signals.csv: CM034, CSV row 35
HC0118 | Revenue | max(0, €33,382.50 x 0.05143053591957583 - €2,236.93) = €0.00 | sku_performance.csv: HC0118, CSV row 119; product_metadata.csv: HC0118, CSV row 119; competitor_market_signals.csv: CM002, CSV row 3
HC0027 | Revenue | max(0, €30,682.39 x 0.02624143922628283 - €1,822.41) = €0.00 | sku_performance.csv: HC0027, CSV row 28; product_metadata.csv: HC0027, CSV row 28
HC0104 | Revenue | max(0, €30,171.15 x 0.05440241102241644 - €3,206.65) = €0.00 | sku_performance.csv: HC0104, CSV row 105; product_metadata.csv: HC0104, CSV row 105
HC0065 | Revenue | max(0, €29,452.42 x 0.04215972941094782 - €1,518.45) = €0.00 | sku_performance.csv: HC0065, CSV row 66; product_metadata.csv: HC0065, CSV row 66; competitor_market_signals.csv: CM001, CSV row 2; competitor_market_signals.csv: CM034, CSV row 35
HC0125 | Revenue | max(0, €18,136.39 x 0.02624143922628283 - €890.53) = €0.00 | sku_performance.csv: HC0125, CSV row 126; product_metadata.csv: HC0125, CSV row 126
HC0024 | Gross profit | max(0, €30,499.52 x (0.391 - 0.246)) = €4,422.43 | sku_performance.csv: HC0024, CSV row 25; product_metadata.csv: HC0024, CSV row 25; competitor_market_signals.csv: CM043, CSV row 44
HC0015 | Gross profit | max(0, €22,999.65 x (0.394 - 0.208)) = €4,277.93 | sku_performance.csv: HC0015, CSV row 16; product_metadata.csv: HC0015, CSV row 16; competitor_market_signals.csv: CM053, CSV row 54
HC0096 | Gross profit | max(0, €17,170.56 x (0.394 - 0.211)) = €3,142.21 | sku_performance.csv: HC0096, CSV row 97; product_metadata.csv: HC0096, CSV row 97; competitor_market_signals.csv: CM029, CSV row 30
HC0184 | Gross profit | max(0, €14,346.47 x (0.394 - 0.22)) = €2,496.29 | sku_performance.csv: HC0184, CSV row 185; product_metadata.csv: HC0184, CSV row 185; competitor_market_signals.csv: CM026, CSV row 27; competitor_market_signals.csv: CM063, CSV row 64
HC0123 | Gross profit | max(0, €16,572.29 x (0.394 - 0.25)) = €2,386.41 | sku_performance.csv: HC0123, CSV row 124; product_metadata.csv: HC0123, CSV row 124; competitor_market_signals.csv: CM046, CSV row 47
HC0016 | Gross profit | max(0, €11,161.19 x (0.391 - 0.198)) = €2,154.11 | sku_performance.csv: HC0016, CSV row 17; product_metadata.csv: HC0016, CSV row 17; competitor_market_signals.csv: CM026, CSV row 27; competitor_market_signals.csv: CM063, CSV row 64
HC0174 | Gross profit | max(0, €12,704.24 x (0.37 - 0.217)) = €1,943.75 | sku_performance.csv: HC0174, CSV row 175; product_metadata.csv: HC0174, CSV row 175; competitor_market_signals.csv: CM011, CSV row 12
HC0157 | Gross profit | max(0, €12,113.83 x (0.37 - 0.26)) = €1,332.52 | sku_performance.csv: HC0157, CSV row 158; product_metadata.csv: HC0157, CSV row 158; competitor_market_signals.csv: CM070, CSV row 71
HC0076 | Gross profit | max(0, €6,232.48 x (0.37 - 0.188)) = €1,134.31 | sku_performance.csv: HC0076, CSV row 77; product_metadata.csv: HC0076, CSV row 77; competitor_market_signals.csv: CM074, CSV row 75
HC0203 | Gross profit | max(0, €6,627.42 x (0.37 - 0.233)) = €907.96 | sku_performance.csv: HC0203, CSV row 204; product_metadata.csv: HC0203, CSV row 204; competitor_market_signals.csv: CM070, CSV row 71
HC0161 | Gross profit | max(0, €6,256.35 x (0.37 - 0.254)) = €725.74 | sku_performance.csv: HC0161, CSV row 162; product_metadata.csv: HC0161, CSV row 162
HC0083 | Revenue | max(0, €226,316.30 x 0.07333870233961558 - €11,148.18) = €5,449.56 | sku_performance.csv: HC0083, CSV row 84; product_metadata.csv: HC0083, CSV row 84; competitor_market_signals.csv: CM053, CSV row 54
HC0064 | Revenue | max(0, €147,997.37 x 0.07333870233961558 - €6,802.52) = €4,051.42 | sku_performance.csv: HC0064, CSV row 65; product_metadata.csv: HC0064, CSV row 65; competitor_market_signals.csv: CM053, CSV row 54
HC0051 | Revenue | max(0, €687,963.60 x 0.07333870233961558 - €47,004.95) = €3,449.41 | sku_performance.csv: HC0051, CSV row 52; product_metadata.csv: HC0051, CSV row 52; competitor_market_signals.csv: CM053, CSV row 54
HC0120 | Revenue | max(0, €112,782.18 x 0.07333870233961558 - €4,968.10) = €3,303.20 | sku_performance.csv: HC0120, CSV row 121; product_metadata.csv: HC0120, CSV row 121; competitor_market_signals.csv: CM009, CSV row 10; competitor_market_signals.csv: CM054, CSV row 55; competitor_market_signals.csv: CM056, CSV row 57; competitor_market_signals.csv: CM058, CSV row 59
HC0110 | Revenue | max(0, €111,971.10 x 0.07333870233961558 - €5,060.58) = €3,151.24 | sku_performance.csv: HC0110, CSV row 111; product_metadata.csv: HC0110, CSV row 111; competitor_market_signals.csv: CM022, CSV row 23; competitor_market_signals.csv: CM024, CSV row 25
HC0099 | Revenue | max(0, €160,101.52 x 0.07333870233961558 - €8,778.58) = €2,963.06 | sku_performance.csv: HC0099, CSV row 100; product_metadata.csv: HC0099, CSV row 100; competitor_market_signals.csv: CM022, CSV row 23; competitor_market_signals.csv: CM024, CSV row 25
HC0212 | Revenue | max(0, €112,885.61 x 0.07333870233961558 - €5,613.49) = €2,665.39 | sku_performance.csv: HC0212, CSV row 213; product_metadata.csv: HC0212, CSV row 213; competitor_market_signals.csv: CM065, CSV row 66
HC0179 | Revenue | max(0, €121,579.47 x 0.07333870233961558 - €6,316.36) = €2,600.12 | sku_performance.csv: HC0179, CSV row 180; product_metadata.csv: HC0179, CSV row 180; competitor_market_signals.csv: CM043, CSV row 44
HC0178 | Revenue | max(0, €139,919.73 x 0.05535199317993758 - €5,376.00) = €2,368.84 | sku_performance.csv: HC0178, CSV row 179; product_metadata.csv: HC0178, CSV row 179; competitor_market_signals.csv: CM025, CSV row 26; competitor_market_signals.csv: CM075, CSV row 76
HC0159 | Revenue | max(0, €118,517.33 x 0.07333870233961558 - €6,461.99) = €2,229.92 | sku_performance.csv: HC0159, CSV row 160; product_metadata.csv: HC0159, CSV row 160; competitor_market_signals.csv: CM045, CSV row 46; competitor_market_signals.csv: CM052, CSV row 53
HC0056 | Revenue | max(0, €138,925.59 x 0.05535199317993758 - €5,464.98) = €2,224.83 | sku_performance.csv: HC0056, CSV row 57; product_metadata.csv: HC0056, CSV row 57; competitor_market_signals.csv: CM070, CSV row 71
HC0090 | Revenue | max(0, €104,387.62 x 0.05535199317993758 - €4,480.97) = €1,297.09 | sku_performance.csv: HC0090, CSV row 91; product_metadata.csv: HC0090, CSV row 91
HC0013 | Revenue | max(0, €105,354.34 x 0.07333870233961558 - €6,807.24) = €919.31 | sku_performance.csv: HC0013, CSV row 14; product_metadata.csv: HC0013, CSV row 14; competitor_market_signals.csv: CM029, CSV row 30
HC0050 | Revenue | max(0, €210,625.26 x 0.05384400272156941 - €10,832.57) = €508.34 | sku_performance.csv: HC0050, CSV row 51; product_metadata.csv: HC0050, CSV row 51; competitor_market_signals.csv: CM002, CSV row 3
HC0211 | Revenue | max(0, €114,109.68 x 0.07333870233961558 - €7,903.02) = €465.64 | sku_performance.csv: HC0211, CSV row 212; product_metadata.csv: HC0211, CSV row 212; competitor_market_signals.csv: CM053, CSV row 54
HC0001 | Revenue | max(0, €181,000.00 x 0.07333870233961558 - €12,850.00) = €424.31 | sku_performance.csv: HC0001, CSV row 2; product_metadata.csv: HC0001, CSV row 2; competitor_market_signals.csv: CM065, CSV row 66
HC0154 | Revenue | max(0, €97,657.25 x 0.0436976984691773 - €3,935.61) = €331.79 | sku_performance.csv: HC0154, CSV row 155; product_metadata.csv: HC0154, CSV row 155; competitor_market_signals.csv: CM001, CSV row 2; competitor_market_signals.csv: CM034, CSV row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What changes for stakeholders
Suggested speaking time: 60 seconds. Whole deck: approximately 10–11 minutes.
TALK TRACK
The benefit delivered by the prototype is a capability: an evidence trail and an accountable review plan. The category lead owns the decision; supply and e-commerce validate the prerequisites; buyers and finance validate commercial economics. Each discussion should finish with an owner, a decision and a next checkpoint. We have not measured adoption, hours saved or commercial impact, so those must not be claimed as delivered benefits.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
  "owner_and_measure_sources": [
    {
      "id": "HC0070",
      "suggested_owner": "Supply planner",
      "next_step": "Confirm physical and online availability, stock-feed accuracy and supplier lead time; replenish if feasible before considering promotion.",
      "success_measure": "Availability, units sold and gross profit after the supply check."
    },
    {
      "id": "HC0002",
      "suggested_owner": "E-commerce / category operations",
      "next_step": "Check listing visibility, barcode mapping, distribution and sales-feed completeness. Check the selling season before allocating promotional spend.",
      "success_measure": "Validated listing and sales feed; first confirmed sales, units and gross profit."
    },
    {
      "id": "HC0101",
      "suggested_owner": "Category manager",
      "next_step": "Establish why the item is inactive and whether the demand signal is relevant. Check supply, product role and commercial terms before a reactivation trial.",
      "success_measure": "Documented range decision; if trialled, units and gross profit against an agreed baseline."
    },
    {
      "id": "HC0024",
      "suggested_owner": "Buyer / commercial finance",
      "next_step": "Also verify current availability before making a volume-dependent commercial change. Validate cost and margin definitions and discuss supplier terms. Assess volume risk before any price change; the peer median is not a price target.",
      "success_measure": "Gross profit and units sold, not margin percentage alone."
    },
    {
      "id": "HC0083",
      "suggested_owner": "Category / merchandising manager",
      "next_step": "Verify availability, product visibility and promotional economics. Run a small, time-bounded merchandising test with a baseline or control.",
      "success_measure": "Incremental units and gross profit net of promotional costs and cannibalisation."
    }
  ],
  "proposed_cross_cutting_measure": "Decision completeness: accepted/deferred decision plus explicit owner and due date.",
  "limitation": "Role labels are proposed stakeholder responsibilities, not executed assignments."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A usable workflow, with clear limits
Suggested speaking time: 60 seconds. Whole deck: approximately 10–11 minutes.
TALK TRACK
The working prototype supports a review loop: inspect a decision, open its evidence, accept or defer it and export the plan. Owners, due dates, status and notes are browser-local; they are not shared assignments. The diagram here is a stylised workflow, not a screenshot. Evidence dates are explicit: competitor observations are 81 days old at this review, 4 invalid popularity scores are excluded, and the end of the 12-week sales window is missing. Freshness and source validation remain prerequisites to commercial use.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
  "current_capability_source": "README.md and dashboard_template.html",
  "current_scope": "Standalone HTML; no external UI dependencies, server, login or shared storage.",
  "plan_meaning": "Accept means accepted for review/action planning, not a change in operational retail systems.",
  "storage_limit": "Local file URLs, public site origins and different browsers may have separate local storage.",
  "data_quality": {
    "competitor_age_days": 81,
    "competitor_observed_from": "2026-07-01",
    "competitor_observed_to": "2026-07-01",
    "exclusions": [
      {
        "field": "signal_score_0_100",
        "file": "competitor_market_signals.csv",
        "reason": "Outside 0-100; excluded from popularity averages and popularity ranking. Price and trend retained as separate, unverified observations.",
        "record_id": "CM014",
        "row_number": 15,
        "value": 100.1
      },
      {
        "field": "signal_score_0_100",
        "file": "competitor_market_signals.csv",
        "reason": "Outside 0-100; excluded from popularity averages and popularity ranking. Price and trend retained as separate, unverified observations.",
        "record_id": "CM044",
        "row_number": 45,
        "value": 104.8
      },
      {
        "field": "signal_score_0_100",
        "file": "competitor_market_signals.csv",
        "reason": "Outside 0-100; excluded from popularity averages and popularity ranking. Price and trend retained as separate, unverified observations.",
        "record_id": "CM051",
        "row_number": 52,
        "value": 100.6
      },
      {
        "field": "signal_score_0_100",
        "file": "competitor_market_signals.csv",
        "reason": "Outside 0-100; excluded from popularity averages and popularity ranking. Price and trend retained as separate, unverified observations.",
        "record_id": "CM056",
        "row_number": 57,
        "value": 103
      }
    ],
    "invalid_signal_count": 4,
    "warnings": [
      "Synthetic dataset: product names, classifications and suppliers need validation before real commercial use.",
      "The performance window is 12 weeks, but its end date and the date of the stock snapshot are not supplied.",
      "Market revenue is a demand proxy. Channel / market is a descriptive ratio, not verified market share or proof of poor execution.",
      "4 popularity scores are outside 0-100 and excluded from popularity calculations; raw values remain visible.",
      "Oldest competitor observations are 81 days old as of 2026-09-20. The 60-day refresh threshold is an explicit review assumption, not a freshness guarantee.",
      "Revenue/units zero-state mismatch; validate the sales feed for: HC0202."
    ]
  },
  "exclusions_definition": "Out-of-range scores excluded from popularity averages/ranking; their prices and trend observations remain separate and unverified."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A production path on Azure — proposed, not deployed
Suggested speaking time: 60 seconds. Whole deck: approximately 10–11 minutes.
TALK TRACK
Nothing on this architecture slide is deployed by this prototype. The proposed evolution keeps the deterministic analysis, runs it on a schedule and serves the dashboard through an authenticated API. The shared database would hold plans and audit history, replacing browser-only collaboration. Supporting controls make failed or stale refreshes visible. API implementation, sign-in, authorisation and shared storage are future work, justified only after a validated pilot. Human approval remains mandatory; this architecture does not write inventory, pricing or range decisions to retail systems.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Shared source diagram: architecture\production.mmd; architecture\production.png; architecture\production.svg.
Public diagram reference: https://github.com/glejdis/zenline-category-opportunity-review/blob/main/architecture/production.svg
Architecture specification SHA-256: 8b0b0cdb55bd7858c22283a64e281a43706bcb4e1abb7d6793cdf256a6d05a54
Current local UI also includes an offline architecture reference panel and source downloads; the cloud architecture itself remains proposed and not deployed.
Shared renderer and source/output hashes: {"source_sha256":"29e8e2fdf096df0f9511a865e65dc80c7206010953482eebf707a022dc357c93","svg_sha256":"2627e177410c83485d9026633ca531cf8c3fe8ca118e0c563e2b3059b8ef131f","png_sha256":"8db457d15dd9c44a94fbbb9b3693967b7ae3ca9bf91c5bfb69d191845ae95f0c","config_sha256":"298d38e5d430aa330a3c0e304673ee7b8fb1fa8262c6511f3a5b12efd538a219","renderer":"@mermaid-js/mermaid-cli 11.17.0"}
{
  "title": "A production path for shared, governed category decisions",
  "status": "Proposed architecture - not deployed",
  "scope": "One internal retail organisation; scheduled batch refresh; authenticated browser access; a shared review-plan API. Service choice and capacity require customer validation.",
  "today": "The shipped prototype is a deterministic Python pipeline and standalone HTML. Plans are stored in this browser. There is no hosted API, sign-in, shared database, ERP write-back or Azure deployment.",
  "flow": [
    "Land retailer exports in a private raw Blob container, using an agreed ingestion contract and workload identity.",
    "Run the containerised analysis on an agreed UTC schedule with Azure Container Apps Jobs. Validate inputs before publication and use snapshot IDs to make retries idempotent.",
    "Publish complete, versioned evidence and review artifacts to a private review container. On failure, retain the last successful snapshot and show a stale-data warning; alert the operator.",
    "Serve the dashboard and authorised evidence through a Python API on Azure App Service. Microsoft Entra ID signs users in; the API must enforce app roles and retailer/category scope on every request.",
    "Replace browser-only plan storage with PostgreSQL-backed plans, version checks, audit events and evidence-snapshot references. Browser storage may remain only an explicitly labelled draft cache."
  ],
  "services": [
    {
      "name": "Azure App Service",
      "purpose": "Host the dashboard and a new Python API together, with built-in Entra authentication.",
      "change_needed": "Implement API endpoints, tenant/category authorisation, anti-CSRF protection for cookie-authenticated writes, concurrency control and controlled evidence downloads."
    },
    {
      "name": "Azure Container Apps Jobs",
      "purpose": "Run the existing deterministic analysis as a finite, scheduled batch workload.",
      "change_needed": "Package the Python job and input/output adapters, configure schedule/retries/timeouts, and publish only fully validated snapshots."
    },
    {
      "name": "Azure Blob Storage",
      "purpose": "Store raw inputs and versioned review artifacts in separate private containers of a storage account.",
      "change_needed": "Define retention, versioning, encryption/access policies and an atomic current-successful-review pointer. Do not expose raw or review containers anonymously."
    },
    {
      "name": "Azure Database for PostgreSQL Flexible Server",
      "purpose": "Persist shared action plans, owners, due dates, decisions, row versions and audit history.",
      "change_needed": "Create a scoped schema and least-privilege application role; configure Entra-based managed-identity access, backups and a tested restore process."
    },
    {
      "name": "Microsoft Entra ID and managed identities",
      "purpose": "Separate user sign-in from service-to-service access without hardcoded cloud credentials.",
      "change_needed": "Configure app roles and identity lifecycle. Grant the job Blob read/write permissions and the API only the Blob/database permissions it needs; authentication alone is not business authorisation."
    },
    {
      "name": "Azure Monitor, Application Insights and Log Analytics",
      "purpose": "Make failed refreshes, validation errors, stale snapshots and API health visible to an accountable operator.",
      "change_needed": "Instrument the new API and job, correlate logs with snapshot IDs, set retention/alerts and avoid sending raw commercial data or user notes to telemetry."
    },
    {
      "name": "Azure Container Registry and GitHub Actions",
      "purpose": "Version the analysis image and deploy tested releases through workload identity federation (OIDC).",
      "change_needed": "Create CI build/deploy stages and environment approval gates; pin released image digests. This does not imply a production deployment workflow exists today."
    },
    {
      "name": "Azure Key Vault - only if required",
      "purpose": "Store external-source credentials that cannot use federated or managed identity.",
      "change_needed": "Use managed identity to retrieve only required secrets. Omit this service if all connections can be passwordless."
    }
  ],
  "controls": [
    "Private data tier: App Service VNet integration, a VNet-integrated Container Apps environment, private Blob endpoints and private PostgreSQL connectivity with private DNS. Network access paths and subnet capacity must be designed before deployment.",
    "Authenticated HTTPS application ingress, with access restricted to the agreed workforce audience. A WAF or fully private ingress can be added if the customer's security standard requires it.",
    "Separate managed identities and least-privilege data-plane permissions for the API and batch job; enforce app roles and category/retailer scope in API code.",
    "Immutable logical review versions, evidence-linked decisions, optimistic concurrency, explicit retention and audit policies, and tested backup/restore.",
    "Human approval remains mandatory before any replenishment, pricing or range change. This design does not write to operational retail systems."
  ],
  "rollout": [
    "Agree source contracts, ownership, data classification, review cadence, success metrics, RPO/RTO and an Azure region with the customer.",
    "Build the authenticated API/shared-plan schema and batch adapters; test authorisation, simultaneous edits, failed refreshes and restored backups.",
    "Pilot one category with a small user group and measure decision follow-through and commercial outcomes before expanding."
  ],
  "not_required": "No Azure OpenAI/Foundry runtime, vector database, AKS cluster, event bus or data lake platform is needed for this batch rules-based scope. No costs, capacities or production SLAs are asserted without workload requirements.",
  "references": [
    {
      "label": "App Service built-in authentication and its authorisation responsibilities",
      "url": "https://learn.microsoft.com/en-us/azure/app-service/overview-authentication-authorization"
    },
    {
      "label": "Container Apps Jobs and scheduled finite workloads",
      "url": "https://learn.microsoft.com/en-us/azure/container-apps/jobs"
    },
    {
      "label": "Blob data access with Entra ID, RBAC and managed identity",
      "url": "https://learn.microsoft.com/en-us/azure/storage/blobs/authorize-access-azure-active-directory"
    },
    {
      "label": "PostgreSQL Flexible Server Entra authentication",
      "url": "https://learn.microsoft.com/en-us/azure/postgresql/security/security-entra-concepts"
    },
    {
      "label": "Managed identities for Container Apps and registry access",
      "url": "https://learn.microsoft.com/en-us/azure/container-apps/managed-identity"
    }
  ]
}
Official service references supplied with the shared architecture:
App Service built-in authentication and its authorisation responsibilities: https://learn.microsoft.com/en-us/azure/app-service/overview-authentication-authorization
Container Apps Jobs and scheduled finite workloads: https://learn.microsoft.com/en-us/azure/container-apps/jobs
Blob data access with Entra ID, RBAC and managed identity: https://learn.microsoft.com/en-us/azure/storage/blobs/authorize-access-azure-active-directory
PostgreSQL Flexible Server Entra authentication: https://learn.microsoft.com/en-us/azure/postgresql/security/security-entra-concepts
Managed identities for Container Apps and registry access: https://learn.microsoft.com/en-us/azure/container-apps/managed-identity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Leadership decision: validate, pilot, measure
Suggested speaking time: 45 seconds. Whole deck: approximately 10–11 minutes.
TALK TRACK
The leadership ask is deliberately limited: name a category owner, secure source access and freshness ownership, and agree what successful validation or a test would look like. First settle definitions and check the highlighted supply, listing and lifecycle questions. Then run time-bounded commercial tests with a baseline or control and measure units and gross profit after costs. Only if that workflow proves useful should we invest in shared Azure deployment. These are proposed phases, not commitments, dated delivery promises or realised benefits.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Public demo: https://glejdis.github.io/zenline-category-opportunity-review/
Public repository: https://github.com/glejdis/zenline-category-opportunity-review
Public links refer to the last published/deployed commit; the local deck may be ahead.
Synthetic-data disclaimer: the retailer, inputs and opportunity review are a fictional case study.
Proposed sponsor decisions: category owner, data access/freshness owner, agreed test and decision-success criteria.
No fixed costs, timeline, ROI, adoption level or measured time savings are asserted.
Architecture rollout proposal: ["Agree source contracts, ownership, data classification, review cadence, success metrics, RPO/RTO and an Azure region with the customer.","Build the authenticated API/shared-plan schema and batch adapters; test authorisation, simultaneous edits, failed refreshes and restored backups.","Pilot one category with a small user group and measure decision follow-through and commercial outcomes before expanding."]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glejdis/zenline-category-opportunity-review/blob/main/architecture/production.svg" TargetMode="Externa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lejdis.github.io/zenline-category-opportunity-review/" TargetMode="External"/><Relationship Id="rId2" Type="http://schemas.openxmlformats.org/officeDocument/2006/relationships/hyperlink" Target="https://github.com/glejdis/zenline-category-opportunity-review"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252B"/>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D1BFC6"/>
                </a:solidFill>
                <a:latin typeface="Calibri" pitchFamily="34" charset="0"/>
                <a:ea typeface="Calibri" pitchFamily="34" charset="-122"/>
                <a:cs typeface="Calibri" pitchFamily="34" charset="-120"/>
              </a:rPr>
              <a:t>Synthetic inputs · review.json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D1BFC6"/>
                </a:solidFill>
                <a:latin typeface="Calibri" pitchFamily="34" charset="0"/>
                <a:ea typeface="Calibri" pitchFamily="34" charset="-122"/>
                <a:cs typeface="Calibri" pitchFamily="34" charset="-120"/>
              </a:rPr>
              <a:t>01 / 10</a:t>
            </a:r>
            <a:endParaRPr lang="en-US" sz="1050" dirty="0"/>
          </a:p>
        </p:txBody>
      </p:sp>
      <p:sp>
        <p:nvSpPr>
          <p:cNvPr id="4" name="Shape 2"/>
          <p:cNvSpPr/>
          <p:nvPr/>
        </p:nvSpPr>
        <p:spPr>
          <a:xfrm>
            <a:off x="7004304" y="0"/>
            <a:ext cx="5187696" cy="6089904"/>
          </a:xfrm>
          <a:prstGeom prst="rect">
            <a:avLst/>
          </a:prstGeom>
          <a:solidFill>
            <a:srgbClr val="502737"/>
          </a:solidFill>
          <a:ln w="12700">
            <a:solidFill>
              <a:srgbClr val="502737">
                <a:alpha val="0"/>
              </a:srgbClr>
            </a:solidFill>
            <a:prstDash val="solid"/>
          </a:ln>
        </p:spPr>
      </p:sp>
      <p:sp>
        <p:nvSpPr>
          <p:cNvPr id="5" name="Text 3"/>
          <p:cNvSpPr/>
          <p:nvPr/>
        </p:nvSpPr>
        <p:spPr>
          <a:xfrm>
            <a:off x="594360" y="576072"/>
            <a:ext cx="5852160" cy="237744"/>
          </a:xfrm>
          <a:prstGeom prst="rect">
            <a:avLst/>
          </a:prstGeom>
          <a:noFill/>
          <a:ln/>
        </p:spPr>
        <p:txBody>
          <a:bodyPr wrap="square" lIns="0" tIns="0" rIns="0" bIns="0" rtlCol="0" anchor="ctr"/>
          <a:lstStyle/>
          <a:p>
            <a:pPr indent="0" marL="0">
              <a:buNone/>
            </a:pPr>
            <a:r>
              <a:rPr lang="en-US" sz="1300" b="1" spc="260" kern="0" dirty="0">
                <a:solidFill>
                  <a:srgbClr val="E6BFCA"/>
                </a:solidFill>
                <a:latin typeface="Calibri" pitchFamily="34" charset="0"/>
                <a:ea typeface="Calibri" pitchFamily="34" charset="-122"/>
                <a:cs typeface="Calibri" pitchFamily="34" charset="-120"/>
              </a:rPr>
              <a:t>ZENBEAUTY RETAIL</a:t>
            </a:r>
            <a:endParaRPr lang="en-US" sz="1300" dirty="0"/>
          </a:p>
        </p:txBody>
      </p:sp>
      <p:sp>
        <p:nvSpPr>
          <p:cNvPr id="6" name="Text 4"/>
          <p:cNvSpPr/>
          <p:nvPr/>
        </p:nvSpPr>
        <p:spPr>
          <a:xfrm>
            <a:off x="594360" y="1280160"/>
            <a:ext cx="6355080" cy="2176272"/>
          </a:xfrm>
          <a:prstGeom prst="rect">
            <a:avLst/>
          </a:prstGeom>
          <a:noFill/>
          <a:ln/>
        </p:spPr>
        <p:txBody>
          <a:bodyPr wrap="square" lIns="0" tIns="0" rIns="0" bIns="0" rtlCol="0" anchor="t"/>
          <a:lstStyle/>
          <a:p>
            <a:pPr indent="0" marL="0">
              <a:lnSpc>
                <a:spcPct val="104000"/>
              </a:lnSpc>
              <a:buNone/>
            </a:pPr>
            <a:r>
              <a:rPr lang="en-US" sz="4300" dirty="0">
                <a:solidFill>
                  <a:srgbClr val="FAF6EF"/>
                </a:solidFill>
                <a:latin typeface="Georgia" pitchFamily="34" charset="0"/>
                <a:ea typeface="Georgia" pitchFamily="34" charset="-122"/>
                <a:cs typeface="Georgia" pitchFamily="34" charset="-120"/>
              </a:rPr>
              <a:t>From a product</a:t>
            </a:r>
            <a:endParaRPr lang="en-US" sz="4300" dirty="0"/>
          </a:p>
          <a:p>
            <a:pPr indent="0" marL="0">
              <a:lnSpc>
                <a:spcPct val="104000"/>
              </a:lnSpc>
              <a:buNone/>
            </a:pPr>
            <a:r>
              <a:rPr lang="en-US" sz="4300" dirty="0">
                <a:solidFill>
                  <a:srgbClr val="FAF6EF"/>
                </a:solidFill>
                <a:latin typeface="Georgia" pitchFamily="34" charset="0"/>
                <a:ea typeface="Georgia" pitchFamily="34" charset="-122"/>
                <a:cs typeface="Georgia" pitchFamily="34" charset="-120"/>
              </a:rPr>
              <a:t>snapshot to</a:t>
            </a:r>
            <a:endParaRPr lang="en-US" sz="4300" dirty="0"/>
          </a:p>
          <a:p>
            <a:pPr indent="0" marL="0">
              <a:lnSpc>
                <a:spcPct val="104000"/>
              </a:lnSpc>
              <a:buNone/>
            </a:pPr>
            <a:r>
              <a:rPr lang="en-US" sz="4300" dirty="0">
                <a:solidFill>
                  <a:srgbClr val="FAF6EF"/>
                </a:solidFill>
                <a:latin typeface="Georgia" pitchFamily="34" charset="0"/>
                <a:ea typeface="Georgia" pitchFamily="34" charset="-122"/>
                <a:cs typeface="Georgia" pitchFamily="34" charset="-120"/>
              </a:rPr>
              <a:t>five decisions</a:t>
            </a:r>
            <a:endParaRPr lang="en-US" sz="4300" dirty="0"/>
          </a:p>
        </p:txBody>
      </p:sp>
      <p:sp>
        <p:nvSpPr>
          <p:cNvPr id="7" name="Text 5"/>
          <p:cNvSpPr/>
          <p:nvPr/>
        </p:nvSpPr>
        <p:spPr>
          <a:xfrm>
            <a:off x="594360" y="3822192"/>
            <a:ext cx="5669280" cy="347472"/>
          </a:xfrm>
          <a:prstGeom prst="rect">
            <a:avLst/>
          </a:prstGeom>
          <a:noFill/>
          <a:ln/>
        </p:spPr>
        <p:txBody>
          <a:bodyPr wrap="square" lIns="0" tIns="0" rIns="0" bIns="0" rtlCol="0" anchor="ctr"/>
          <a:lstStyle/>
          <a:p>
            <a:pPr indent="0" marL="0">
              <a:buNone/>
            </a:pPr>
            <a:r>
              <a:rPr lang="en-US" sz="2200" dirty="0">
                <a:solidFill>
                  <a:srgbClr val="FAF6EF"/>
                </a:solidFill>
                <a:latin typeface="Calibri" pitchFamily="34" charset="0"/>
                <a:ea typeface="Calibri" pitchFamily="34" charset="-122"/>
                <a:cs typeface="Calibri" pitchFamily="34" charset="-120"/>
              </a:rPr>
              <a:t>Hair-colour category opportunity review</a:t>
            </a:r>
            <a:endParaRPr lang="en-US" sz="2200" dirty="0"/>
          </a:p>
        </p:txBody>
      </p:sp>
      <p:sp>
        <p:nvSpPr>
          <p:cNvPr id="8" name="Text 6"/>
          <p:cNvSpPr/>
          <p:nvPr/>
        </p:nvSpPr>
        <p:spPr>
          <a:xfrm>
            <a:off x="594360" y="4370832"/>
            <a:ext cx="5577840" cy="731520"/>
          </a:xfrm>
          <a:prstGeom prst="rect">
            <a:avLst/>
          </a:prstGeom>
          <a:noFill/>
          <a:ln/>
        </p:spPr>
        <p:txBody>
          <a:bodyPr wrap="square" lIns="0" tIns="0" rIns="0" bIns="0" rtlCol="0" anchor="ctr"/>
          <a:lstStyle/>
          <a:p>
            <a:pPr indent="0" marL="0">
              <a:buNone/>
            </a:pPr>
            <a:r>
              <a:rPr lang="en-US" sz="1900" dirty="0">
                <a:solidFill>
                  <a:srgbClr val="D1BFC6"/>
                </a:solidFill>
                <a:latin typeface="Calibri" pitchFamily="34" charset="0"/>
                <a:ea typeface="Calibri" pitchFamily="34" charset="-122"/>
                <a:cs typeface="Calibri" pitchFamily="34" charset="-120"/>
              </a:rPr>
              <a:t>What to examine. Who should own the check.</a:t>
            </a:r>
            <a:endParaRPr lang="en-US" sz="1900" dirty="0"/>
          </a:p>
          <a:p>
            <a:pPr indent="0" marL="0">
              <a:buNone/>
            </a:pPr>
            <a:r>
              <a:rPr lang="en-US" sz="1900" dirty="0">
                <a:solidFill>
                  <a:srgbClr val="D1BFC6"/>
                </a:solidFill>
                <a:latin typeface="Calibri" pitchFamily="34" charset="0"/>
                <a:ea typeface="Calibri" pitchFamily="34" charset="-122"/>
                <a:cs typeface="Calibri" pitchFamily="34" charset="-120"/>
              </a:rPr>
              <a:t>What evidence would justify the next step.</a:t>
            </a:r>
            <a:endParaRPr lang="en-US" sz="1900" dirty="0"/>
          </a:p>
        </p:txBody>
      </p:sp>
      <p:sp>
        <p:nvSpPr>
          <p:cNvPr id="9" name="Text 7"/>
          <p:cNvSpPr/>
          <p:nvPr/>
        </p:nvSpPr>
        <p:spPr>
          <a:xfrm>
            <a:off x="594360" y="5596128"/>
            <a:ext cx="5669280" cy="256032"/>
          </a:xfrm>
          <a:prstGeom prst="rect">
            <a:avLst/>
          </a:prstGeom>
          <a:noFill/>
          <a:ln/>
        </p:spPr>
        <p:txBody>
          <a:bodyPr wrap="square" lIns="0" tIns="0" rIns="0" bIns="0" rtlCol="0" anchor="ctr"/>
          <a:lstStyle/>
          <a:p>
            <a:pPr indent="0" marL="0">
              <a:buNone/>
            </a:pPr>
            <a:r>
              <a:rPr lang="en-US" sz="1500" dirty="0">
                <a:solidFill>
                  <a:srgbClr val="E6BFCA"/>
                </a:solidFill>
                <a:latin typeface="Calibri" pitchFamily="34" charset="0"/>
                <a:ea typeface="Calibri" pitchFamily="34" charset="-122"/>
                <a:cs typeface="Calibri" pitchFamily="34" charset="-120"/>
              </a:rPr>
              <a:t>Synthetic snapshot  /  20 September 2026</a:t>
            </a:r>
            <a:endParaRPr lang="en-US" sz="1500" dirty="0"/>
          </a:p>
        </p:txBody>
      </p:sp>
      <p:sp>
        <p:nvSpPr>
          <p:cNvPr id="10" name="Text 8"/>
          <p:cNvSpPr/>
          <p:nvPr/>
        </p:nvSpPr>
        <p:spPr>
          <a:xfrm>
            <a:off x="7452360" y="640080"/>
            <a:ext cx="4023360" cy="210312"/>
          </a:xfrm>
          <a:prstGeom prst="rect">
            <a:avLst/>
          </a:prstGeom>
          <a:noFill/>
          <a:ln/>
        </p:spPr>
        <p:txBody>
          <a:bodyPr wrap="square" lIns="0" tIns="0" rIns="0" bIns="0" rtlCol="0" anchor="ctr"/>
          <a:lstStyle/>
          <a:p>
            <a:pPr algn="ctr" indent="0" marL="0">
              <a:buNone/>
            </a:pPr>
            <a:r>
              <a:rPr lang="en-US" sz="1100" b="1" spc="200" kern="0" dirty="0">
                <a:solidFill>
                  <a:srgbClr val="E6BFCA"/>
                </a:solidFill>
                <a:latin typeface="Calibri" pitchFamily="34" charset="0"/>
                <a:ea typeface="Calibri" pitchFamily="34" charset="-122"/>
                <a:cs typeface="Calibri" pitchFamily="34" charset="-120"/>
              </a:rPr>
              <a:t>A FOCUSED REVIEW</a:t>
            </a:r>
            <a:endParaRPr lang="en-US" sz="1100" dirty="0"/>
          </a:p>
        </p:txBody>
      </p:sp>
      <p:sp>
        <p:nvSpPr>
          <p:cNvPr id="11" name="Shape 9"/>
          <p:cNvSpPr/>
          <p:nvPr/>
        </p:nvSpPr>
        <p:spPr>
          <a:xfrm>
            <a:off x="8074152" y="1252728"/>
            <a:ext cx="2770632" cy="2770632"/>
          </a:xfrm>
          <a:prstGeom prst="ellipse">
            <a:avLst/>
          </a:prstGeom>
          <a:solidFill>
            <a:srgbClr val="FAF6EF"/>
          </a:solidFill>
          <a:ln w="12700">
            <a:solidFill>
              <a:srgbClr val="FAF6EF">
                <a:alpha val="0"/>
              </a:srgbClr>
            </a:solidFill>
            <a:prstDash val="solid"/>
          </a:ln>
        </p:spPr>
      </p:sp>
      <p:sp>
        <p:nvSpPr>
          <p:cNvPr id="12" name="Text 10"/>
          <p:cNvSpPr/>
          <p:nvPr/>
        </p:nvSpPr>
        <p:spPr>
          <a:xfrm>
            <a:off x="8074152" y="1856232"/>
            <a:ext cx="2770632" cy="777240"/>
          </a:xfrm>
          <a:prstGeom prst="rect">
            <a:avLst/>
          </a:prstGeom>
          <a:noFill/>
          <a:ln/>
        </p:spPr>
        <p:txBody>
          <a:bodyPr wrap="square" lIns="0" tIns="0" rIns="0" bIns="0" rtlCol="0" anchor="ctr"/>
          <a:lstStyle/>
          <a:p>
            <a:pPr algn="ctr" indent="0" marL="0">
              <a:buNone/>
            </a:pPr>
            <a:r>
              <a:rPr lang="en-US" sz="6400" dirty="0">
                <a:solidFill>
                  <a:srgbClr val="502737"/>
                </a:solidFill>
                <a:latin typeface="Georgia" pitchFamily="34" charset="0"/>
                <a:ea typeface="Georgia" pitchFamily="34" charset="-122"/>
                <a:cs typeface="Georgia" pitchFamily="34" charset="-120"/>
              </a:rPr>
              <a:t>235</a:t>
            </a:r>
            <a:endParaRPr lang="en-US" sz="6400" dirty="0"/>
          </a:p>
        </p:txBody>
      </p:sp>
      <p:sp>
        <p:nvSpPr>
          <p:cNvPr id="13" name="Text 11"/>
          <p:cNvSpPr/>
          <p:nvPr/>
        </p:nvSpPr>
        <p:spPr>
          <a:xfrm>
            <a:off x="8074152" y="2770632"/>
            <a:ext cx="2770632" cy="320040"/>
          </a:xfrm>
          <a:prstGeom prst="rect">
            <a:avLst/>
          </a:prstGeom>
          <a:noFill/>
          <a:ln/>
        </p:spPr>
        <p:txBody>
          <a:bodyPr wrap="square" lIns="0" tIns="0" rIns="0" bIns="0" rtlCol="0" anchor="ctr"/>
          <a:lstStyle/>
          <a:p>
            <a:pPr algn="ctr" indent="0" marL="0">
              <a:buNone/>
            </a:pPr>
            <a:r>
              <a:rPr lang="en-US" sz="2000" dirty="0">
                <a:solidFill>
                  <a:srgbClr val="502737"/>
                </a:solidFill>
                <a:latin typeface="Calibri" pitchFamily="34" charset="0"/>
                <a:ea typeface="Calibri" pitchFamily="34" charset="-122"/>
                <a:cs typeface="Calibri" pitchFamily="34" charset="-120"/>
              </a:rPr>
              <a:t>products</a:t>
            </a:r>
            <a:endParaRPr lang="en-US" sz="2000" dirty="0"/>
          </a:p>
        </p:txBody>
      </p:sp>
      <p:sp>
        <p:nvSpPr>
          <p:cNvPr id="14" name="Shape 12"/>
          <p:cNvSpPr/>
          <p:nvPr/>
        </p:nvSpPr>
        <p:spPr>
          <a:xfrm>
            <a:off x="9226296" y="4114800"/>
            <a:ext cx="484632" cy="429768"/>
          </a:xfrm>
          <a:prstGeom prst="downArrow">
            <a:avLst/>
          </a:prstGeom>
          <a:solidFill>
            <a:srgbClr val="E6BFCA"/>
          </a:solidFill>
          <a:ln w="12700">
            <a:solidFill>
              <a:srgbClr val="E6BFCA">
                <a:alpha val="0"/>
              </a:srgbClr>
            </a:solidFill>
            <a:prstDash val="solid"/>
          </a:ln>
        </p:spPr>
      </p:sp>
      <p:sp>
        <p:nvSpPr>
          <p:cNvPr id="15" name="Shape 13"/>
          <p:cNvSpPr/>
          <p:nvPr/>
        </p:nvSpPr>
        <p:spPr>
          <a:xfrm>
            <a:off x="7379208" y="4782312"/>
            <a:ext cx="694944" cy="768096"/>
          </a:xfrm>
          <a:prstGeom prst="roundRect">
            <a:avLst>
              <a:gd name="adj" fmla="val 15789"/>
            </a:avLst>
          </a:prstGeom>
          <a:solidFill>
            <a:srgbClr val="E6BFCA"/>
          </a:solidFill>
          <a:ln w="12700">
            <a:solidFill>
              <a:srgbClr val="E6BFCA">
                <a:alpha val="0"/>
              </a:srgbClr>
            </a:solidFill>
            <a:prstDash val="solid"/>
          </a:ln>
        </p:spPr>
      </p:sp>
      <p:sp>
        <p:nvSpPr>
          <p:cNvPr id="16" name="Text 14"/>
          <p:cNvSpPr/>
          <p:nvPr/>
        </p:nvSpPr>
        <p:spPr>
          <a:xfrm>
            <a:off x="7379208" y="4974336"/>
            <a:ext cx="694944" cy="274320"/>
          </a:xfrm>
          <a:prstGeom prst="rect">
            <a:avLst/>
          </a:prstGeom>
          <a:noFill/>
          <a:ln/>
        </p:spPr>
        <p:txBody>
          <a:bodyPr wrap="square" lIns="0" tIns="0" rIns="0" bIns="0" rtlCol="0" anchor="ctr"/>
          <a:lstStyle/>
          <a:p>
            <a:pPr algn="ctr" indent="0" marL="0">
              <a:buNone/>
            </a:pPr>
            <a:r>
              <a:rPr lang="en-US" sz="2000" b="1" dirty="0">
                <a:solidFill>
                  <a:srgbClr val="502737"/>
                </a:solidFill>
                <a:latin typeface="Calibri" pitchFamily="34" charset="0"/>
                <a:ea typeface="Calibri" pitchFamily="34" charset="-122"/>
                <a:cs typeface="Calibri" pitchFamily="34" charset="-120"/>
              </a:rPr>
              <a:t>01</a:t>
            </a:r>
            <a:endParaRPr lang="en-US" sz="2000" dirty="0"/>
          </a:p>
        </p:txBody>
      </p:sp>
      <p:sp>
        <p:nvSpPr>
          <p:cNvPr id="17" name="Shape 15"/>
          <p:cNvSpPr/>
          <p:nvPr/>
        </p:nvSpPr>
        <p:spPr>
          <a:xfrm>
            <a:off x="8257032" y="4782312"/>
            <a:ext cx="694944" cy="768096"/>
          </a:xfrm>
          <a:prstGeom prst="roundRect">
            <a:avLst>
              <a:gd name="adj" fmla="val 15789"/>
            </a:avLst>
          </a:prstGeom>
          <a:solidFill>
            <a:srgbClr val="FAF6EF"/>
          </a:solidFill>
          <a:ln w="12700">
            <a:solidFill>
              <a:srgbClr val="FAF6EF">
                <a:alpha val="0"/>
              </a:srgbClr>
            </a:solidFill>
            <a:prstDash val="solid"/>
          </a:ln>
        </p:spPr>
      </p:sp>
      <p:sp>
        <p:nvSpPr>
          <p:cNvPr id="18" name="Text 16"/>
          <p:cNvSpPr/>
          <p:nvPr/>
        </p:nvSpPr>
        <p:spPr>
          <a:xfrm>
            <a:off x="8257032" y="4974336"/>
            <a:ext cx="694944" cy="274320"/>
          </a:xfrm>
          <a:prstGeom prst="rect">
            <a:avLst/>
          </a:prstGeom>
          <a:noFill/>
          <a:ln/>
        </p:spPr>
        <p:txBody>
          <a:bodyPr wrap="square" lIns="0" tIns="0" rIns="0" bIns="0" rtlCol="0" anchor="ctr"/>
          <a:lstStyle/>
          <a:p>
            <a:pPr algn="ctr" indent="0" marL="0">
              <a:buNone/>
            </a:pPr>
            <a:r>
              <a:rPr lang="en-US" sz="2000" b="1" dirty="0">
                <a:solidFill>
                  <a:srgbClr val="502737"/>
                </a:solidFill>
                <a:latin typeface="Calibri" pitchFamily="34" charset="0"/>
                <a:ea typeface="Calibri" pitchFamily="34" charset="-122"/>
                <a:cs typeface="Calibri" pitchFamily="34" charset="-120"/>
              </a:rPr>
              <a:t>02</a:t>
            </a:r>
            <a:endParaRPr lang="en-US" sz="2000" dirty="0"/>
          </a:p>
        </p:txBody>
      </p:sp>
      <p:sp>
        <p:nvSpPr>
          <p:cNvPr id="19" name="Shape 17"/>
          <p:cNvSpPr/>
          <p:nvPr/>
        </p:nvSpPr>
        <p:spPr>
          <a:xfrm>
            <a:off x="9134856" y="4782312"/>
            <a:ext cx="694944" cy="768096"/>
          </a:xfrm>
          <a:prstGeom prst="roundRect">
            <a:avLst>
              <a:gd name="adj" fmla="val 15789"/>
            </a:avLst>
          </a:prstGeom>
          <a:solidFill>
            <a:srgbClr val="FAF6EF"/>
          </a:solidFill>
          <a:ln w="12700">
            <a:solidFill>
              <a:srgbClr val="FAF6EF">
                <a:alpha val="0"/>
              </a:srgbClr>
            </a:solidFill>
            <a:prstDash val="solid"/>
          </a:ln>
        </p:spPr>
      </p:sp>
      <p:sp>
        <p:nvSpPr>
          <p:cNvPr id="20" name="Text 18"/>
          <p:cNvSpPr/>
          <p:nvPr/>
        </p:nvSpPr>
        <p:spPr>
          <a:xfrm>
            <a:off x="9134856" y="4974336"/>
            <a:ext cx="694944" cy="274320"/>
          </a:xfrm>
          <a:prstGeom prst="rect">
            <a:avLst/>
          </a:prstGeom>
          <a:noFill/>
          <a:ln/>
        </p:spPr>
        <p:txBody>
          <a:bodyPr wrap="square" lIns="0" tIns="0" rIns="0" bIns="0" rtlCol="0" anchor="ctr"/>
          <a:lstStyle/>
          <a:p>
            <a:pPr algn="ctr" indent="0" marL="0">
              <a:buNone/>
            </a:pPr>
            <a:r>
              <a:rPr lang="en-US" sz="2000" b="1" dirty="0">
                <a:solidFill>
                  <a:srgbClr val="502737"/>
                </a:solidFill>
                <a:latin typeface="Calibri" pitchFamily="34" charset="0"/>
                <a:ea typeface="Calibri" pitchFamily="34" charset="-122"/>
                <a:cs typeface="Calibri" pitchFamily="34" charset="-120"/>
              </a:rPr>
              <a:t>03</a:t>
            </a:r>
            <a:endParaRPr lang="en-US" sz="2000" dirty="0"/>
          </a:p>
        </p:txBody>
      </p:sp>
      <p:sp>
        <p:nvSpPr>
          <p:cNvPr id="21" name="Shape 19"/>
          <p:cNvSpPr/>
          <p:nvPr/>
        </p:nvSpPr>
        <p:spPr>
          <a:xfrm>
            <a:off x="10012680" y="4782312"/>
            <a:ext cx="694944" cy="768096"/>
          </a:xfrm>
          <a:prstGeom prst="roundRect">
            <a:avLst>
              <a:gd name="adj" fmla="val 15789"/>
            </a:avLst>
          </a:prstGeom>
          <a:solidFill>
            <a:srgbClr val="FAF6EF"/>
          </a:solidFill>
          <a:ln w="12700">
            <a:solidFill>
              <a:srgbClr val="FAF6EF">
                <a:alpha val="0"/>
              </a:srgbClr>
            </a:solidFill>
            <a:prstDash val="solid"/>
          </a:ln>
        </p:spPr>
      </p:sp>
      <p:sp>
        <p:nvSpPr>
          <p:cNvPr id="22" name="Text 20"/>
          <p:cNvSpPr/>
          <p:nvPr/>
        </p:nvSpPr>
        <p:spPr>
          <a:xfrm>
            <a:off x="10012680" y="4974336"/>
            <a:ext cx="694944" cy="274320"/>
          </a:xfrm>
          <a:prstGeom prst="rect">
            <a:avLst/>
          </a:prstGeom>
          <a:noFill/>
          <a:ln/>
        </p:spPr>
        <p:txBody>
          <a:bodyPr wrap="square" lIns="0" tIns="0" rIns="0" bIns="0" rtlCol="0" anchor="ctr"/>
          <a:lstStyle/>
          <a:p>
            <a:pPr algn="ctr" indent="0" marL="0">
              <a:buNone/>
            </a:pPr>
            <a:r>
              <a:rPr lang="en-US" sz="2000" b="1" dirty="0">
                <a:solidFill>
                  <a:srgbClr val="502737"/>
                </a:solidFill>
                <a:latin typeface="Calibri" pitchFamily="34" charset="0"/>
                <a:ea typeface="Calibri" pitchFamily="34" charset="-122"/>
                <a:cs typeface="Calibri" pitchFamily="34" charset="-120"/>
              </a:rPr>
              <a:t>04</a:t>
            </a:r>
            <a:endParaRPr lang="en-US" sz="2000" dirty="0"/>
          </a:p>
        </p:txBody>
      </p:sp>
      <p:sp>
        <p:nvSpPr>
          <p:cNvPr id="23" name="Shape 21"/>
          <p:cNvSpPr/>
          <p:nvPr/>
        </p:nvSpPr>
        <p:spPr>
          <a:xfrm>
            <a:off x="10890504" y="4782312"/>
            <a:ext cx="694944" cy="768096"/>
          </a:xfrm>
          <a:prstGeom prst="roundRect">
            <a:avLst>
              <a:gd name="adj" fmla="val 15789"/>
            </a:avLst>
          </a:prstGeom>
          <a:solidFill>
            <a:srgbClr val="FAF6EF"/>
          </a:solidFill>
          <a:ln w="12700">
            <a:solidFill>
              <a:srgbClr val="FAF6EF">
                <a:alpha val="0"/>
              </a:srgbClr>
            </a:solidFill>
            <a:prstDash val="solid"/>
          </a:ln>
        </p:spPr>
      </p:sp>
      <p:sp>
        <p:nvSpPr>
          <p:cNvPr id="24" name="Text 22"/>
          <p:cNvSpPr/>
          <p:nvPr/>
        </p:nvSpPr>
        <p:spPr>
          <a:xfrm>
            <a:off x="10890504" y="4974336"/>
            <a:ext cx="694944" cy="274320"/>
          </a:xfrm>
          <a:prstGeom prst="rect">
            <a:avLst/>
          </a:prstGeom>
          <a:noFill/>
          <a:ln/>
        </p:spPr>
        <p:txBody>
          <a:bodyPr wrap="square" lIns="0" tIns="0" rIns="0" bIns="0" rtlCol="0" anchor="ctr"/>
          <a:lstStyle/>
          <a:p>
            <a:pPr algn="ctr" indent="0" marL="0">
              <a:buNone/>
            </a:pPr>
            <a:r>
              <a:rPr lang="en-US" sz="2000" b="1" dirty="0">
                <a:solidFill>
                  <a:srgbClr val="502737"/>
                </a:solidFill>
                <a:latin typeface="Calibri" pitchFamily="34" charset="0"/>
                <a:ea typeface="Calibri" pitchFamily="34" charset="-122"/>
                <a:cs typeface="Calibri" pitchFamily="34" charset="-120"/>
              </a:rPr>
              <a:t>05</a:t>
            </a:r>
            <a:endParaRPr lang="en-US" sz="2000" dirty="0"/>
          </a:p>
        </p:txBody>
      </p:sp>
      <p:sp>
        <p:nvSpPr>
          <p:cNvPr id="25" name="Text 23"/>
          <p:cNvSpPr/>
          <p:nvPr/>
        </p:nvSpPr>
        <p:spPr>
          <a:xfrm>
            <a:off x="7315200" y="5715000"/>
            <a:ext cx="4251960" cy="274320"/>
          </a:xfrm>
          <a:prstGeom prst="rect">
            <a:avLst/>
          </a:prstGeom>
          <a:noFill/>
          <a:ln/>
        </p:spPr>
        <p:txBody>
          <a:bodyPr wrap="square" lIns="0" tIns="0" rIns="0" bIns="0" rtlCol="0" anchor="ctr"/>
          <a:lstStyle/>
          <a:p>
            <a:pPr algn="ctr" indent="0" marL="0">
              <a:buNone/>
            </a:pPr>
            <a:r>
              <a:rPr lang="en-US" sz="1800" dirty="0">
                <a:solidFill>
                  <a:srgbClr val="FAF6EF"/>
                </a:solidFill>
                <a:latin typeface="Calibri" pitchFamily="34" charset="0"/>
                <a:ea typeface="Calibri" pitchFamily="34" charset="-122"/>
                <a:cs typeface="Calibri" pitchFamily="34" charset="-120"/>
              </a:rPr>
              <a:t>5 chosen decisions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Sources: three supplied CSVs · review.json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02 / 10</a:t>
            </a:r>
            <a:endParaRPr lang="en-US" sz="1050" dirty="0"/>
          </a:p>
        </p:txBody>
      </p:sp>
      <p:sp>
        <p:nvSpPr>
          <p:cNvPr id="4" name="Text 2"/>
          <p:cNvSpPr/>
          <p:nvPr/>
        </p:nvSpPr>
        <p:spPr>
          <a:xfrm>
            <a:off x="502920" y="457200"/>
            <a:ext cx="9601200" cy="173736"/>
          </a:xfrm>
          <a:prstGeom prst="rect">
            <a:avLst/>
          </a:prstGeom>
          <a:noFill/>
          <a:ln/>
        </p:spPr>
        <p:txBody>
          <a:bodyPr wrap="square" lIns="0" tIns="0" rIns="0" bIns="0" rtlCol="0" anchor="ctr"/>
          <a:lstStyle/>
          <a:p>
            <a:pPr indent="0" marL="0">
              <a:buNone/>
            </a:pPr>
            <a:r>
              <a:rPr lang="en-US" sz="1050" b="1" spc="130" kern="0" dirty="0">
                <a:solidFill>
                  <a:srgbClr val="6D2E46"/>
                </a:solidFill>
                <a:latin typeface="Calibri" pitchFamily="34" charset="0"/>
                <a:ea typeface="Calibri" pitchFamily="34" charset="-122"/>
                <a:cs typeface="Calibri" pitchFamily="34" charset="-120"/>
              </a:rPr>
              <a:t>ZENBEAUTY RETAIL  /  CATEGORY REVIEW</a:t>
            </a:r>
            <a:endParaRPr lang="en-US" sz="1050" dirty="0"/>
          </a:p>
        </p:txBody>
      </p:sp>
      <p:sp>
        <p:nvSpPr>
          <p:cNvPr id="5" name="Text 3"/>
          <p:cNvSpPr/>
          <p:nvPr/>
        </p:nvSpPr>
        <p:spPr>
          <a:xfrm>
            <a:off x="502920" y="813816"/>
            <a:ext cx="11183112" cy="603504"/>
          </a:xfrm>
          <a:prstGeom prst="rect">
            <a:avLst/>
          </a:prstGeom>
          <a:noFill/>
          <a:ln/>
        </p:spPr>
        <p:txBody>
          <a:bodyPr wrap="square" lIns="0" tIns="0" rIns="0" bIns="0" rtlCol="0" anchor="ctr"/>
          <a:lstStyle/>
          <a:p>
            <a:pPr indent="0" marL="0">
              <a:buNone/>
            </a:pPr>
            <a:r>
              <a:rPr lang="en-US" sz="3300" dirty="0">
                <a:solidFill>
                  <a:srgbClr val="30282E"/>
                </a:solidFill>
                <a:latin typeface="Georgia" pitchFamily="34" charset="0"/>
                <a:ea typeface="Georgia" pitchFamily="34" charset="-122"/>
                <a:cs typeface="Georgia" pitchFamily="34" charset="-120"/>
              </a:rPr>
              <a:t>The issue: decisions are buried in separate data</a:t>
            </a:r>
            <a:endParaRPr lang="en-US" sz="3300" dirty="0"/>
          </a:p>
        </p:txBody>
      </p:sp>
      <p:sp>
        <p:nvSpPr>
          <p:cNvPr id="6" name="Text 4"/>
          <p:cNvSpPr/>
          <p:nvPr/>
        </p:nvSpPr>
        <p:spPr>
          <a:xfrm>
            <a:off x="502920" y="1527048"/>
            <a:ext cx="11091672" cy="365760"/>
          </a:xfrm>
          <a:prstGeom prst="rect">
            <a:avLst/>
          </a:prstGeom>
          <a:noFill/>
          <a:ln/>
        </p:spPr>
        <p:txBody>
          <a:bodyPr wrap="square" lIns="0" tIns="0" rIns="0" bIns="0" rtlCol="0" anchor="ctr"/>
          <a:lstStyle/>
          <a:p>
            <a:pPr indent="0" marL="0">
              <a:buNone/>
            </a:pPr>
            <a:r>
              <a:rPr lang="en-US" sz="1750" dirty="0">
                <a:solidFill>
                  <a:srgbClr val="6F6268"/>
                </a:solidFill>
                <a:latin typeface="Calibri" pitchFamily="34" charset="0"/>
                <a:ea typeface="Calibri" pitchFamily="34" charset="-122"/>
                <a:cs typeface="Calibri" pitchFamily="34" charset="-120"/>
              </a:rPr>
              <a:t>A snapshot can point to questions. It cannot explain every cause.</a:t>
            </a:r>
            <a:endParaRPr lang="en-US" sz="1750" dirty="0"/>
          </a:p>
        </p:txBody>
      </p:sp>
      <p:sp>
        <p:nvSpPr>
          <p:cNvPr id="7" name="Shape 5"/>
          <p:cNvSpPr/>
          <p:nvPr/>
        </p:nvSpPr>
        <p:spPr>
          <a:xfrm>
            <a:off x="502920" y="2194560"/>
            <a:ext cx="2331720" cy="2240280"/>
          </a:xfrm>
          <a:prstGeom prst="roundRect">
            <a:avLst>
              <a:gd name="adj" fmla="val 4898"/>
            </a:avLst>
          </a:prstGeom>
          <a:solidFill>
            <a:srgbClr val="FFFDFA"/>
          </a:solidFill>
          <a:ln w="12700">
            <a:solidFill>
              <a:srgbClr val="FFFDFA">
                <a:alpha val="0"/>
              </a:srgbClr>
            </a:solidFill>
            <a:prstDash val="solid"/>
          </a:ln>
        </p:spPr>
      </p:sp>
      <p:sp>
        <p:nvSpPr>
          <p:cNvPr id="8" name="Shape 6"/>
          <p:cNvSpPr/>
          <p:nvPr/>
        </p:nvSpPr>
        <p:spPr>
          <a:xfrm>
            <a:off x="704088" y="2432304"/>
            <a:ext cx="621792" cy="621792"/>
          </a:xfrm>
          <a:prstGeom prst="ellipse">
            <a:avLst/>
          </a:prstGeom>
          <a:solidFill>
            <a:srgbClr val="F0DFE3"/>
          </a:solidFill>
          <a:ln w="12700">
            <a:solidFill>
              <a:srgbClr val="F0DFE3">
                <a:alpha val="0"/>
              </a:srgbClr>
            </a:solidFill>
            <a:prstDash val="solid"/>
          </a:ln>
        </p:spPr>
      </p:sp>
      <p:sp>
        <p:nvSpPr>
          <p:cNvPr id="9" name="Text 7"/>
          <p:cNvSpPr/>
          <p:nvPr/>
        </p:nvSpPr>
        <p:spPr>
          <a:xfrm>
            <a:off x="704088" y="2432304"/>
            <a:ext cx="621792" cy="621792"/>
          </a:xfrm>
          <a:prstGeom prst="rect">
            <a:avLst/>
          </a:prstGeom>
          <a:noFill/>
          <a:ln/>
        </p:spPr>
        <p:txBody>
          <a:bodyPr wrap="square" lIns="0" tIns="0" rIns="0" bIns="0" rtlCol="0" anchor="ctr"/>
          <a:lstStyle/>
          <a:p>
            <a:pPr algn="ctr" indent="0" marL="0">
              <a:buNone/>
            </a:pPr>
            <a:endParaRPr lang="en-US" sz="1700" dirty="0"/>
          </a:p>
        </p:txBody>
      </p:sp>
      <p:sp>
        <p:nvSpPr>
          <p:cNvPr id="10" name="Shape 8"/>
          <p:cNvSpPr/>
          <p:nvPr/>
        </p:nvSpPr>
        <p:spPr>
          <a:xfrm>
            <a:off x="850392" y="2715768"/>
            <a:ext cx="77724" cy="164592"/>
          </a:xfrm>
          <a:prstGeom prst="rect">
            <a:avLst/>
          </a:prstGeom>
          <a:solidFill>
            <a:srgbClr val="6D2E46"/>
          </a:solidFill>
          <a:ln w="12700">
            <a:solidFill>
              <a:srgbClr val="6D2E46">
                <a:alpha val="0"/>
              </a:srgbClr>
            </a:solidFill>
            <a:prstDash val="solid"/>
          </a:ln>
        </p:spPr>
      </p:sp>
      <p:sp>
        <p:nvSpPr>
          <p:cNvPr id="11" name="Shape 9"/>
          <p:cNvSpPr/>
          <p:nvPr/>
        </p:nvSpPr>
        <p:spPr>
          <a:xfrm>
            <a:off x="969264" y="2606040"/>
            <a:ext cx="77724" cy="274320"/>
          </a:xfrm>
          <a:prstGeom prst="rect">
            <a:avLst/>
          </a:prstGeom>
          <a:solidFill>
            <a:srgbClr val="6D2E46"/>
          </a:solidFill>
          <a:ln w="12700">
            <a:solidFill>
              <a:srgbClr val="6D2E46">
                <a:alpha val="0"/>
              </a:srgbClr>
            </a:solidFill>
            <a:prstDash val="solid"/>
          </a:ln>
        </p:spPr>
      </p:sp>
      <p:sp>
        <p:nvSpPr>
          <p:cNvPr id="12" name="Shape 10"/>
          <p:cNvSpPr/>
          <p:nvPr/>
        </p:nvSpPr>
        <p:spPr>
          <a:xfrm>
            <a:off x="1088136" y="2487168"/>
            <a:ext cx="77724" cy="393192"/>
          </a:xfrm>
          <a:prstGeom prst="rect">
            <a:avLst/>
          </a:prstGeom>
          <a:solidFill>
            <a:srgbClr val="6D2E46"/>
          </a:solidFill>
          <a:ln w="12700">
            <a:solidFill>
              <a:srgbClr val="6D2E46">
                <a:alpha val="0"/>
              </a:srgbClr>
            </a:solidFill>
            <a:prstDash val="solid"/>
          </a:ln>
        </p:spPr>
      </p:sp>
      <p:sp>
        <p:nvSpPr>
          <p:cNvPr id="13" name="Text 11"/>
          <p:cNvSpPr/>
          <p:nvPr/>
        </p:nvSpPr>
        <p:spPr>
          <a:xfrm>
            <a:off x="704088" y="3310128"/>
            <a:ext cx="1965960" cy="329184"/>
          </a:xfrm>
          <a:prstGeom prst="rect">
            <a:avLst/>
          </a:prstGeom>
          <a:noFill/>
          <a:ln/>
        </p:spPr>
        <p:txBody>
          <a:bodyPr wrap="square" lIns="0" tIns="0" rIns="0" bIns="0" rtlCol="0" anchor="ctr"/>
          <a:lstStyle/>
          <a:p>
            <a:pPr indent="0" marL="0">
              <a:buNone/>
            </a:pPr>
            <a:r>
              <a:rPr lang="en-US" sz="1800" b="1" dirty="0">
                <a:solidFill>
                  <a:srgbClr val="30282E"/>
                </a:solidFill>
                <a:latin typeface="Calibri" pitchFamily="34" charset="0"/>
                <a:ea typeface="Calibri" pitchFamily="34" charset="-122"/>
                <a:cs typeface="Calibri" pitchFamily="34" charset="-120"/>
              </a:rPr>
              <a:t>SKU performance</a:t>
            </a:r>
            <a:endParaRPr lang="en-US" sz="1800" dirty="0"/>
          </a:p>
        </p:txBody>
      </p:sp>
      <p:sp>
        <p:nvSpPr>
          <p:cNvPr id="14" name="Text 12"/>
          <p:cNvSpPr/>
          <p:nvPr/>
        </p:nvSpPr>
        <p:spPr>
          <a:xfrm>
            <a:off x="704088" y="3767328"/>
            <a:ext cx="1965960" cy="493776"/>
          </a:xfrm>
          <a:prstGeom prst="rect">
            <a:avLst/>
          </a:prstGeom>
          <a:noFill/>
          <a:ln/>
        </p:spPr>
        <p:txBody>
          <a:bodyPr wrap="square" lIns="0" tIns="0" rIns="0" bIns="0" rtlCol="0" anchor="ctr"/>
          <a:lstStyle/>
          <a:p>
            <a:pPr indent="0" marL="0">
              <a:buNone/>
            </a:pPr>
            <a:r>
              <a:rPr lang="en-US" sz="1650" dirty="0">
                <a:solidFill>
                  <a:srgbClr val="6F6268"/>
                </a:solidFill>
                <a:latin typeface="Calibri" pitchFamily="34" charset="0"/>
                <a:ea typeface="Calibri" pitchFamily="34" charset="-122"/>
                <a:cs typeface="Calibri" pitchFamily="34" charset="-120"/>
              </a:rPr>
              <a:t>Sales, units, margin,</a:t>
            </a:r>
            <a:endParaRPr lang="en-US" sz="1650" dirty="0"/>
          </a:p>
          <a:p>
            <a:pPr indent="0" marL="0">
              <a:buNone/>
            </a:pPr>
            <a:r>
              <a:rPr lang="en-US" sz="1650" dirty="0">
                <a:solidFill>
                  <a:srgbClr val="6F6268"/>
                </a:solidFill>
                <a:latin typeface="Calibri" pitchFamily="34" charset="0"/>
                <a:ea typeface="Calibri" pitchFamily="34" charset="-122"/>
                <a:cs typeface="Calibri" pitchFamily="34" charset="-120"/>
              </a:rPr>
              <a:t>status and stock</a:t>
            </a:r>
            <a:endParaRPr lang="en-US" sz="1650" dirty="0"/>
          </a:p>
        </p:txBody>
      </p:sp>
      <p:sp>
        <p:nvSpPr>
          <p:cNvPr id="15" name="Shape 13"/>
          <p:cNvSpPr/>
          <p:nvPr/>
        </p:nvSpPr>
        <p:spPr>
          <a:xfrm>
            <a:off x="3081528" y="2194560"/>
            <a:ext cx="2331720" cy="2240280"/>
          </a:xfrm>
          <a:prstGeom prst="roundRect">
            <a:avLst>
              <a:gd name="adj" fmla="val 4898"/>
            </a:avLst>
          </a:prstGeom>
          <a:solidFill>
            <a:srgbClr val="FFFDFA"/>
          </a:solidFill>
          <a:ln w="12700">
            <a:solidFill>
              <a:srgbClr val="FFFDFA">
                <a:alpha val="0"/>
              </a:srgbClr>
            </a:solidFill>
            <a:prstDash val="solid"/>
          </a:ln>
        </p:spPr>
      </p:sp>
      <p:sp>
        <p:nvSpPr>
          <p:cNvPr id="16" name="Shape 14"/>
          <p:cNvSpPr/>
          <p:nvPr/>
        </p:nvSpPr>
        <p:spPr>
          <a:xfrm>
            <a:off x="3282696" y="2432304"/>
            <a:ext cx="621792" cy="621792"/>
          </a:xfrm>
          <a:prstGeom prst="ellipse">
            <a:avLst/>
          </a:prstGeom>
          <a:solidFill>
            <a:srgbClr val="F0DFE3"/>
          </a:solidFill>
          <a:ln w="12700">
            <a:solidFill>
              <a:srgbClr val="F0DFE3">
                <a:alpha val="0"/>
              </a:srgbClr>
            </a:solidFill>
            <a:prstDash val="solid"/>
          </a:ln>
        </p:spPr>
      </p:sp>
      <p:sp>
        <p:nvSpPr>
          <p:cNvPr id="17" name="Text 15"/>
          <p:cNvSpPr/>
          <p:nvPr/>
        </p:nvSpPr>
        <p:spPr>
          <a:xfrm>
            <a:off x="3282696" y="2432304"/>
            <a:ext cx="621792" cy="621792"/>
          </a:xfrm>
          <a:prstGeom prst="rect">
            <a:avLst/>
          </a:prstGeom>
          <a:noFill/>
          <a:ln/>
        </p:spPr>
        <p:txBody>
          <a:bodyPr wrap="square" lIns="0" tIns="0" rIns="0" bIns="0" rtlCol="0" anchor="ctr"/>
          <a:lstStyle/>
          <a:p>
            <a:pPr algn="ctr" indent="0" marL="0">
              <a:buNone/>
            </a:pPr>
            <a:endParaRPr lang="en-US" sz="1700" dirty="0"/>
          </a:p>
        </p:txBody>
      </p:sp>
      <p:sp>
        <p:nvSpPr>
          <p:cNvPr id="18" name="Shape 16"/>
          <p:cNvSpPr/>
          <p:nvPr/>
        </p:nvSpPr>
        <p:spPr>
          <a:xfrm>
            <a:off x="3470148" y="2542032"/>
            <a:ext cx="246888" cy="393192"/>
          </a:xfrm>
          <a:prstGeom prst="roundRect">
            <a:avLst>
              <a:gd name="adj" fmla="val 11111"/>
            </a:avLst>
          </a:prstGeom>
          <a:solidFill>
            <a:srgbClr val="6D2E46"/>
          </a:solidFill>
          <a:ln w="12700">
            <a:solidFill>
              <a:srgbClr val="6D2E46">
                <a:alpha val="0"/>
              </a:srgbClr>
            </a:solidFill>
            <a:prstDash val="solid"/>
          </a:ln>
        </p:spPr>
      </p:sp>
      <p:sp>
        <p:nvSpPr>
          <p:cNvPr id="19" name="Shape 17"/>
          <p:cNvSpPr/>
          <p:nvPr/>
        </p:nvSpPr>
        <p:spPr>
          <a:xfrm>
            <a:off x="3525012" y="2514600"/>
            <a:ext cx="137160" cy="54864"/>
          </a:xfrm>
          <a:prstGeom prst="rect">
            <a:avLst/>
          </a:prstGeom>
          <a:solidFill>
            <a:srgbClr val="6D2E46"/>
          </a:solidFill>
          <a:ln w="12700">
            <a:solidFill>
              <a:srgbClr val="6D2E46">
                <a:alpha val="0"/>
              </a:srgbClr>
            </a:solidFill>
            <a:prstDash val="solid"/>
          </a:ln>
        </p:spPr>
      </p:sp>
      <p:sp>
        <p:nvSpPr>
          <p:cNvPr id="20" name="Shape 18"/>
          <p:cNvSpPr/>
          <p:nvPr/>
        </p:nvSpPr>
        <p:spPr>
          <a:xfrm>
            <a:off x="3515868" y="2706624"/>
            <a:ext cx="155448" cy="68580"/>
          </a:xfrm>
          <a:prstGeom prst="rect">
            <a:avLst/>
          </a:prstGeom>
          <a:solidFill>
            <a:srgbClr val="FAF6EF"/>
          </a:solidFill>
          <a:ln w="12700">
            <a:solidFill>
              <a:srgbClr val="FAF6EF">
                <a:alpha val="0"/>
              </a:srgbClr>
            </a:solidFill>
            <a:prstDash val="solid"/>
          </a:ln>
        </p:spPr>
      </p:sp>
      <p:sp>
        <p:nvSpPr>
          <p:cNvPr id="21" name="Text 19"/>
          <p:cNvSpPr/>
          <p:nvPr/>
        </p:nvSpPr>
        <p:spPr>
          <a:xfrm>
            <a:off x="3282696" y="3310128"/>
            <a:ext cx="1965960" cy="329184"/>
          </a:xfrm>
          <a:prstGeom prst="rect">
            <a:avLst/>
          </a:prstGeom>
          <a:noFill/>
          <a:ln/>
        </p:spPr>
        <p:txBody>
          <a:bodyPr wrap="square" lIns="0" tIns="0" rIns="0" bIns="0" rtlCol="0" anchor="ctr"/>
          <a:lstStyle/>
          <a:p>
            <a:pPr indent="0" marL="0">
              <a:buNone/>
            </a:pPr>
            <a:r>
              <a:rPr lang="en-US" sz="1800" b="1" dirty="0">
                <a:solidFill>
                  <a:srgbClr val="30282E"/>
                </a:solidFill>
                <a:latin typeface="Calibri" pitchFamily="34" charset="0"/>
                <a:ea typeface="Calibri" pitchFamily="34" charset="-122"/>
                <a:cs typeface="Calibri" pitchFamily="34" charset="-120"/>
              </a:rPr>
              <a:t>Product metadata</a:t>
            </a:r>
            <a:endParaRPr lang="en-US" sz="1800" dirty="0"/>
          </a:p>
        </p:txBody>
      </p:sp>
      <p:sp>
        <p:nvSpPr>
          <p:cNvPr id="22" name="Text 20"/>
          <p:cNvSpPr/>
          <p:nvPr/>
        </p:nvSpPr>
        <p:spPr>
          <a:xfrm>
            <a:off x="3282696" y="3767328"/>
            <a:ext cx="1965960" cy="493776"/>
          </a:xfrm>
          <a:prstGeom prst="rect">
            <a:avLst/>
          </a:prstGeom>
          <a:noFill/>
          <a:ln/>
        </p:spPr>
        <p:txBody>
          <a:bodyPr wrap="square" lIns="0" tIns="0" rIns="0" bIns="0" rtlCol="0" anchor="ctr"/>
          <a:lstStyle/>
          <a:p>
            <a:pPr indent="0" marL="0">
              <a:buNone/>
            </a:pPr>
            <a:r>
              <a:rPr lang="en-US" sz="1650" dirty="0">
                <a:solidFill>
                  <a:srgbClr val="6F6268"/>
                </a:solidFill>
                <a:latin typeface="Calibri" pitchFamily="34" charset="0"/>
                <a:ea typeface="Calibri" pitchFamily="34" charset="-122"/>
                <a:cs typeface="Calibri" pitchFamily="34" charset="-120"/>
              </a:rPr>
              <a:t>Brand, shade, supplier</a:t>
            </a:r>
            <a:endParaRPr lang="en-US" sz="1650" dirty="0"/>
          </a:p>
          <a:p>
            <a:pPr indent="0" marL="0">
              <a:buNone/>
            </a:pPr>
            <a:r>
              <a:rPr lang="en-US" sz="1650" dirty="0">
                <a:solidFill>
                  <a:srgbClr val="6F6268"/>
                </a:solidFill>
                <a:latin typeface="Calibri" pitchFamily="34" charset="0"/>
                <a:ea typeface="Calibri" pitchFamily="34" charset="-122"/>
                <a:cs typeface="Calibri" pitchFamily="34" charset="-120"/>
              </a:rPr>
              <a:t>and seasonality</a:t>
            </a:r>
            <a:endParaRPr lang="en-US" sz="1650" dirty="0"/>
          </a:p>
        </p:txBody>
      </p:sp>
      <p:sp>
        <p:nvSpPr>
          <p:cNvPr id="23" name="Shape 21"/>
          <p:cNvSpPr/>
          <p:nvPr/>
        </p:nvSpPr>
        <p:spPr>
          <a:xfrm>
            <a:off x="5660136" y="2194560"/>
            <a:ext cx="2331720" cy="2240280"/>
          </a:xfrm>
          <a:prstGeom prst="roundRect">
            <a:avLst>
              <a:gd name="adj" fmla="val 4898"/>
            </a:avLst>
          </a:prstGeom>
          <a:solidFill>
            <a:srgbClr val="FFFDFA"/>
          </a:solidFill>
          <a:ln w="12700">
            <a:solidFill>
              <a:srgbClr val="FFFDFA">
                <a:alpha val="0"/>
              </a:srgbClr>
            </a:solidFill>
            <a:prstDash val="solid"/>
          </a:ln>
        </p:spPr>
      </p:sp>
      <p:sp>
        <p:nvSpPr>
          <p:cNvPr id="24" name="Shape 22"/>
          <p:cNvSpPr/>
          <p:nvPr/>
        </p:nvSpPr>
        <p:spPr>
          <a:xfrm>
            <a:off x="5861304" y="2432304"/>
            <a:ext cx="621792" cy="621792"/>
          </a:xfrm>
          <a:prstGeom prst="ellipse">
            <a:avLst/>
          </a:prstGeom>
          <a:solidFill>
            <a:srgbClr val="F0DFE3"/>
          </a:solidFill>
          <a:ln w="12700">
            <a:solidFill>
              <a:srgbClr val="F0DFE3">
                <a:alpha val="0"/>
              </a:srgbClr>
            </a:solidFill>
            <a:prstDash val="solid"/>
          </a:ln>
        </p:spPr>
      </p:sp>
      <p:sp>
        <p:nvSpPr>
          <p:cNvPr id="25" name="Text 23"/>
          <p:cNvSpPr/>
          <p:nvPr/>
        </p:nvSpPr>
        <p:spPr>
          <a:xfrm>
            <a:off x="5861304" y="2432304"/>
            <a:ext cx="621792" cy="621792"/>
          </a:xfrm>
          <a:prstGeom prst="rect">
            <a:avLst/>
          </a:prstGeom>
          <a:noFill/>
          <a:ln/>
        </p:spPr>
        <p:txBody>
          <a:bodyPr wrap="square" lIns="0" tIns="0" rIns="0" bIns="0" rtlCol="0" anchor="ctr"/>
          <a:lstStyle/>
          <a:p>
            <a:pPr algn="ctr" indent="0" marL="0">
              <a:buNone/>
            </a:pPr>
            <a:endParaRPr lang="en-US" sz="1700" dirty="0"/>
          </a:p>
        </p:txBody>
      </p:sp>
      <p:sp>
        <p:nvSpPr>
          <p:cNvPr id="26" name="Shape 24"/>
          <p:cNvSpPr/>
          <p:nvPr/>
        </p:nvSpPr>
        <p:spPr>
          <a:xfrm>
            <a:off x="5984748" y="2688336"/>
            <a:ext cx="118872" cy="118872"/>
          </a:xfrm>
          <a:prstGeom prst="ellipse">
            <a:avLst/>
          </a:prstGeom>
          <a:solidFill>
            <a:srgbClr val="6D2E46"/>
          </a:solidFill>
          <a:ln w="12700">
            <a:solidFill>
              <a:srgbClr val="6D2E46">
                <a:alpha val="0"/>
              </a:srgbClr>
            </a:solidFill>
            <a:prstDash val="solid"/>
          </a:ln>
        </p:spPr>
      </p:sp>
      <p:sp>
        <p:nvSpPr>
          <p:cNvPr id="27" name="Shape 25"/>
          <p:cNvSpPr/>
          <p:nvPr/>
        </p:nvSpPr>
        <p:spPr>
          <a:xfrm>
            <a:off x="6121908" y="2651760"/>
            <a:ext cx="118872" cy="118872"/>
          </a:xfrm>
          <a:prstGeom prst="ellipse">
            <a:avLst/>
          </a:prstGeom>
          <a:solidFill>
            <a:srgbClr val="6D2E46"/>
          </a:solidFill>
          <a:ln w="12700">
            <a:solidFill>
              <a:srgbClr val="6D2E46">
                <a:alpha val="0"/>
              </a:srgbClr>
            </a:solidFill>
            <a:prstDash val="solid"/>
          </a:ln>
        </p:spPr>
      </p:sp>
      <p:sp>
        <p:nvSpPr>
          <p:cNvPr id="28" name="Shape 26"/>
          <p:cNvSpPr/>
          <p:nvPr/>
        </p:nvSpPr>
        <p:spPr>
          <a:xfrm>
            <a:off x="6259068" y="2615184"/>
            <a:ext cx="118872" cy="118872"/>
          </a:xfrm>
          <a:prstGeom prst="ellipse">
            <a:avLst/>
          </a:prstGeom>
          <a:solidFill>
            <a:srgbClr val="6D2E46"/>
          </a:solidFill>
          <a:ln w="12700">
            <a:solidFill>
              <a:srgbClr val="6D2E46">
                <a:alpha val="0"/>
              </a:srgbClr>
            </a:solidFill>
            <a:prstDash val="solid"/>
          </a:ln>
        </p:spPr>
      </p:sp>
      <p:sp>
        <p:nvSpPr>
          <p:cNvPr id="29" name="Shape 27"/>
          <p:cNvSpPr/>
          <p:nvPr/>
        </p:nvSpPr>
        <p:spPr>
          <a:xfrm>
            <a:off x="6035040" y="2852928"/>
            <a:ext cx="301752" cy="0"/>
          </a:xfrm>
          <a:prstGeom prst="line">
            <a:avLst/>
          </a:prstGeom>
          <a:noFill/>
          <a:ln w="17780">
            <a:solidFill>
              <a:srgbClr val="6D2E46"/>
            </a:solidFill>
            <a:prstDash val="solid"/>
          </a:ln>
        </p:spPr>
      </p:sp>
      <p:sp>
        <p:nvSpPr>
          <p:cNvPr id="30" name="Text 28"/>
          <p:cNvSpPr/>
          <p:nvPr/>
        </p:nvSpPr>
        <p:spPr>
          <a:xfrm>
            <a:off x="5861304" y="3310128"/>
            <a:ext cx="1965960" cy="329184"/>
          </a:xfrm>
          <a:prstGeom prst="rect">
            <a:avLst/>
          </a:prstGeom>
          <a:noFill/>
          <a:ln/>
        </p:spPr>
        <p:txBody>
          <a:bodyPr wrap="square" lIns="0" tIns="0" rIns="0" bIns="0" rtlCol="0" anchor="ctr"/>
          <a:lstStyle/>
          <a:p>
            <a:pPr indent="0" marL="0">
              <a:buNone/>
            </a:pPr>
            <a:r>
              <a:rPr lang="en-US" sz="1800" b="1" dirty="0">
                <a:solidFill>
                  <a:srgbClr val="30282E"/>
                </a:solidFill>
                <a:latin typeface="Calibri" pitchFamily="34" charset="0"/>
                <a:ea typeface="Calibri" pitchFamily="34" charset="-122"/>
                <a:cs typeface="Calibri" pitchFamily="34" charset="-120"/>
              </a:rPr>
              <a:t>Competitor signals</a:t>
            </a:r>
            <a:endParaRPr lang="en-US" sz="1800" dirty="0"/>
          </a:p>
        </p:txBody>
      </p:sp>
      <p:sp>
        <p:nvSpPr>
          <p:cNvPr id="31" name="Text 29"/>
          <p:cNvSpPr/>
          <p:nvPr/>
        </p:nvSpPr>
        <p:spPr>
          <a:xfrm>
            <a:off x="5861304" y="3767328"/>
            <a:ext cx="1965960" cy="493776"/>
          </a:xfrm>
          <a:prstGeom prst="rect">
            <a:avLst/>
          </a:prstGeom>
          <a:noFill/>
          <a:ln/>
        </p:spPr>
        <p:txBody>
          <a:bodyPr wrap="square" lIns="0" tIns="0" rIns="0" bIns="0" rtlCol="0" anchor="ctr"/>
          <a:lstStyle/>
          <a:p>
            <a:pPr indent="0" marL="0">
              <a:buNone/>
            </a:pPr>
            <a:r>
              <a:rPr lang="en-US" sz="1650" dirty="0">
                <a:solidFill>
                  <a:srgbClr val="6F6268"/>
                </a:solidFill>
                <a:latin typeface="Calibri" pitchFamily="34" charset="0"/>
                <a:ea typeface="Calibri" pitchFamily="34" charset="-122"/>
                <a:cs typeface="Calibri" pitchFamily="34" charset="-120"/>
              </a:rPr>
              <a:t>Observed products,</a:t>
            </a:r>
            <a:endParaRPr lang="en-US" sz="1650" dirty="0"/>
          </a:p>
          <a:p>
            <a:pPr indent="0" marL="0">
              <a:buNone/>
            </a:pPr>
            <a:r>
              <a:rPr lang="en-US" sz="1650" dirty="0">
                <a:solidFill>
                  <a:srgbClr val="6F6268"/>
                </a:solidFill>
                <a:latin typeface="Calibri" pitchFamily="34" charset="0"/>
                <a:ea typeface="Calibri" pitchFamily="34" charset="-122"/>
                <a:cs typeface="Calibri" pitchFamily="34" charset="-120"/>
              </a:rPr>
              <a:t>prices and trends</a:t>
            </a:r>
            <a:endParaRPr lang="en-US" sz="1650" dirty="0"/>
          </a:p>
        </p:txBody>
      </p:sp>
      <p:sp>
        <p:nvSpPr>
          <p:cNvPr id="32" name="Shape 30"/>
          <p:cNvSpPr/>
          <p:nvPr/>
        </p:nvSpPr>
        <p:spPr>
          <a:xfrm>
            <a:off x="8412480" y="2194560"/>
            <a:ext cx="3273552" cy="3593592"/>
          </a:xfrm>
          <a:prstGeom prst="roundRect">
            <a:avLst>
              <a:gd name="adj" fmla="val 3352"/>
            </a:avLst>
          </a:prstGeom>
          <a:solidFill>
            <a:srgbClr val="6D2E46"/>
          </a:solidFill>
          <a:ln w="12700">
            <a:solidFill>
              <a:srgbClr val="6D2E46">
                <a:alpha val="0"/>
              </a:srgbClr>
            </a:solidFill>
            <a:prstDash val="solid"/>
          </a:ln>
        </p:spPr>
      </p:sp>
      <p:sp>
        <p:nvSpPr>
          <p:cNvPr id="33" name="Text 31"/>
          <p:cNvSpPr/>
          <p:nvPr/>
        </p:nvSpPr>
        <p:spPr>
          <a:xfrm>
            <a:off x="8659368" y="2496312"/>
            <a:ext cx="2788920" cy="704088"/>
          </a:xfrm>
          <a:prstGeom prst="rect">
            <a:avLst/>
          </a:prstGeom>
          <a:noFill/>
          <a:ln/>
        </p:spPr>
        <p:txBody>
          <a:bodyPr wrap="square" lIns="0" tIns="0" rIns="0" bIns="0" rtlCol="0" anchor="ctr"/>
          <a:lstStyle/>
          <a:p>
            <a:pPr indent="0" marL="0">
              <a:buNone/>
            </a:pPr>
            <a:r>
              <a:rPr lang="en-US" sz="2500" dirty="0">
                <a:solidFill>
                  <a:srgbClr val="FAF6EF"/>
                </a:solidFill>
                <a:latin typeface="Georgia" pitchFamily="34" charset="0"/>
                <a:ea typeface="Georgia" pitchFamily="34" charset="-122"/>
                <a:cs typeface="Georgia" pitchFamily="34" charset="-120"/>
              </a:rPr>
              <a:t>Competing</a:t>
            </a:r>
            <a:endParaRPr lang="en-US" sz="2500" dirty="0"/>
          </a:p>
          <a:p>
            <a:pPr indent="0" marL="0">
              <a:buNone/>
            </a:pPr>
            <a:r>
              <a:rPr lang="en-US" sz="2500" dirty="0">
                <a:solidFill>
                  <a:srgbClr val="FAF6EF"/>
                </a:solidFill>
                <a:latin typeface="Georgia" pitchFamily="34" charset="0"/>
                <a:ea typeface="Georgia" pitchFamily="34" charset="-122"/>
                <a:cs typeface="Georgia" pitchFamily="34" charset="-120"/>
              </a:rPr>
              <a:t>questions</a:t>
            </a:r>
            <a:endParaRPr lang="en-US" sz="2500" dirty="0"/>
          </a:p>
        </p:txBody>
      </p:sp>
      <p:sp>
        <p:nvSpPr>
          <p:cNvPr id="34" name="Shape 32"/>
          <p:cNvSpPr/>
          <p:nvPr/>
        </p:nvSpPr>
        <p:spPr>
          <a:xfrm>
            <a:off x="8677656" y="3483864"/>
            <a:ext cx="274320" cy="274320"/>
          </a:xfrm>
          <a:prstGeom prst="ellipse">
            <a:avLst/>
          </a:prstGeom>
          <a:solidFill>
            <a:srgbClr val="E6BFCA"/>
          </a:solidFill>
          <a:ln w="12700">
            <a:solidFill>
              <a:srgbClr val="E6BFCA">
                <a:alpha val="0"/>
              </a:srgbClr>
            </a:solidFill>
            <a:prstDash val="solid"/>
          </a:ln>
        </p:spPr>
      </p:sp>
      <p:sp>
        <p:nvSpPr>
          <p:cNvPr id="35" name="Text 33"/>
          <p:cNvSpPr/>
          <p:nvPr/>
        </p:nvSpPr>
        <p:spPr>
          <a:xfrm>
            <a:off x="8677656" y="3483864"/>
            <a:ext cx="274320" cy="274320"/>
          </a:xfrm>
          <a:prstGeom prst="rect">
            <a:avLst/>
          </a:prstGeom>
          <a:noFill/>
          <a:ln/>
        </p:spPr>
        <p:txBody>
          <a:bodyPr wrap="square" lIns="0" tIns="0" rIns="0" bIns="0" rtlCol="0" anchor="ctr"/>
          <a:lstStyle/>
          <a:p>
            <a:pPr algn="ctr" indent="0" marL="0">
              <a:buNone/>
            </a:pPr>
            <a:r>
              <a:rPr lang="en-US" sz="1700" b="1" dirty="0">
                <a:solidFill>
                  <a:srgbClr val="6D2E46"/>
                </a:solidFill>
                <a:latin typeface="Calibri" pitchFamily="34" charset="0"/>
                <a:ea typeface="Calibri" pitchFamily="34" charset="-122"/>
                <a:cs typeface="Calibri" pitchFamily="34" charset="-120"/>
              </a:rPr>
              <a:t>1</a:t>
            </a:r>
            <a:endParaRPr lang="en-US" sz="1700" dirty="0"/>
          </a:p>
        </p:txBody>
      </p:sp>
      <p:sp>
        <p:nvSpPr>
          <p:cNvPr id="36" name="Text 34"/>
          <p:cNvSpPr/>
          <p:nvPr/>
        </p:nvSpPr>
        <p:spPr>
          <a:xfrm>
            <a:off x="9125712" y="3465576"/>
            <a:ext cx="2240280" cy="310896"/>
          </a:xfrm>
          <a:prstGeom prst="rect">
            <a:avLst/>
          </a:prstGeom>
          <a:noFill/>
          <a:ln/>
        </p:spPr>
        <p:txBody>
          <a:bodyPr wrap="square" lIns="0" tIns="0" rIns="0" bIns="0" rtlCol="0" anchor="ctr"/>
          <a:lstStyle/>
          <a:p>
            <a:pPr indent="0" marL="0">
              <a:buNone/>
            </a:pPr>
            <a:r>
              <a:rPr lang="en-US" sz="1800" dirty="0">
                <a:solidFill>
                  <a:srgbClr val="FAF6EF"/>
                </a:solidFill>
                <a:latin typeface="Calibri" pitchFamily="34" charset="0"/>
                <a:ea typeface="Calibri" pitchFamily="34" charset="-122"/>
                <a:cs typeface="Calibri" pitchFamily="34" charset="-120"/>
              </a:rPr>
              <a:t>Availability</a:t>
            </a:r>
            <a:endParaRPr lang="en-US" sz="1800" dirty="0"/>
          </a:p>
        </p:txBody>
      </p:sp>
      <p:sp>
        <p:nvSpPr>
          <p:cNvPr id="37" name="Shape 35"/>
          <p:cNvSpPr/>
          <p:nvPr/>
        </p:nvSpPr>
        <p:spPr>
          <a:xfrm>
            <a:off x="8677656" y="3950208"/>
            <a:ext cx="274320" cy="274320"/>
          </a:xfrm>
          <a:prstGeom prst="ellipse">
            <a:avLst/>
          </a:prstGeom>
          <a:solidFill>
            <a:srgbClr val="E6BFCA"/>
          </a:solidFill>
          <a:ln w="12700">
            <a:solidFill>
              <a:srgbClr val="E6BFCA">
                <a:alpha val="0"/>
              </a:srgbClr>
            </a:solidFill>
            <a:prstDash val="solid"/>
          </a:ln>
        </p:spPr>
      </p:sp>
      <p:sp>
        <p:nvSpPr>
          <p:cNvPr id="38" name="Text 36"/>
          <p:cNvSpPr/>
          <p:nvPr/>
        </p:nvSpPr>
        <p:spPr>
          <a:xfrm>
            <a:off x="8677656" y="3950208"/>
            <a:ext cx="274320" cy="274320"/>
          </a:xfrm>
          <a:prstGeom prst="rect">
            <a:avLst/>
          </a:prstGeom>
          <a:noFill/>
          <a:ln/>
        </p:spPr>
        <p:txBody>
          <a:bodyPr wrap="square" lIns="0" tIns="0" rIns="0" bIns="0" rtlCol="0" anchor="ctr"/>
          <a:lstStyle/>
          <a:p>
            <a:pPr algn="ctr" indent="0" marL="0">
              <a:buNone/>
            </a:pPr>
            <a:r>
              <a:rPr lang="en-US" sz="1700" b="1" dirty="0">
                <a:solidFill>
                  <a:srgbClr val="6D2E46"/>
                </a:solidFill>
                <a:latin typeface="Calibri" pitchFamily="34" charset="0"/>
                <a:ea typeface="Calibri" pitchFamily="34" charset="-122"/>
                <a:cs typeface="Calibri" pitchFamily="34" charset="-120"/>
              </a:rPr>
              <a:t>2</a:t>
            </a:r>
            <a:endParaRPr lang="en-US" sz="1700" dirty="0"/>
          </a:p>
        </p:txBody>
      </p:sp>
      <p:sp>
        <p:nvSpPr>
          <p:cNvPr id="39" name="Text 37"/>
          <p:cNvSpPr/>
          <p:nvPr/>
        </p:nvSpPr>
        <p:spPr>
          <a:xfrm>
            <a:off x="9125712" y="3931920"/>
            <a:ext cx="2240280" cy="310896"/>
          </a:xfrm>
          <a:prstGeom prst="rect">
            <a:avLst/>
          </a:prstGeom>
          <a:noFill/>
          <a:ln/>
        </p:spPr>
        <p:txBody>
          <a:bodyPr wrap="square" lIns="0" tIns="0" rIns="0" bIns="0" rtlCol="0" anchor="ctr"/>
          <a:lstStyle/>
          <a:p>
            <a:pPr indent="0" marL="0">
              <a:buNone/>
            </a:pPr>
            <a:r>
              <a:rPr lang="en-US" sz="1800" dirty="0">
                <a:solidFill>
                  <a:srgbClr val="FAF6EF"/>
                </a:solidFill>
                <a:latin typeface="Calibri" pitchFamily="34" charset="0"/>
                <a:ea typeface="Calibri" pitchFamily="34" charset="-122"/>
                <a:cs typeface="Calibri" pitchFamily="34" charset="-120"/>
              </a:rPr>
              <a:t>Listing</a:t>
            </a:r>
            <a:endParaRPr lang="en-US" sz="1800" dirty="0"/>
          </a:p>
        </p:txBody>
      </p:sp>
      <p:sp>
        <p:nvSpPr>
          <p:cNvPr id="40" name="Shape 38"/>
          <p:cNvSpPr/>
          <p:nvPr/>
        </p:nvSpPr>
        <p:spPr>
          <a:xfrm>
            <a:off x="8677656" y="4416552"/>
            <a:ext cx="274320" cy="274320"/>
          </a:xfrm>
          <a:prstGeom prst="ellipse">
            <a:avLst/>
          </a:prstGeom>
          <a:solidFill>
            <a:srgbClr val="E6BFCA"/>
          </a:solidFill>
          <a:ln w="12700">
            <a:solidFill>
              <a:srgbClr val="E6BFCA">
                <a:alpha val="0"/>
              </a:srgbClr>
            </a:solidFill>
            <a:prstDash val="solid"/>
          </a:ln>
        </p:spPr>
      </p:sp>
      <p:sp>
        <p:nvSpPr>
          <p:cNvPr id="41" name="Text 39"/>
          <p:cNvSpPr/>
          <p:nvPr/>
        </p:nvSpPr>
        <p:spPr>
          <a:xfrm>
            <a:off x="8677656" y="4416552"/>
            <a:ext cx="274320" cy="274320"/>
          </a:xfrm>
          <a:prstGeom prst="rect">
            <a:avLst/>
          </a:prstGeom>
          <a:noFill/>
          <a:ln/>
        </p:spPr>
        <p:txBody>
          <a:bodyPr wrap="square" lIns="0" tIns="0" rIns="0" bIns="0" rtlCol="0" anchor="ctr"/>
          <a:lstStyle/>
          <a:p>
            <a:pPr algn="ctr" indent="0" marL="0">
              <a:buNone/>
            </a:pPr>
            <a:r>
              <a:rPr lang="en-US" sz="1700" b="1" dirty="0">
                <a:solidFill>
                  <a:srgbClr val="6D2E46"/>
                </a:solidFill>
                <a:latin typeface="Calibri" pitchFamily="34" charset="0"/>
                <a:ea typeface="Calibri" pitchFamily="34" charset="-122"/>
                <a:cs typeface="Calibri" pitchFamily="34" charset="-120"/>
              </a:rPr>
              <a:t>3</a:t>
            </a:r>
            <a:endParaRPr lang="en-US" sz="1700" dirty="0"/>
          </a:p>
        </p:txBody>
      </p:sp>
      <p:sp>
        <p:nvSpPr>
          <p:cNvPr id="42" name="Text 40"/>
          <p:cNvSpPr/>
          <p:nvPr/>
        </p:nvSpPr>
        <p:spPr>
          <a:xfrm>
            <a:off x="9125712" y="4398264"/>
            <a:ext cx="2240280" cy="310896"/>
          </a:xfrm>
          <a:prstGeom prst="rect">
            <a:avLst/>
          </a:prstGeom>
          <a:noFill/>
          <a:ln/>
        </p:spPr>
        <p:txBody>
          <a:bodyPr wrap="square" lIns="0" tIns="0" rIns="0" bIns="0" rtlCol="0" anchor="ctr"/>
          <a:lstStyle/>
          <a:p>
            <a:pPr indent="0" marL="0">
              <a:buNone/>
            </a:pPr>
            <a:r>
              <a:rPr lang="en-US" sz="1800" dirty="0">
                <a:solidFill>
                  <a:srgbClr val="FAF6EF"/>
                </a:solidFill>
                <a:latin typeface="Calibri" pitchFamily="34" charset="0"/>
                <a:ea typeface="Calibri" pitchFamily="34" charset="-122"/>
                <a:cs typeface="Calibri" pitchFamily="34" charset="-120"/>
              </a:rPr>
              <a:t>Range</a:t>
            </a:r>
            <a:endParaRPr lang="en-US" sz="1800" dirty="0"/>
          </a:p>
        </p:txBody>
      </p:sp>
      <p:sp>
        <p:nvSpPr>
          <p:cNvPr id="43" name="Shape 41"/>
          <p:cNvSpPr/>
          <p:nvPr/>
        </p:nvSpPr>
        <p:spPr>
          <a:xfrm>
            <a:off x="8677656" y="4882896"/>
            <a:ext cx="274320" cy="274320"/>
          </a:xfrm>
          <a:prstGeom prst="ellipse">
            <a:avLst/>
          </a:prstGeom>
          <a:solidFill>
            <a:srgbClr val="E6BFCA"/>
          </a:solidFill>
          <a:ln w="12700">
            <a:solidFill>
              <a:srgbClr val="E6BFCA">
                <a:alpha val="0"/>
              </a:srgbClr>
            </a:solidFill>
            <a:prstDash val="solid"/>
          </a:ln>
        </p:spPr>
      </p:sp>
      <p:sp>
        <p:nvSpPr>
          <p:cNvPr id="44" name="Text 42"/>
          <p:cNvSpPr/>
          <p:nvPr/>
        </p:nvSpPr>
        <p:spPr>
          <a:xfrm>
            <a:off x="8677656" y="4882896"/>
            <a:ext cx="274320" cy="274320"/>
          </a:xfrm>
          <a:prstGeom prst="rect">
            <a:avLst/>
          </a:prstGeom>
          <a:noFill/>
          <a:ln/>
        </p:spPr>
        <p:txBody>
          <a:bodyPr wrap="square" lIns="0" tIns="0" rIns="0" bIns="0" rtlCol="0" anchor="ctr"/>
          <a:lstStyle/>
          <a:p>
            <a:pPr algn="ctr" indent="0" marL="0">
              <a:buNone/>
            </a:pPr>
            <a:r>
              <a:rPr lang="en-US" sz="1700" b="1" dirty="0">
                <a:solidFill>
                  <a:srgbClr val="6D2E46"/>
                </a:solidFill>
                <a:latin typeface="Calibri" pitchFamily="34" charset="0"/>
                <a:ea typeface="Calibri" pitchFamily="34" charset="-122"/>
                <a:cs typeface="Calibri" pitchFamily="34" charset="-120"/>
              </a:rPr>
              <a:t>4</a:t>
            </a:r>
            <a:endParaRPr lang="en-US" sz="1700" dirty="0"/>
          </a:p>
        </p:txBody>
      </p:sp>
      <p:sp>
        <p:nvSpPr>
          <p:cNvPr id="45" name="Text 43"/>
          <p:cNvSpPr/>
          <p:nvPr/>
        </p:nvSpPr>
        <p:spPr>
          <a:xfrm>
            <a:off x="9125712" y="4864608"/>
            <a:ext cx="2240280" cy="310896"/>
          </a:xfrm>
          <a:prstGeom prst="rect">
            <a:avLst/>
          </a:prstGeom>
          <a:noFill/>
          <a:ln/>
        </p:spPr>
        <p:txBody>
          <a:bodyPr wrap="square" lIns="0" tIns="0" rIns="0" bIns="0" rtlCol="0" anchor="ctr"/>
          <a:lstStyle/>
          <a:p>
            <a:pPr indent="0" marL="0">
              <a:buNone/>
            </a:pPr>
            <a:r>
              <a:rPr lang="en-US" sz="1800" dirty="0">
                <a:solidFill>
                  <a:srgbClr val="FAF6EF"/>
                </a:solidFill>
                <a:latin typeface="Calibri" pitchFamily="34" charset="0"/>
                <a:ea typeface="Calibri" pitchFamily="34" charset="-122"/>
                <a:cs typeface="Calibri" pitchFamily="34" charset="-120"/>
              </a:rPr>
              <a:t>Margins</a:t>
            </a:r>
            <a:endParaRPr lang="en-US" sz="1800" dirty="0"/>
          </a:p>
        </p:txBody>
      </p:sp>
      <p:sp>
        <p:nvSpPr>
          <p:cNvPr id="46" name="Shape 44"/>
          <p:cNvSpPr/>
          <p:nvPr/>
        </p:nvSpPr>
        <p:spPr>
          <a:xfrm>
            <a:off x="502920" y="4736592"/>
            <a:ext cx="7488936" cy="1051560"/>
          </a:xfrm>
          <a:prstGeom prst="roundRect">
            <a:avLst>
              <a:gd name="adj" fmla="val 10435"/>
            </a:avLst>
          </a:prstGeom>
          <a:solidFill>
            <a:srgbClr val="F0DFE3"/>
          </a:solidFill>
          <a:ln w="12700">
            <a:solidFill>
              <a:srgbClr val="F0DFE3">
                <a:alpha val="0"/>
              </a:srgbClr>
            </a:solidFill>
            <a:prstDash val="solid"/>
          </a:ln>
        </p:spPr>
      </p:sp>
      <p:sp>
        <p:nvSpPr>
          <p:cNvPr id="47" name="Text 45"/>
          <p:cNvSpPr/>
          <p:nvPr/>
        </p:nvSpPr>
        <p:spPr>
          <a:xfrm>
            <a:off x="731520" y="4937760"/>
            <a:ext cx="3511296" cy="292608"/>
          </a:xfrm>
          <a:prstGeom prst="rect">
            <a:avLst/>
          </a:prstGeom>
          <a:noFill/>
          <a:ln/>
        </p:spPr>
        <p:txBody>
          <a:bodyPr wrap="square" lIns="0" tIns="0" rIns="0" bIns="0" rtlCol="0" anchor="ctr"/>
          <a:lstStyle/>
          <a:p>
            <a:pPr indent="0" marL="0">
              <a:buNone/>
            </a:pPr>
            <a:r>
              <a:rPr lang="en-US" sz="2100" dirty="0">
                <a:solidFill>
                  <a:srgbClr val="6D2E46"/>
                </a:solidFill>
                <a:latin typeface="Georgia" pitchFamily="34" charset="0"/>
                <a:ea typeface="Georgia" pitchFamily="34" charset="-122"/>
                <a:cs typeface="Georgia" pitchFamily="34" charset="-120"/>
              </a:rPr>
              <a:t>Inactive ≠ unwanted</a:t>
            </a:r>
            <a:endParaRPr lang="en-US" sz="2100" dirty="0"/>
          </a:p>
        </p:txBody>
      </p:sp>
      <p:sp>
        <p:nvSpPr>
          <p:cNvPr id="48" name="Text 46"/>
          <p:cNvSpPr/>
          <p:nvPr/>
        </p:nvSpPr>
        <p:spPr>
          <a:xfrm>
            <a:off x="4187952" y="4937760"/>
            <a:ext cx="3474720" cy="292608"/>
          </a:xfrm>
          <a:prstGeom prst="rect">
            <a:avLst/>
          </a:prstGeom>
          <a:noFill/>
          <a:ln/>
        </p:spPr>
        <p:txBody>
          <a:bodyPr wrap="square" lIns="0" tIns="0" rIns="0" bIns="0" rtlCol="0" anchor="ctr"/>
          <a:lstStyle/>
          <a:p>
            <a:pPr indent="0" marL="0">
              <a:buNone/>
            </a:pPr>
            <a:r>
              <a:rPr lang="en-US" sz="2000" dirty="0">
                <a:solidFill>
                  <a:srgbClr val="6D2E46"/>
                </a:solidFill>
                <a:latin typeface="Georgia" pitchFamily="34" charset="0"/>
                <a:ea typeface="Georgia" pitchFamily="34" charset="-122"/>
                <a:cs typeface="Georgia" pitchFamily="34" charset="-120"/>
              </a:rPr>
              <a:t>Weak sales ≠ a stock cause</a:t>
            </a:r>
            <a:endParaRPr lang="en-US" sz="2000" dirty="0"/>
          </a:p>
        </p:txBody>
      </p:sp>
      <p:sp>
        <p:nvSpPr>
          <p:cNvPr id="49" name="Text 47"/>
          <p:cNvSpPr/>
          <p:nvPr/>
        </p:nvSpPr>
        <p:spPr>
          <a:xfrm>
            <a:off x="731520" y="5385816"/>
            <a:ext cx="7004304" cy="237744"/>
          </a:xfrm>
          <a:prstGeom prst="rect">
            <a:avLst/>
          </a:prstGeom>
          <a:noFill/>
          <a:ln/>
        </p:spPr>
        <p:txBody>
          <a:bodyPr wrap="square" lIns="0" tIns="0" rIns="0" bIns="0" rtlCol="0" anchor="ctr"/>
          <a:lstStyle/>
          <a:p>
            <a:pPr indent="0" marL="0">
              <a:buNone/>
            </a:pPr>
            <a:r>
              <a:rPr lang="en-US" sz="1650" dirty="0">
                <a:solidFill>
                  <a:srgbClr val="30282E"/>
                </a:solidFill>
                <a:latin typeface="Calibri" pitchFamily="34" charset="0"/>
                <a:ea typeface="Calibri" pitchFamily="34" charset="-122"/>
                <a:cs typeface="Calibri" pitchFamily="34" charset="-120"/>
              </a:rPr>
              <a:t>Needed: a short, defensible action list—not a causal verdict.</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 review.json · methodology; README workflow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03 / 10</a:t>
            </a:r>
            <a:endParaRPr lang="en-US" sz="1050" dirty="0"/>
          </a:p>
        </p:txBody>
      </p:sp>
      <p:sp>
        <p:nvSpPr>
          <p:cNvPr id="4" name="Text 2"/>
          <p:cNvSpPr/>
          <p:nvPr/>
        </p:nvSpPr>
        <p:spPr>
          <a:xfrm>
            <a:off x="502920" y="457200"/>
            <a:ext cx="9601200" cy="173736"/>
          </a:xfrm>
          <a:prstGeom prst="rect">
            <a:avLst/>
          </a:prstGeom>
          <a:noFill/>
          <a:ln/>
        </p:spPr>
        <p:txBody>
          <a:bodyPr wrap="square" lIns="0" tIns="0" rIns="0" bIns="0" rtlCol="0" anchor="ctr"/>
          <a:lstStyle/>
          <a:p>
            <a:pPr indent="0" marL="0">
              <a:buNone/>
            </a:pPr>
            <a:r>
              <a:rPr lang="en-US" sz="1050" b="1" spc="130" kern="0" dirty="0">
                <a:solidFill>
                  <a:srgbClr val="6D2E46"/>
                </a:solidFill>
                <a:latin typeface="Calibri" pitchFamily="34" charset="0"/>
                <a:ea typeface="Calibri" pitchFamily="34" charset="-122"/>
                <a:cs typeface="Calibri" pitchFamily="34" charset="-120"/>
              </a:rPr>
              <a:t>ZENBEAUTY RETAIL  /  CATEGORY REVIEW</a:t>
            </a:r>
            <a:endParaRPr lang="en-US" sz="1050" dirty="0"/>
          </a:p>
        </p:txBody>
      </p:sp>
      <p:sp>
        <p:nvSpPr>
          <p:cNvPr id="5" name="Text 3"/>
          <p:cNvSpPr/>
          <p:nvPr/>
        </p:nvSpPr>
        <p:spPr>
          <a:xfrm>
            <a:off x="502920" y="813816"/>
            <a:ext cx="11183112" cy="603504"/>
          </a:xfrm>
          <a:prstGeom prst="rect">
            <a:avLst/>
          </a:prstGeom>
          <a:noFill/>
          <a:ln/>
        </p:spPr>
        <p:txBody>
          <a:bodyPr wrap="square" lIns="0" tIns="0" rIns="0" bIns="0" rtlCol="0" anchor="ctr"/>
          <a:lstStyle/>
          <a:p>
            <a:pPr indent="0" marL="0">
              <a:buNone/>
            </a:pPr>
            <a:r>
              <a:rPr lang="en-US" sz="3400" dirty="0">
                <a:solidFill>
                  <a:srgbClr val="30282E"/>
                </a:solidFill>
                <a:latin typeface="Georgia" pitchFamily="34" charset="0"/>
                <a:ea typeface="Georgia" pitchFamily="34" charset="-122"/>
                <a:cs typeface="Georgia" pitchFamily="34" charset="-120"/>
              </a:rPr>
              <a:t>Our approach: facts first, action second</a:t>
            </a:r>
            <a:endParaRPr lang="en-US" sz="3400" dirty="0"/>
          </a:p>
        </p:txBody>
      </p:sp>
      <p:sp>
        <p:nvSpPr>
          <p:cNvPr id="6" name="Text 4"/>
          <p:cNvSpPr/>
          <p:nvPr/>
        </p:nvSpPr>
        <p:spPr>
          <a:xfrm>
            <a:off x="502920" y="1527048"/>
            <a:ext cx="11091672" cy="365760"/>
          </a:xfrm>
          <a:prstGeom prst="rect">
            <a:avLst/>
          </a:prstGeom>
          <a:noFill/>
          <a:ln/>
        </p:spPr>
        <p:txBody>
          <a:bodyPr wrap="square" lIns="0" tIns="0" rIns="0" bIns="0" rtlCol="0" anchor="ctr"/>
          <a:lstStyle/>
          <a:p>
            <a:pPr indent="0" marL="0">
              <a:buNone/>
            </a:pPr>
            <a:r>
              <a:rPr lang="en-US" sz="1750" dirty="0">
                <a:solidFill>
                  <a:srgbClr val="6F6268"/>
                </a:solidFill>
                <a:latin typeface="Calibri" pitchFamily="34" charset="0"/>
                <a:ea typeface="Calibri" pitchFamily="34" charset="-122"/>
                <a:cs typeface="Calibri" pitchFamily="34" charset="-120"/>
              </a:rPr>
              <a:t>Operational prerequisites come before the biggest-looking number.</a:t>
            </a:r>
            <a:endParaRPr lang="en-US" sz="1750" dirty="0"/>
          </a:p>
        </p:txBody>
      </p:sp>
      <p:sp>
        <p:nvSpPr>
          <p:cNvPr id="7" name="Shape 5"/>
          <p:cNvSpPr/>
          <p:nvPr/>
        </p:nvSpPr>
        <p:spPr>
          <a:xfrm>
            <a:off x="502920" y="2212848"/>
            <a:ext cx="2048256" cy="2523744"/>
          </a:xfrm>
          <a:prstGeom prst="roundRect">
            <a:avLst>
              <a:gd name="adj" fmla="val 5357"/>
            </a:avLst>
          </a:prstGeom>
          <a:solidFill>
            <a:srgbClr val="FFFDFA"/>
          </a:solidFill>
          <a:ln w="12700">
            <a:solidFill>
              <a:srgbClr val="FFFDFA">
                <a:alpha val="0"/>
              </a:srgbClr>
            </a:solidFill>
            <a:prstDash val="solid"/>
          </a:ln>
        </p:spPr>
      </p:sp>
      <p:sp>
        <p:nvSpPr>
          <p:cNvPr id="8" name="Shape 6"/>
          <p:cNvSpPr/>
          <p:nvPr/>
        </p:nvSpPr>
        <p:spPr>
          <a:xfrm>
            <a:off x="704088" y="2459736"/>
            <a:ext cx="457200" cy="457200"/>
          </a:xfrm>
          <a:prstGeom prst="ellipse">
            <a:avLst/>
          </a:prstGeom>
          <a:solidFill>
            <a:srgbClr val="6D2E46"/>
          </a:solidFill>
          <a:ln w="12700">
            <a:solidFill>
              <a:srgbClr val="6D2E46">
                <a:alpha val="0"/>
              </a:srgbClr>
            </a:solidFill>
            <a:prstDash val="solid"/>
          </a:ln>
        </p:spPr>
      </p:sp>
      <p:sp>
        <p:nvSpPr>
          <p:cNvPr id="9" name="Text 7"/>
          <p:cNvSpPr/>
          <p:nvPr/>
        </p:nvSpPr>
        <p:spPr>
          <a:xfrm>
            <a:off x="704088" y="2459736"/>
            <a:ext cx="457200" cy="457200"/>
          </a:xfrm>
          <a:prstGeom prst="rect">
            <a:avLst/>
          </a:prstGeom>
          <a:noFill/>
          <a:ln/>
        </p:spPr>
        <p:txBody>
          <a:bodyPr wrap="square" lIns="0" tIns="0" rIns="0" bIns="0" rtlCol="0" anchor="ctr"/>
          <a:lstStyle/>
          <a:p>
            <a:pPr algn="ctr" indent="0" marL="0">
              <a:buNone/>
            </a:pPr>
            <a:r>
              <a:rPr lang="en-US" sz="1300" b="1" dirty="0">
                <a:solidFill>
                  <a:srgbClr val="FFFDFA"/>
                </a:solidFill>
                <a:latin typeface="Calibri" pitchFamily="34" charset="0"/>
                <a:ea typeface="Calibri" pitchFamily="34" charset="-122"/>
                <a:cs typeface="Calibri" pitchFamily="34" charset="-120"/>
              </a:rPr>
              <a:t>01</a:t>
            </a:r>
            <a:endParaRPr lang="en-US" sz="1300" dirty="0"/>
          </a:p>
        </p:txBody>
      </p:sp>
      <p:sp>
        <p:nvSpPr>
          <p:cNvPr id="10" name="Text 8"/>
          <p:cNvSpPr/>
          <p:nvPr/>
        </p:nvSpPr>
        <p:spPr>
          <a:xfrm>
            <a:off x="704088" y="3200400"/>
            <a:ext cx="1737360" cy="713232"/>
          </a:xfrm>
          <a:prstGeom prst="rect">
            <a:avLst/>
          </a:prstGeom>
          <a:noFill/>
          <a:ln/>
        </p:spPr>
        <p:txBody>
          <a:bodyPr wrap="square" lIns="0" tIns="0" rIns="0" bIns="0" rtlCol="0" anchor="t"/>
          <a:lstStyle/>
          <a:p>
            <a:pPr indent="0" marL="0">
              <a:buNone/>
            </a:pPr>
            <a:r>
              <a:rPr lang="en-US" sz="1900" b="1" dirty="0">
                <a:solidFill>
                  <a:srgbClr val="30282E"/>
                </a:solidFill>
                <a:latin typeface="Calibri" pitchFamily="34" charset="0"/>
                <a:ea typeface="Calibri" pitchFamily="34" charset="-122"/>
                <a:cs typeface="Calibri" pitchFamily="34" charset="-120"/>
              </a:rPr>
              <a:t>Validate</a:t>
            </a:r>
            <a:endParaRPr lang="en-US" sz="1900" dirty="0"/>
          </a:p>
          <a:p>
            <a:pPr indent="0" marL="0">
              <a:buNone/>
            </a:pPr>
            <a:r>
              <a:rPr lang="en-US" sz="1900" b="1" dirty="0">
                <a:solidFill>
                  <a:srgbClr val="30282E"/>
                </a:solidFill>
                <a:latin typeface="Calibri" pitchFamily="34" charset="0"/>
                <a:ea typeface="Calibri" pitchFamily="34" charset="-122"/>
                <a:cs typeface="Calibri" pitchFamily="34" charset="-120"/>
              </a:rPr>
              <a:t>sources</a:t>
            </a:r>
            <a:endParaRPr lang="en-US" sz="1900" dirty="0"/>
          </a:p>
        </p:txBody>
      </p:sp>
      <p:sp>
        <p:nvSpPr>
          <p:cNvPr id="11" name="Text 9"/>
          <p:cNvSpPr/>
          <p:nvPr/>
        </p:nvSpPr>
        <p:spPr>
          <a:xfrm>
            <a:off x="704088" y="4023360"/>
            <a:ext cx="1737360" cy="512064"/>
          </a:xfrm>
          <a:prstGeom prst="rect">
            <a:avLst/>
          </a:prstGeom>
          <a:noFill/>
          <a:ln/>
        </p:spPr>
        <p:txBody>
          <a:bodyPr wrap="square" lIns="0" tIns="0" rIns="0" bIns="0" rtlCol="0" anchor="t"/>
          <a:lstStyle/>
          <a:p>
            <a:pPr indent="0" marL="0">
              <a:buNone/>
            </a:pPr>
            <a:r>
              <a:rPr lang="en-US" sz="1630" dirty="0">
                <a:solidFill>
                  <a:srgbClr val="6F6268"/>
                </a:solidFill>
                <a:latin typeface="Calibri" pitchFamily="34" charset="0"/>
                <a:ea typeface="Calibri" pitchFamily="34" charset="-122"/>
                <a:cs typeface="Calibri" pitchFamily="34" charset="-120"/>
              </a:rPr>
              <a:t>Fields, IDs,</a:t>
            </a:r>
            <a:endParaRPr lang="en-US" sz="1630" dirty="0"/>
          </a:p>
          <a:p>
            <a:pPr indent="0" marL="0">
              <a:buNone/>
            </a:pPr>
            <a:r>
              <a:rPr lang="en-US" sz="1630" dirty="0">
                <a:solidFill>
                  <a:srgbClr val="6F6268"/>
                </a:solidFill>
                <a:latin typeface="Calibri" pitchFamily="34" charset="0"/>
                <a:ea typeface="Calibri" pitchFamily="34" charset="-122"/>
                <a:cs typeface="Calibri" pitchFamily="34" charset="-120"/>
              </a:rPr>
              <a:t>values and dates.</a:t>
            </a:r>
            <a:endParaRPr lang="en-US" sz="1630" dirty="0"/>
          </a:p>
        </p:txBody>
      </p:sp>
      <p:sp>
        <p:nvSpPr>
          <p:cNvPr id="12" name="Shape 10"/>
          <p:cNvSpPr/>
          <p:nvPr/>
        </p:nvSpPr>
        <p:spPr>
          <a:xfrm>
            <a:off x="2606040" y="3172968"/>
            <a:ext cx="118872" cy="256032"/>
          </a:xfrm>
          <a:prstGeom prst="chevron">
            <a:avLst/>
          </a:prstGeom>
          <a:solidFill>
            <a:srgbClr val="BD8192"/>
          </a:solidFill>
          <a:ln w="12700">
            <a:solidFill>
              <a:srgbClr val="BD8192">
                <a:alpha val="0"/>
              </a:srgbClr>
            </a:solidFill>
            <a:prstDash val="solid"/>
          </a:ln>
        </p:spPr>
      </p:sp>
      <p:sp>
        <p:nvSpPr>
          <p:cNvPr id="13" name="Shape 11"/>
          <p:cNvSpPr/>
          <p:nvPr/>
        </p:nvSpPr>
        <p:spPr>
          <a:xfrm>
            <a:off x="2788920" y="2212848"/>
            <a:ext cx="2048256" cy="2523744"/>
          </a:xfrm>
          <a:prstGeom prst="roundRect">
            <a:avLst>
              <a:gd name="adj" fmla="val 5357"/>
            </a:avLst>
          </a:prstGeom>
          <a:solidFill>
            <a:srgbClr val="FFFDFA"/>
          </a:solidFill>
          <a:ln w="12700">
            <a:solidFill>
              <a:srgbClr val="FFFDFA">
                <a:alpha val="0"/>
              </a:srgbClr>
            </a:solidFill>
            <a:prstDash val="solid"/>
          </a:ln>
        </p:spPr>
      </p:sp>
      <p:sp>
        <p:nvSpPr>
          <p:cNvPr id="14" name="Shape 12"/>
          <p:cNvSpPr/>
          <p:nvPr/>
        </p:nvSpPr>
        <p:spPr>
          <a:xfrm>
            <a:off x="2990088" y="2459736"/>
            <a:ext cx="457200" cy="457200"/>
          </a:xfrm>
          <a:prstGeom prst="ellipse">
            <a:avLst/>
          </a:prstGeom>
          <a:solidFill>
            <a:srgbClr val="6D2E46"/>
          </a:solidFill>
          <a:ln w="12700">
            <a:solidFill>
              <a:srgbClr val="6D2E46">
                <a:alpha val="0"/>
              </a:srgbClr>
            </a:solidFill>
            <a:prstDash val="solid"/>
          </a:ln>
        </p:spPr>
      </p:sp>
      <p:sp>
        <p:nvSpPr>
          <p:cNvPr id="15" name="Text 13"/>
          <p:cNvSpPr/>
          <p:nvPr/>
        </p:nvSpPr>
        <p:spPr>
          <a:xfrm>
            <a:off x="2990088" y="2459736"/>
            <a:ext cx="457200" cy="457200"/>
          </a:xfrm>
          <a:prstGeom prst="rect">
            <a:avLst/>
          </a:prstGeom>
          <a:noFill/>
          <a:ln/>
        </p:spPr>
        <p:txBody>
          <a:bodyPr wrap="square" lIns="0" tIns="0" rIns="0" bIns="0" rtlCol="0" anchor="ctr"/>
          <a:lstStyle/>
          <a:p>
            <a:pPr algn="ctr" indent="0" marL="0">
              <a:buNone/>
            </a:pPr>
            <a:r>
              <a:rPr lang="en-US" sz="1300" b="1" dirty="0">
                <a:solidFill>
                  <a:srgbClr val="FFFDFA"/>
                </a:solidFill>
                <a:latin typeface="Calibri" pitchFamily="34" charset="0"/>
                <a:ea typeface="Calibri" pitchFamily="34" charset="-122"/>
                <a:cs typeface="Calibri" pitchFamily="34" charset="-120"/>
              </a:rPr>
              <a:t>02</a:t>
            </a:r>
            <a:endParaRPr lang="en-US" sz="1300" dirty="0"/>
          </a:p>
        </p:txBody>
      </p:sp>
      <p:sp>
        <p:nvSpPr>
          <p:cNvPr id="16" name="Text 14"/>
          <p:cNvSpPr/>
          <p:nvPr/>
        </p:nvSpPr>
        <p:spPr>
          <a:xfrm>
            <a:off x="2990088" y="3200400"/>
            <a:ext cx="1737360" cy="713232"/>
          </a:xfrm>
          <a:prstGeom prst="rect">
            <a:avLst/>
          </a:prstGeom>
          <a:noFill/>
          <a:ln/>
        </p:spPr>
        <p:txBody>
          <a:bodyPr wrap="square" lIns="0" tIns="0" rIns="0" bIns="0" rtlCol="0" anchor="t"/>
          <a:lstStyle/>
          <a:p>
            <a:pPr indent="0" marL="0">
              <a:buNone/>
            </a:pPr>
            <a:r>
              <a:rPr lang="en-US" sz="1900" b="1" dirty="0">
                <a:solidFill>
                  <a:srgbClr val="30282E"/>
                </a:solidFill>
                <a:latin typeface="Calibri" pitchFamily="34" charset="0"/>
                <a:ea typeface="Calibri" pitchFamily="34" charset="-122"/>
                <a:cs typeface="Calibri" pitchFamily="34" charset="-120"/>
              </a:rPr>
              <a:t>Apply explicit</a:t>
            </a:r>
            <a:endParaRPr lang="en-US" sz="1900" dirty="0"/>
          </a:p>
          <a:p>
            <a:pPr indent="0" marL="0">
              <a:buNone/>
            </a:pPr>
            <a:r>
              <a:rPr lang="en-US" sz="1900" b="1" dirty="0">
                <a:solidFill>
                  <a:srgbClr val="30282E"/>
                </a:solidFill>
                <a:latin typeface="Calibri" pitchFamily="34" charset="0"/>
                <a:ea typeface="Calibri" pitchFamily="34" charset="-122"/>
                <a:cs typeface="Calibri" pitchFamily="34" charset="-120"/>
              </a:rPr>
              <a:t>rules</a:t>
            </a:r>
            <a:endParaRPr lang="en-US" sz="1900" dirty="0"/>
          </a:p>
        </p:txBody>
      </p:sp>
      <p:sp>
        <p:nvSpPr>
          <p:cNvPr id="17" name="Text 15"/>
          <p:cNvSpPr/>
          <p:nvPr/>
        </p:nvSpPr>
        <p:spPr>
          <a:xfrm>
            <a:off x="2990088" y="4023360"/>
            <a:ext cx="1737360" cy="512064"/>
          </a:xfrm>
          <a:prstGeom prst="rect">
            <a:avLst/>
          </a:prstGeom>
          <a:noFill/>
          <a:ln/>
        </p:spPr>
        <p:txBody>
          <a:bodyPr wrap="square" lIns="0" tIns="0" rIns="0" bIns="0" rtlCol="0" anchor="t"/>
          <a:lstStyle/>
          <a:p>
            <a:pPr indent="0" marL="0">
              <a:buNone/>
            </a:pPr>
            <a:r>
              <a:rPr lang="en-US" sz="1630" dirty="0">
                <a:solidFill>
                  <a:srgbClr val="6F6268"/>
                </a:solidFill>
                <a:latin typeface="Calibri" pitchFamily="34" charset="0"/>
                <a:ea typeface="Calibri" pitchFamily="34" charset="-122"/>
                <a:cs typeface="Calibri" pitchFamily="34" charset="-120"/>
              </a:rPr>
              <a:t>Visible logic,</a:t>
            </a:r>
            <a:endParaRPr lang="en-US" sz="1630" dirty="0"/>
          </a:p>
          <a:p>
            <a:pPr indent="0" marL="0">
              <a:buNone/>
            </a:pPr>
            <a:r>
              <a:rPr lang="en-US" sz="1630" dirty="0">
                <a:solidFill>
                  <a:srgbClr val="6F6268"/>
                </a:solidFill>
                <a:latin typeface="Calibri" pitchFamily="34" charset="0"/>
                <a:ea typeface="Calibri" pitchFamily="34" charset="-122"/>
                <a:cs typeface="Calibri" pitchFamily="34" charset="-120"/>
              </a:rPr>
              <a:t>open to review.</a:t>
            </a:r>
            <a:endParaRPr lang="en-US" sz="1630" dirty="0"/>
          </a:p>
        </p:txBody>
      </p:sp>
      <p:sp>
        <p:nvSpPr>
          <p:cNvPr id="18" name="Shape 16"/>
          <p:cNvSpPr/>
          <p:nvPr/>
        </p:nvSpPr>
        <p:spPr>
          <a:xfrm>
            <a:off x="4892040" y="3172968"/>
            <a:ext cx="118872" cy="256032"/>
          </a:xfrm>
          <a:prstGeom prst="chevron">
            <a:avLst/>
          </a:prstGeom>
          <a:solidFill>
            <a:srgbClr val="BD8192"/>
          </a:solidFill>
          <a:ln w="12700">
            <a:solidFill>
              <a:srgbClr val="BD8192">
                <a:alpha val="0"/>
              </a:srgbClr>
            </a:solidFill>
            <a:prstDash val="solid"/>
          </a:ln>
        </p:spPr>
      </p:sp>
      <p:sp>
        <p:nvSpPr>
          <p:cNvPr id="19" name="Shape 17"/>
          <p:cNvSpPr/>
          <p:nvPr/>
        </p:nvSpPr>
        <p:spPr>
          <a:xfrm>
            <a:off x="5074920" y="2212848"/>
            <a:ext cx="2048256" cy="2523744"/>
          </a:xfrm>
          <a:prstGeom prst="roundRect">
            <a:avLst>
              <a:gd name="adj" fmla="val 5357"/>
            </a:avLst>
          </a:prstGeom>
          <a:solidFill>
            <a:srgbClr val="FFFDFA"/>
          </a:solidFill>
          <a:ln w="12700">
            <a:solidFill>
              <a:srgbClr val="FFFDFA">
                <a:alpha val="0"/>
              </a:srgbClr>
            </a:solidFill>
            <a:prstDash val="solid"/>
          </a:ln>
        </p:spPr>
      </p:sp>
      <p:sp>
        <p:nvSpPr>
          <p:cNvPr id="20" name="Shape 18"/>
          <p:cNvSpPr/>
          <p:nvPr/>
        </p:nvSpPr>
        <p:spPr>
          <a:xfrm>
            <a:off x="5276088" y="2459736"/>
            <a:ext cx="457200" cy="457200"/>
          </a:xfrm>
          <a:prstGeom prst="ellipse">
            <a:avLst/>
          </a:prstGeom>
          <a:solidFill>
            <a:srgbClr val="6D2E46"/>
          </a:solidFill>
          <a:ln w="12700">
            <a:solidFill>
              <a:srgbClr val="6D2E46">
                <a:alpha val="0"/>
              </a:srgbClr>
            </a:solidFill>
            <a:prstDash val="solid"/>
          </a:ln>
        </p:spPr>
      </p:sp>
      <p:sp>
        <p:nvSpPr>
          <p:cNvPr id="21" name="Text 19"/>
          <p:cNvSpPr/>
          <p:nvPr/>
        </p:nvSpPr>
        <p:spPr>
          <a:xfrm>
            <a:off x="5276088" y="2459736"/>
            <a:ext cx="457200" cy="457200"/>
          </a:xfrm>
          <a:prstGeom prst="rect">
            <a:avLst/>
          </a:prstGeom>
          <a:noFill/>
          <a:ln/>
        </p:spPr>
        <p:txBody>
          <a:bodyPr wrap="square" lIns="0" tIns="0" rIns="0" bIns="0" rtlCol="0" anchor="ctr"/>
          <a:lstStyle/>
          <a:p>
            <a:pPr algn="ctr" indent="0" marL="0">
              <a:buNone/>
            </a:pPr>
            <a:r>
              <a:rPr lang="en-US" sz="1300" b="1" dirty="0">
                <a:solidFill>
                  <a:srgbClr val="FFFDFA"/>
                </a:solidFill>
                <a:latin typeface="Calibri" pitchFamily="34" charset="0"/>
                <a:ea typeface="Calibri" pitchFamily="34" charset="-122"/>
                <a:cs typeface="Calibri" pitchFamily="34" charset="-120"/>
              </a:rPr>
              <a:t>03</a:t>
            </a:r>
            <a:endParaRPr lang="en-US" sz="1300" dirty="0"/>
          </a:p>
        </p:txBody>
      </p:sp>
      <p:sp>
        <p:nvSpPr>
          <p:cNvPr id="22" name="Text 20"/>
          <p:cNvSpPr/>
          <p:nvPr/>
        </p:nvSpPr>
        <p:spPr>
          <a:xfrm>
            <a:off x="5276088" y="3200400"/>
            <a:ext cx="1737360" cy="713232"/>
          </a:xfrm>
          <a:prstGeom prst="rect">
            <a:avLst/>
          </a:prstGeom>
          <a:noFill/>
          <a:ln/>
        </p:spPr>
        <p:txBody>
          <a:bodyPr wrap="square" lIns="0" tIns="0" rIns="0" bIns="0" rtlCol="0" anchor="t"/>
          <a:lstStyle/>
          <a:p>
            <a:pPr indent="0" marL="0">
              <a:buNone/>
            </a:pPr>
            <a:r>
              <a:rPr lang="en-US" sz="1900" b="1" dirty="0">
                <a:solidFill>
                  <a:srgbClr val="30282E"/>
                </a:solidFill>
                <a:latin typeface="Calibri" pitchFamily="34" charset="0"/>
                <a:ea typeface="Calibri" pitchFamily="34" charset="-122"/>
                <a:cs typeface="Calibri" pitchFamily="34" charset="-120"/>
              </a:rPr>
              <a:t>Rank</a:t>
            </a:r>
            <a:endParaRPr lang="en-US" sz="1900" dirty="0"/>
          </a:p>
          <a:p>
            <a:pPr indent="0" marL="0">
              <a:buNone/>
            </a:pPr>
            <a:r>
              <a:rPr lang="en-US" sz="1900" b="1" dirty="0">
                <a:solidFill>
                  <a:srgbClr val="30282E"/>
                </a:solidFill>
                <a:latin typeface="Calibri" pitchFamily="34" charset="0"/>
                <a:ea typeface="Calibri" pitchFamily="34" charset="-122"/>
                <a:cs typeface="Calibri" pitchFamily="34" charset="-120"/>
              </a:rPr>
              <a:t>prerequisites</a:t>
            </a:r>
            <a:endParaRPr lang="en-US" sz="1900" dirty="0"/>
          </a:p>
        </p:txBody>
      </p:sp>
      <p:sp>
        <p:nvSpPr>
          <p:cNvPr id="23" name="Text 21"/>
          <p:cNvSpPr/>
          <p:nvPr/>
        </p:nvSpPr>
        <p:spPr>
          <a:xfrm>
            <a:off x="5276088" y="4023360"/>
            <a:ext cx="1737360" cy="512064"/>
          </a:xfrm>
          <a:prstGeom prst="rect">
            <a:avLst/>
          </a:prstGeom>
          <a:noFill/>
          <a:ln/>
        </p:spPr>
        <p:txBody>
          <a:bodyPr wrap="square" lIns="0" tIns="0" rIns="0" bIns="0" rtlCol="0" anchor="t"/>
          <a:lstStyle/>
          <a:p>
            <a:pPr indent="0" marL="0">
              <a:buNone/>
            </a:pPr>
            <a:r>
              <a:rPr lang="en-US" sz="1630" dirty="0">
                <a:solidFill>
                  <a:srgbClr val="6F6268"/>
                </a:solidFill>
                <a:latin typeface="Calibri" pitchFamily="34" charset="0"/>
                <a:ea typeface="Calibri" pitchFamily="34" charset="-122"/>
                <a:cs typeface="Calibri" pitchFamily="34" charset="-120"/>
              </a:rPr>
              <a:t>Supply and listing</a:t>
            </a:r>
            <a:endParaRPr lang="en-US" sz="1630" dirty="0"/>
          </a:p>
          <a:p>
            <a:pPr indent="0" marL="0">
              <a:buNone/>
            </a:pPr>
            <a:r>
              <a:rPr lang="en-US" sz="1630" dirty="0">
                <a:solidFill>
                  <a:srgbClr val="6F6268"/>
                </a:solidFill>
                <a:latin typeface="Calibri" pitchFamily="34" charset="0"/>
                <a:ea typeface="Calibri" pitchFamily="34" charset="-122"/>
                <a:cs typeface="Calibri" pitchFamily="34" charset="-120"/>
              </a:rPr>
              <a:t>before spend.</a:t>
            </a:r>
            <a:endParaRPr lang="en-US" sz="1630" dirty="0"/>
          </a:p>
        </p:txBody>
      </p:sp>
      <p:sp>
        <p:nvSpPr>
          <p:cNvPr id="24" name="Shape 22"/>
          <p:cNvSpPr/>
          <p:nvPr/>
        </p:nvSpPr>
        <p:spPr>
          <a:xfrm>
            <a:off x="7178040" y="3172968"/>
            <a:ext cx="118872" cy="256032"/>
          </a:xfrm>
          <a:prstGeom prst="chevron">
            <a:avLst/>
          </a:prstGeom>
          <a:solidFill>
            <a:srgbClr val="BD8192"/>
          </a:solidFill>
          <a:ln w="12700">
            <a:solidFill>
              <a:srgbClr val="BD8192">
                <a:alpha val="0"/>
              </a:srgbClr>
            </a:solidFill>
            <a:prstDash val="solid"/>
          </a:ln>
        </p:spPr>
      </p:sp>
      <p:sp>
        <p:nvSpPr>
          <p:cNvPr id="25" name="Shape 23"/>
          <p:cNvSpPr/>
          <p:nvPr/>
        </p:nvSpPr>
        <p:spPr>
          <a:xfrm>
            <a:off x="7360920" y="2212848"/>
            <a:ext cx="2048256" cy="2523744"/>
          </a:xfrm>
          <a:prstGeom prst="roundRect">
            <a:avLst>
              <a:gd name="adj" fmla="val 5357"/>
            </a:avLst>
          </a:prstGeom>
          <a:solidFill>
            <a:srgbClr val="FFFDFA"/>
          </a:solidFill>
          <a:ln w="12700">
            <a:solidFill>
              <a:srgbClr val="FFFDFA">
                <a:alpha val="0"/>
              </a:srgbClr>
            </a:solidFill>
            <a:prstDash val="solid"/>
          </a:ln>
        </p:spPr>
      </p:sp>
      <p:sp>
        <p:nvSpPr>
          <p:cNvPr id="26" name="Shape 24"/>
          <p:cNvSpPr/>
          <p:nvPr/>
        </p:nvSpPr>
        <p:spPr>
          <a:xfrm>
            <a:off x="7562088" y="2459736"/>
            <a:ext cx="457200" cy="457200"/>
          </a:xfrm>
          <a:prstGeom prst="ellipse">
            <a:avLst/>
          </a:prstGeom>
          <a:solidFill>
            <a:srgbClr val="6D2E46"/>
          </a:solidFill>
          <a:ln w="12700">
            <a:solidFill>
              <a:srgbClr val="6D2E46">
                <a:alpha val="0"/>
              </a:srgbClr>
            </a:solidFill>
            <a:prstDash val="solid"/>
          </a:ln>
        </p:spPr>
      </p:sp>
      <p:sp>
        <p:nvSpPr>
          <p:cNvPr id="27" name="Text 25"/>
          <p:cNvSpPr/>
          <p:nvPr/>
        </p:nvSpPr>
        <p:spPr>
          <a:xfrm>
            <a:off x="7562088" y="2459736"/>
            <a:ext cx="457200" cy="457200"/>
          </a:xfrm>
          <a:prstGeom prst="rect">
            <a:avLst/>
          </a:prstGeom>
          <a:noFill/>
          <a:ln/>
        </p:spPr>
        <p:txBody>
          <a:bodyPr wrap="square" lIns="0" tIns="0" rIns="0" bIns="0" rtlCol="0" anchor="ctr"/>
          <a:lstStyle/>
          <a:p>
            <a:pPr algn="ctr" indent="0" marL="0">
              <a:buNone/>
            </a:pPr>
            <a:r>
              <a:rPr lang="en-US" sz="1300" b="1" dirty="0">
                <a:solidFill>
                  <a:srgbClr val="FFFDFA"/>
                </a:solidFill>
                <a:latin typeface="Calibri" pitchFamily="34" charset="0"/>
                <a:ea typeface="Calibri" pitchFamily="34" charset="-122"/>
                <a:cs typeface="Calibri" pitchFamily="34" charset="-120"/>
              </a:rPr>
              <a:t>04</a:t>
            </a:r>
            <a:endParaRPr lang="en-US" sz="1300" dirty="0"/>
          </a:p>
        </p:txBody>
      </p:sp>
      <p:sp>
        <p:nvSpPr>
          <p:cNvPr id="28" name="Text 26"/>
          <p:cNvSpPr/>
          <p:nvPr/>
        </p:nvSpPr>
        <p:spPr>
          <a:xfrm>
            <a:off x="7562088" y="3200400"/>
            <a:ext cx="1737360" cy="713232"/>
          </a:xfrm>
          <a:prstGeom prst="rect">
            <a:avLst/>
          </a:prstGeom>
          <a:noFill/>
          <a:ln/>
        </p:spPr>
        <p:txBody>
          <a:bodyPr wrap="square" lIns="0" tIns="0" rIns="0" bIns="0" rtlCol="0" anchor="t"/>
          <a:lstStyle/>
          <a:p>
            <a:pPr indent="0" marL="0">
              <a:buNone/>
            </a:pPr>
            <a:r>
              <a:rPr lang="en-US" sz="1900" b="1" dirty="0">
                <a:solidFill>
                  <a:srgbClr val="30282E"/>
                </a:solidFill>
                <a:latin typeface="Calibri" pitchFamily="34" charset="0"/>
                <a:ea typeface="Calibri" pitchFamily="34" charset="-122"/>
                <a:cs typeface="Calibri" pitchFamily="34" charset="-120"/>
              </a:rPr>
              <a:t>Select five</a:t>
            </a:r>
            <a:endParaRPr lang="en-US" sz="1900" dirty="0"/>
          </a:p>
          <a:p>
            <a:pPr indent="0" marL="0">
              <a:buNone/>
            </a:pPr>
            <a:r>
              <a:rPr lang="en-US" sz="1900" b="1" dirty="0">
                <a:solidFill>
                  <a:srgbClr val="30282E"/>
                </a:solidFill>
                <a:latin typeface="Calibri" pitchFamily="34" charset="0"/>
                <a:ea typeface="Calibri" pitchFamily="34" charset="-122"/>
                <a:cs typeface="Calibri" pitchFamily="34" charset="-120"/>
              </a:rPr>
              <a:t>products</a:t>
            </a:r>
            <a:endParaRPr lang="en-US" sz="1900" dirty="0"/>
          </a:p>
        </p:txBody>
      </p:sp>
      <p:sp>
        <p:nvSpPr>
          <p:cNvPr id="29" name="Text 27"/>
          <p:cNvSpPr/>
          <p:nvPr/>
        </p:nvSpPr>
        <p:spPr>
          <a:xfrm>
            <a:off x="7562088" y="4023360"/>
            <a:ext cx="1737360" cy="512064"/>
          </a:xfrm>
          <a:prstGeom prst="rect">
            <a:avLst/>
          </a:prstGeom>
          <a:noFill/>
          <a:ln/>
        </p:spPr>
        <p:txBody>
          <a:bodyPr wrap="square" lIns="0" tIns="0" rIns="0" bIns="0" rtlCol="0" anchor="t"/>
          <a:lstStyle/>
          <a:p>
            <a:pPr indent="0" marL="0">
              <a:buNone/>
            </a:pPr>
            <a:r>
              <a:rPr lang="en-US" sz="1630" dirty="0">
                <a:solidFill>
                  <a:srgbClr val="6F6268"/>
                </a:solidFill>
                <a:latin typeface="Calibri" pitchFamily="34" charset="0"/>
                <a:ea typeface="Calibri" pitchFamily="34" charset="-122"/>
                <a:cs typeface="Calibri" pitchFamily="34" charset="-120"/>
              </a:rPr>
              <a:t>Named products,</a:t>
            </a:r>
            <a:endParaRPr lang="en-US" sz="1630" dirty="0"/>
          </a:p>
          <a:p>
            <a:pPr indent="0" marL="0">
              <a:buNone/>
            </a:pPr>
            <a:r>
              <a:rPr lang="en-US" sz="1630" dirty="0">
                <a:solidFill>
                  <a:srgbClr val="6F6268"/>
                </a:solidFill>
                <a:latin typeface="Calibri" pitchFamily="34" charset="0"/>
                <a:ea typeface="Calibri" pitchFamily="34" charset="-122"/>
                <a:cs typeface="Calibri" pitchFamily="34" charset="-120"/>
              </a:rPr>
              <a:t>not generic levers.</a:t>
            </a:r>
            <a:endParaRPr lang="en-US" sz="1630" dirty="0"/>
          </a:p>
        </p:txBody>
      </p:sp>
      <p:sp>
        <p:nvSpPr>
          <p:cNvPr id="30" name="Shape 28"/>
          <p:cNvSpPr/>
          <p:nvPr/>
        </p:nvSpPr>
        <p:spPr>
          <a:xfrm>
            <a:off x="9464040" y="3172968"/>
            <a:ext cx="118872" cy="256032"/>
          </a:xfrm>
          <a:prstGeom prst="chevron">
            <a:avLst/>
          </a:prstGeom>
          <a:solidFill>
            <a:srgbClr val="BD8192"/>
          </a:solidFill>
          <a:ln w="12700">
            <a:solidFill>
              <a:srgbClr val="BD8192">
                <a:alpha val="0"/>
              </a:srgbClr>
            </a:solidFill>
            <a:prstDash val="solid"/>
          </a:ln>
        </p:spPr>
      </p:sp>
      <p:sp>
        <p:nvSpPr>
          <p:cNvPr id="31" name="Shape 29"/>
          <p:cNvSpPr/>
          <p:nvPr/>
        </p:nvSpPr>
        <p:spPr>
          <a:xfrm>
            <a:off x="9646920" y="2212848"/>
            <a:ext cx="2048256" cy="2523744"/>
          </a:xfrm>
          <a:prstGeom prst="roundRect">
            <a:avLst>
              <a:gd name="adj" fmla="val 5357"/>
            </a:avLst>
          </a:prstGeom>
          <a:solidFill>
            <a:srgbClr val="F0DFE3"/>
          </a:solidFill>
          <a:ln w="12700">
            <a:solidFill>
              <a:srgbClr val="F0DFE3">
                <a:alpha val="0"/>
              </a:srgbClr>
            </a:solidFill>
            <a:prstDash val="solid"/>
          </a:ln>
        </p:spPr>
      </p:sp>
      <p:sp>
        <p:nvSpPr>
          <p:cNvPr id="32" name="Shape 30"/>
          <p:cNvSpPr/>
          <p:nvPr/>
        </p:nvSpPr>
        <p:spPr>
          <a:xfrm>
            <a:off x="9848088" y="2459736"/>
            <a:ext cx="457200" cy="457200"/>
          </a:xfrm>
          <a:prstGeom prst="ellipse">
            <a:avLst/>
          </a:prstGeom>
          <a:solidFill>
            <a:srgbClr val="6D2E46"/>
          </a:solidFill>
          <a:ln w="12700">
            <a:solidFill>
              <a:srgbClr val="6D2E46">
                <a:alpha val="0"/>
              </a:srgbClr>
            </a:solidFill>
            <a:prstDash val="solid"/>
          </a:ln>
        </p:spPr>
      </p:sp>
      <p:sp>
        <p:nvSpPr>
          <p:cNvPr id="33" name="Text 31"/>
          <p:cNvSpPr/>
          <p:nvPr/>
        </p:nvSpPr>
        <p:spPr>
          <a:xfrm>
            <a:off x="9848088" y="2459736"/>
            <a:ext cx="457200" cy="457200"/>
          </a:xfrm>
          <a:prstGeom prst="rect">
            <a:avLst/>
          </a:prstGeom>
          <a:noFill/>
          <a:ln/>
        </p:spPr>
        <p:txBody>
          <a:bodyPr wrap="square" lIns="0" tIns="0" rIns="0" bIns="0" rtlCol="0" anchor="ctr"/>
          <a:lstStyle/>
          <a:p>
            <a:pPr algn="ctr" indent="0" marL="0">
              <a:buNone/>
            </a:pPr>
            <a:r>
              <a:rPr lang="en-US" sz="1300" b="1" dirty="0">
                <a:solidFill>
                  <a:srgbClr val="FFFDFA"/>
                </a:solidFill>
                <a:latin typeface="Calibri" pitchFamily="34" charset="0"/>
                <a:ea typeface="Calibri" pitchFamily="34" charset="-122"/>
                <a:cs typeface="Calibri" pitchFamily="34" charset="-120"/>
              </a:rPr>
              <a:t>05</a:t>
            </a:r>
            <a:endParaRPr lang="en-US" sz="1300" dirty="0"/>
          </a:p>
        </p:txBody>
      </p:sp>
      <p:sp>
        <p:nvSpPr>
          <p:cNvPr id="34" name="Text 32"/>
          <p:cNvSpPr/>
          <p:nvPr/>
        </p:nvSpPr>
        <p:spPr>
          <a:xfrm>
            <a:off x="9848088" y="3200400"/>
            <a:ext cx="1737360" cy="713232"/>
          </a:xfrm>
          <a:prstGeom prst="rect">
            <a:avLst/>
          </a:prstGeom>
          <a:noFill/>
          <a:ln/>
        </p:spPr>
        <p:txBody>
          <a:bodyPr wrap="square" lIns="0" tIns="0" rIns="0" bIns="0" rtlCol="0" anchor="t"/>
          <a:lstStyle/>
          <a:p>
            <a:pPr indent="0" marL="0">
              <a:buNone/>
            </a:pPr>
            <a:r>
              <a:rPr lang="en-US" sz="1900" b="1" dirty="0">
                <a:solidFill>
                  <a:srgbClr val="30282E"/>
                </a:solidFill>
                <a:latin typeface="Calibri" pitchFamily="34" charset="0"/>
                <a:ea typeface="Calibri" pitchFamily="34" charset="-122"/>
                <a:cs typeface="Calibri" pitchFamily="34" charset="-120"/>
              </a:rPr>
              <a:t>Link evidence</a:t>
            </a:r>
            <a:endParaRPr lang="en-US" sz="1900" dirty="0"/>
          </a:p>
          <a:p>
            <a:pPr indent="0" marL="0">
              <a:buNone/>
            </a:pPr>
            <a:r>
              <a:rPr lang="en-US" sz="1900" b="1" dirty="0">
                <a:solidFill>
                  <a:srgbClr val="30282E"/>
                </a:solidFill>
                <a:latin typeface="Calibri" pitchFamily="34" charset="0"/>
                <a:ea typeface="Calibri" pitchFamily="34" charset="-122"/>
                <a:cs typeface="Calibri" pitchFamily="34" charset="-120"/>
              </a:rPr>
              <a:t>to the plan</a:t>
            </a:r>
            <a:endParaRPr lang="en-US" sz="1900" dirty="0"/>
          </a:p>
        </p:txBody>
      </p:sp>
      <p:sp>
        <p:nvSpPr>
          <p:cNvPr id="35" name="Text 33"/>
          <p:cNvSpPr/>
          <p:nvPr/>
        </p:nvSpPr>
        <p:spPr>
          <a:xfrm>
            <a:off x="9848088" y="4023360"/>
            <a:ext cx="1737360" cy="512064"/>
          </a:xfrm>
          <a:prstGeom prst="rect">
            <a:avLst/>
          </a:prstGeom>
          <a:noFill/>
          <a:ln/>
        </p:spPr>
        <p:txBody>
          <a:bodyPr wrap="square" lIns="0" tIns="0" rIns="0" bIns="0" rtlCol="0" anchor="t"/>
          <a:lstStyle/>
          <a:p>
            <a:pPr indent="0" marL="0">
              <a:buNone/>
            </a:pPr>
            <a:r>
              <a:rPr lang="en-US" sz="1630" dirty="0">
                <a:solidFill>
                  <a:srgbClr val="6F6268"/>
                </a:solidFill>
                <a:latin typeface="Calibri" pitchFamily="34" charset="0"/>
                <a:ea typeface="Calibri" pitchFamily="34" charset="-122"/>
                <a:cs typeface="Calibri" pitchFamily="34" charset="-120"/>
              </a:rPr>
              <a:t>Owner, decision</a:t>
            </a:r>
            <a:endParaRPr lang="en-US" sz="1630" dirty="0"/>
          </a:p>
          <a:p>
            <a:pPr indent="0" marL="0">
              <a:buNone/>
            </a:pPr>
            <a:r>
              <a:rPr lang="en-US" sz="1630" dirty="0">
                <a:solidFill>
                  <a:srgbClr val="6F6268"/>
                </a:solidFill>
                <a:latin typeface="Calibri" pitchFamily="34" charset="0"/>
                <a:ea typeface="Calibri" pitchFamily="34" charset="-122"/>
                <a:cs typeface="Calibri" pitchFamily="34" charset="-120"/>
              </a:rPr>
              <a:t>and next measure.</a:t>
            </a:r>
            <a:endParaRPr lang="en-US" sz="1630" dirty="0"/>
          </a:p>
        </p:txBody>
      </p:sp>
      <p:sp>
        <p:nvSpPr>
          <p:cNvPr id="36" name="Text 34"/>
          <p:cNvSpPr/>
          <p:nvPr/>
        </p:nvSpPr>
        <p:spPr>
          <a:xfrm>
            <a:off x="502920" y="5221224"/>
            <a:ext cx="685800" cy="274320"/>
          </a:xfrm>
          <a:prstGeom prst="rect">
            <a:avLst/>
          </a:prstGeom>
          <a:noFill/>
          <a:ln/>
        </p:spPr>
        <p:txBody>
          <a:bodyPr wrap="square" lIns="0" tIns="0" rIns="0" bIns="0" rtlCol="0" anchor="ctr"/>
          <a:lstStyle/>
          <a:p>
            <a:pPr indent="0" marL="0">
              <a:buNone/>
            </a:pPr>
            <a:r>
              <a:rPr lang="en-US" sz="1800" b="1" dirty="0">
                <a:solidFill>
                  <a:srgbClr val="6D2E46"/>
                </a:solidFill>
                <a:latin typeface="Calibri" pitchFamily="34" charset="0"/>
                <a:ea typeface="Calibri" pitchFamily="34" charset="-122"/>
                <a:cs typeface="Calibri" pitchFamily="34" charset="-120"/>
              </a:rPr>
              <a:t>Built</a:t>
            </a:r>
            <a:endParaRPr lang="en-US" sz="1800" dirty="0"/>
          </a:p>
        </p:txBody>
      </p:sp>
      <p:sp>
        <p:nvSpPr>
          <p:cNvPr id="37" name="Text 35"/>
          <p:cNvSpPr/>
          <p:nvPr/>
        </p:nvSpPr>
        <p:spPr>
          <a:xfrm>
            <a:off x="1307592" y="5212080"/>
            <a:ext cx="10058400" cy="310896"/>
          </a:xfrm>
          <a:prstGeom prst="rect">
            <a:avLst/>
          </a:prstGeom>
          <a:noFill/>
          <a:ln/>
        </p:spPr>
        <p:txBody>
          <a:bodyPr wrap="square" lIns="0" tIns="0" rIns="0" bIns="0" rtlCol="0" anchor="ctr"/>
          <a:lstStyle/>
          <a:p>
            <a:pPr indent="0" marL="0">
              <a:buNone/>
            </a:pPr>
            <a:r>
              <a:rPr lang="en-US" sz="2200" dirty="0">
                <a:solidFill>
                  <a:srgbClr val="30282E"/>
                </a:solidFill>
                <a:latin typeface="Georgia" pitchFamily="34" charset="0"/>
                <a:ea typeface="Georgia" pitchFamily="34" charset="-122"/>
                <a:cs typeface="Georgia" pitchFamily="34" charset="-120"/>
              </a:rPr>
              <a:t>Repeatable analysis + a self-contained local dashboard</a:t>
            </a:r>
            <a:endParaRPr lang="en-US" sz="2200" dirty="0"/>
          </a:p>
        </p:txBody>
      </p:sp>
      <p:sp>
        <p:nvSpPr>
          <p:cNvPr id="38" name="Text 36"/>
          <p:cNvSpPr/>
          <p:nvPr/>
        </p:nvSpPr>
        <p:spPr>
          <a:xfrm>
            <a:off x="502920" y="5715000"/>
            <a:ext cx="11064240" cy="256032"/>
          </a:xfrm>
          <a:prstGeom prst="rect">
            <a:avLst/>
          </a:prstGeom>
          <a:noFill/>
          <a:ln/>
        </p:spPr>
        <p:txBody>
          <a:bodyPr wrap="square" lIns="0" tIns="0" rIns="0" bIns="0" rtlCol="0" anchor="ctr"/>
          <a:lstStyle/>
          <a:p>
            <a:pPr indent="0" marL="0">
              <a:buNone/>
            </a:pPr>
            <a:r>
              <a:rPr lang="en-US" sz="1700" dirty="0">
                <a:solidFill>
                  <a:srgbClr val="6F6268"/>
                </a:solidFill>
                <a:latin typeface="Calibri" pitchFamily="34" charset="0"/>
                <a:ea typeface="Calibri" pitchFamily="34" charset="-122"/>
                <a:cs typeface="Calibri" pitchFamily="34" charset="-120"/>
              </a:rPr>
              <a:t>Explicit rules, not machine learning. Human approval, not automated commercial execution.</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 review.json · summary, opportunities, assortment_gaps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04 / 10</a:t>
            </a:r>
            <a:endParaRPr lang="en-US" sz="1050" dirty="0"/>
          </a:p>
        </p:txBody>
      </p:sp>
      <p:sp>
        <p:nvSpPr>
          <p:cNvPr id="4" name="Text 2"/>
          <p:cNvSpPr/>
          <p:nvPr/>
        </p:nvSpPr>
        <p:spPr>
          <a:xfrm>
            <a:off x="502920" y="457200"/>
            <a:ext cx="9601200" cy="173736"/>
          </a:xfrm>
          <a:prstGeom prst="rect">
            <a:avLst/>
          </a:prstGeom>
          <a:noFill/>
          <a:ln/>
        </p:spPr>
        <p:txBody>
          <a:bodyPr wrap="square" lIns="0" tIns="0" rIns="0" bIns="0" rtlCol="0" anchor="ctr"/>
          <a:lstStyle/>
          <a:p>
            <a:pPr indent="0" marL="0">
              <a:buNone/>
            </a:pPr>
            <a:r>
              <a:rPr lang="en-US" sz="1050" b="1" spc="130" kern="0" dirty="0">
                <a:solidFill>
                  <a:srgbClr val="6D2E46"/>
                </a:solidFill>
                <a:latin typeface="Calibri" pitchFamily="34" charset="0"/>
                <a:ea typeface="Calibri" pitchFamily="34" charset="-122"/>
                <a:cs typeface="Calibri" pitchFamily="34" charset="-120"/>
              </a:rPr>
              <a:t>ZENBEAUTY RETAIL  /  CATEGORY REVIEW</a:t>
            </a:r>
            <a:endParaRPr lang="en-US" sz="1050" dirty="0"/>
          </a:p>
        </p:txBody>
      </p:sp>
      <p:sp>
        <p:nvSpPr>
          <p:cNvPr id="5" name="Text 3"/>
          <p:cNvSpPr/>
          <p:nvPr/>
        </p:nvSpPr>
        <p:spPr>
          <a:xfrm>
            <a:off x="502920" y="813816"/>
            <a:ext cx="11183112" cy="603504"/>
          </a:xfrm>
          <a:prstGeom prst="rect">
            <a:avLst/>
          </a:prstGeom>
          <a:noFill/>
          <a:ln/>
        </p:spPr>
        <p:txBody>
          <a:bodyPr wrap="square" lIns="0" tIns="0" rIns="0" bIns="0" rtlCol="0" anchor="ctr"/>
          <a:lstStyle/>
          <a:p>
            <a:pPr indent="0" marL="0">
              <a:buNone/>
            </a:pPr>
            <a:r>
              <a:rPr lang="en-US" sz="3300" dirty="0">
                <a:solidFill>
                  <a:srgbClr val="30282E"/>
                </a:solidFill>
                <a:latin typeface="Georgia" pitchFamily="34" charset="0"/>
                <a:ea typeface="Georgia" pitchFamily="34" charset="-122"/>
                <a:cs typeface="Georgia" pitchFamily="34" charset="-120"/>
              </a:rPr>
              <a:t>The analysis creates a focused review agenda</a:t>
            </a:r>
            <a:endParaRPr lang="en-US" sz="3300" dirty="0"/>
          </a:p>
        </p:txBody>
      </p:sp>
      <p:sp>
        <p:nvSpPr>
          <p:cNvPr id="6" name="Text 4"/>
          <p:cNvSpPr/>
          <p:nvPr/>
        </p:nvSpPr>
        <p:spPr>
          <a:xfrm>
            <a:off x="502920" y="1527048"/>
            <a:ext cx="11091672" cy="365760"/>
          </a:xfrm>
          <a:prstGeom prst="rect">
            <a:avLst/>
          </a:prstGeom>
          <a:noFill/>
          <a:ln/>
        </p:spPr>
        <p:txBody>
          <a:bodyPr wrap="square" lIns="0" tIns="0" rIns="0" bIns="0" rtlCol="0" anchor="ctr"/>
          <a:lstStyle/>
          <a:p>
            <a:pPr indent="0" marL="0">
              <a:buNone/>
            </a:pPr>
            <a:r>
              <a:rPr lang="en-US" sz="1750" dirty="0">
                <a:solidFill>
                  <a:srgbClr val="6F6268"/>
                </a:solidFill>
                <a:latin typeface="Calibri" pitchFamily="34" charset="0"/>
                <a:ea typeface="Calibri" pitchFamily="34" charset="-122"/>
                <a:cs typeface="Calibri" pitchFamily="34" charset="-120"/>
              </a:rPr>
              <a:t>Rule matches identify what to examine—not proven problems.</a:t>
            </a:r>
            <a:endParaRPr lang="en-US" sz="1750" dirty="0"/>
          </a:p>
        </p:txBody>
      </p:sp>
      <p:sp>
        <p:nvSpPr>
          <p:cNvPr id="7" name="Shape 5"/>
          <p:cNvSpPr/>
          <p:nvPr/>
        </p:nvSpPr>
        <p:spPr>
          <a:xfrm>
            <a:off x="502920" y="2130552"/>
            <a:ext cx="2990088" cy="3063240"/>
          </a:xfrm>
          <a:prstGeom prst="roundRect">
            <a:avLst>
              <a:gd name="adj" fmla="val 3670"/>
            </a:avLst>
          </a:prstGeom>
          <a:solidFill>
            <a:srgbClr val="6D2E46"/>
          </a:solidFill>
          <a:ln w="12700">
            <a:solidFill>
              <a:srgbClr val="6D2E46">
                <a:alpha val="0"/>
              </a:srgbClr>
            </a:solidFill>
            <a:prstDash val="solid"/>
          </a:ln>
        </p:spPr>
      </p:sp>
      <p:sp>
        <p:nvSpPr>
          <p:cNvPr id="8" name="Text 6"/>
          <p:cNvSpPr/>
          <p:nvPr/>
        </p:nvSpPr>
        <p:spPr>
          <a:xfrm>
            <a:off x="768096" y="2487168"/>
            <a:ext cx="2468880" cy="941832"/>
          </a:xfrm>
          <a:prstGeom prst="rect">
            <a:avLst/>
          </a:prstGeom>
          <a:noFill/>
          <a:ln/>
        </p:spPr>
        <p:txBody>
          <a:bodyPr wrap="square" lIns="0" tIns="0" rIns="0" bIns="0" rtlCol="0" anchor="ctr"/>
          <a:lstStyle/>
          <a:p>
            <a:pPr indent="0" marL="0">
              <a:buNone/>
            </a:pPr>
            <a:r>
              <a:rPr lang="en-US" sz="7400" dirty="0">
                <a:solidFill>
                  <a:srgbClr val="FAF6EF"/>
                </a:solidFill>
                <a:latin typeface="Georgia" pitchFamily="34" charset="0"/>
                <a:ea typeface="Georgia" pitchFamily="34" charset="-122"/>
                <a:cs typeface="Georgia" pitchFamily="34" charset="-120"/>
              </a:rPr>
              <a:t>134</a:t>
            </a:r>
            <a:endParaRPr lang="en-US" sz="7400" dirty="0"/>
          </a:p>
        </p:txBody>
      </p:sp>
      <p:sp>
        <p:nvSpPr>
          <p:cNvPr id="9" name="Text 7"/>
          <p:cNvSpPr/>
          <p:nvPr/>
        </p:nvSpPr>
        <p:spPr>
          <a:xfrm>
            <a:off x="768096" y="3547872"/>
            <a:ext cx="2450592" cy="310896"/>
          </a:xfrm>
          <a:prstGeom prst="rect">
            <a:avLst/>
          </a:prstGeom>
          <a:noFill/>
          <a:ln/>
        </p:spPr>
        <p:txBody>
          <a:bodyPr wrap="square" lIns="0" tIns="0" rIns="0" bIns="0" rtlCol="0" anchor="ctr"/>
          <a:lstStyle/>
          <a:p>
            <a:pPr indent="0" marL="0">
              <a:buNone/>
            </a:pPr>
            <a:r>
              <a:rPr lang="en-US" sz="2100" dirty="0">
                <a:solidFill>
                  <a:srgbClr val="FAF6EF"/>
                </a:solidFill>
                <a:latin typeface="Calibri" pitchFamily="34" charset="0"/>
                <a:ea typeface="Calibri" pitchFamily="34" charset="-122"/>
                <a:cs typeface="Calibri" pitchFamily="34" charset="-120"/>
              </a:rPr>
              <a:t>of 235 products</a:t>
            </a:r>
            <a:endParaRPr lang="en-US" sz="2100" dirty="0"/>
          </a:p>
        </p:txBody>
      </p:sp>
      <p:sp>
        <p:nvSpPr>
          <p:cNvPr id="10" name="Text 8"/>
          <p:cNvSpPr/>
          <p:nvPr/>
        </p:nvSpPr>
        <p:spPr>
          <a:xfrm>
            <a:off x="768096" y="4050792"/>
            <a:ext cx="2450592" cy="640080"/>
          </a:xfrm>
          <a:prstGeom prst="rect">
            <a:avLst/>
          </a:prstGeom>
          <a:noFill/>
          <a:ln/>
        </p:spPr>
        <p:txBody>
          <a:bodyPr wrap="square" lIns="0" tIns="0" rIns="0" bIns="0" rtlCol="0" anchor="ctr"/>
          <a:lstStyle/>
          <a:p>
            <a:pPr indent="0" marL="0">
              <a:buNone/>
            </a:pPr>
            <a:r>
              <a:rPr lang="en-US" sz="2000" dirty="0">
                <a:solidFill>
                  <a:srgbClr val="FAF6EF"/>
                </a:solidFill>
                <a:latin typeface="Calibri" pitchFamily="34" charset="0"/>
                <a:ea typeface="Calibri" pitchFamily="34" charset="-122"/>
                <a:cs typeface="Calibri" pitchFamily="34" charset="-120"/>
              </a:rPr>
              <a:t>Matched at least</a:t>
            </a:r>
            <a:endParaRPr lang="en-US" sz="2000" dirty="0"/>
          </a:p>
          <a:p>
            <a:pPr indent="0" marL="0">
              <a:buNone/>
            </a:pPr>
            <a:r>
              <a:rPr lang="en-US" sz="2000" dirty="0">
                <a:solidFill>
                  <a:srgbClr val="FAF6EF"/>
                </a:solidFill>
                <a:latin typeface="Calibri" pitchFamily="34" charset="0"/>
                <a:ea typeface="Calibri" pitchFamily="34" charset="-122"/>
                <a:cs typeface="Calibri" pitchFamily="34" charset="-120"/>
              </a:rPr>
              <a:t>one review rule</a:t>
            </a:r>
            <a:endParaRPr lang="en-US" sz="2000" dirty="0"/>
          </a:p>
        </p:txBody>
      </p:sp>
      <p:sp>
        <p:nvSpPr>
          <p:cNvPr id="11" name="Shape 9"/>
          <p:cNvSpPr/>
          <p:nvPr/>
        </p:nvSpPr>
        <p:spPr>
          <a:xfrm>
            <a:off x="777240" y="4882896"/>
            <a:ext cx="2432304" cy="109728"/>
          </a:xfrm>
          <a:prstGeom prst="roundRect">
            <a:avLst>
              <a:gd name="adj" fmla="val 50000"/>
            </a:avLst>
          </a:prstGeom>
          <a:solidFill>
            <a:srgbClr val="BD8192"/>
          </a:solidFill>
          <a:ln w="12700">
            <a:solidFill>
              <a:srgbClr val="BD8192">
                <a:alpha val="0"/>
              </a:srgbClr>
            </a:solidFill>
            <a:prstDash val="solid"/>
          </a:ln>
        </p:spPr>
      </p:sp>
      <p:sp>
        <p:nvSpPr>
          <p:cNvPr id="12" name="Shape 10"/>
          <p:cNvSpPr/>
          <p:nvPr/>
        </p:nvSpPr>
        <p:spPr>
          <a:xfrm>
            <a:off x="777240" y="4882896"/>
            <a:ext cx="1386931" cy="109728"/>
          </a:xfrm>
          <a:prstGeom prst="roundRect">
            <a:avLst>
              <a:gd name="adj" fmla="val 50000"/>
            </a:avLst>
          </a:prstGeom>
          <a:solidFill>
            <a:srgbClr val="FAF6EF"/>
          </a:solidFill>
          <a:ln w="12700">
            <a:solidFill>
              <a:srgbClr val="FAF6EF">
                <a:alpha val="0"/>
              </a:srgbClr>
            </a:solidFill>
            <a:prstDash val="solid"/>
          </a:ln>
        </p:spPr>
      </p:sp>
      <p:sp>
        <p:nvSpPr>
          <p:cNvPr id="13" name="Shape 11"/>
          <p:cNvSpPr/>
          <p:nvPr/>
        </p:nvSpPr>
        <p:spPr>
          <a:xfrm>
            <a:off x="3813048" y="2130552"/>
            <a:ext cx="3813048" cy="1399032"/>
          </a:xfrm>
          <a:prstGeom prst="roundRect">
            <a:avLst>
              <a:gd name="adj" fmla="val 7843"/>
            </a:avLst>
          </a:prstGeom>
          <a:solidFill>
            <a:srgbClr val="FFFDFA"/>
          </a:solidFill>
          <a:ln w="12700">
            <a:solidFill>
              <a:srgbClr val="FFFDFA">
                <a:alpha val="0"/>
              </a:srgbClr>
            </a:solidFill>
            <a:prstDash val="solid"/>
          </a:ln>
        </p:spPr>
      </p:sp>
      <p:sp>
        <p:nvSpPr>
          <p:cNvPr id="14" name="Text 12"/>
          <p:cNvSpPr/>
          <p:nvPr/>
        </p:nvSpPr>
        <p:spPr>
          <a:xfrm>
            <a:off x="4023360" y="2304288"/>
            <a:ext cx="850392" cy="649224"/>
          </a:xfrm>
          <a:prstGeom prst="rect">
            <a:avLst/>
          </a:prstGeom>
          <a:noFill/>
          <a:ln/>
        </p:spPr>
        <p:txBody>
          <a:bodyPr wrap="square" lIns="0" tIns="0" rIns="0" bIns="0" rtlCol="0" anchor="ctr"/>
          <a:lstStyle/>
          <a:p>
            <a:pPr indent="0" marL="0">
              <a:buNone/>
            </a:pPr>
            <a:r>
              <a:rPr lang="en-US" sz="4500" dirty="0">
                <a:solidFill>
                  <a:srgbClr val="6D2E46"/>
                </a:solidFill>
                <a:latin typeface="Georgia" pitchFamily="34" charset="0"/>
                <a:ea typeface="Georgia" pitchFamily="34" charset="-122"/>
                <a:cs typeface="Georgia" pitchFamily="34" charset="-120"/>
              </a:rPr>
              <a:t>33</a:t>
            </a:r>
            <a:endParaRPr lang="en-US" sz="4500" dirty="0"/>
          </a:p>
        </p:txBody>
      </p:sp>
      <p:sp>
        <p:nvSpPr>
          <p:cNvPr id="15" name="Text 13"/>
          <p:cNvSpPr/>
          <p:nvPr/>
        </p:nvSpPr>
        <p:spPr>
          <a:xfrm>
            <a:off x="4983480" y="2350008"/>
            <a:ext cx="2441448" cy="548640"/>
          </a:xfrm>
          <a:prstGeom prst="rect">
            <a:avLst/>
          </a:prstGeom>
          <a:noFill/>
          <a:ln/>
        </p:spPr>
        <p:txBody>
          <a:bodyPr wrap="square" lIns="0" tIns="0" rIns="0" bIns="0" rtlCol="0" anchor="ctr"/>
          <a:lstStyle/>
          <a:p>
            <a:pPr indent="0" marL="0">
              <a:buNone/>
            </a:pPr>
            <a:r>
              <a:rPr lang="en-US" sz="1900" b="1" dirty="0">
                <a:solidFill>
                  <a:srgbClr val="30282E"/>
                </a:solidFill>
                <a:latin typeface="Calibri" pitchFamily="34" charset="0"/>
                <a:ea typeface="Calibri" pitchFamily="34" charset="-122"/>
                <a:cs typeface="Calibri" pitchFamily="34" charset="-120"/>
              </a:rPr>
              <a:t>Availability reviews</a:t>
            </a:r>
            <a:endParaRPr lang="en-US" sz="1900" dirty="0"/>
          </a:p>
        </p:txBody>
      </p:sp>
      <p:sp>
        <p:nvSpPr>
          <p:cNvPr id="16" name="Text 14"/>
          <p:cNvSpPr/>
          <p:nvPr/>
        </p:nvSpPr>
        <p:spPr>
          <a:xfrm>
            <a:off x="4023360" y="3081528"/>
            <a:ext cx="3401568" cy="237744"/>
          </a:xfrm>
          <a:prstGeom prst="rect">
            <a:avLst/>
          </a:prstGeom>
          <a:noFill/>
          <a:ln/>
        </p:spPr>
        <p:txBody>
          <a:bodyPr wrap="square" lIns="0" tIns="0" rIns="0" bIns="0" rtlCol="0" anchor="ctr"/>
          <a:lstStyle/>
          <a:p>
            <a:pPr indent="0" marL="0">
              <a:buNone/>
            </a:pPr>
            <a:r>
              <a:rPr lang="en-US" sz="1520" dirty="0">
                <a:solidFill>
                  <a:srgbClr val="6F6268"/>
                </a:solidFill>
                <a:latin typeface="Calibri" pitchFamily="34" charset="0"/>
                <a:ea typeface="Calibri" pitchFamily="34" charset="-122"/>
                <a:cs typeface="Calibri" pitchFamily="34" charset="-120"/>
              </a:rPr>
              <a:t>9 out of stock + 24 low stock</a:t>
            </a:r>
            <a:endParaRPr lang="en-US" sz="1520" dirty="0"/>
          </a:p>
        </p:txBody>
      </p:sp>
      <p:sp>
        <p:nvSpPr>
          <p:cNvPr id="17" name="Shape 15"/>
          <p:cNvSpPr/>
          <p:nvPr/>
        </p:nvSpPr>
        <p:spPr>
          <a:xfrm>
            <a:off x="7872984" y="2130552"/>
            <a:ext cx="3813048" cy="1399032"/>
          </a:xfrm>
          <a:prstGeom prst="roundRect">
            <a:avLst>
              <a:gd name="adj" fmla="val 7843"/>
            </a:avLst>
          </a:prstGeom>
          <a:solidFill>
            <a:srgbClr val="FFFDFA"/>
          </a:solidFill>
          <a:ln w="12700">
            <a:solidFill>
              <a:srgbClr val="FFFDFA">
                <a:alpha val="0"/>
              </a:srgbClr>
            </a:solidFill>
            <a:prstDash val="solid"/>
          </a:ln>
        </p:spPr>
      </p:sp>
      <p:sp>
        <p:nvSpPr>
          <p:cNvPr id="18" name="Text 16"/>
          <p:cNvSpPr/>
          <p:nvPr/>
        </p:nvSpPr>
        <p:spPr>
          <a:xfrm>
            <a:off x="8083296" y="2304288"/>
            <a:ext cx="850392" cy="649224"/>
          </a:xfrm>
          <a:prstGeom prst="rect">
            <a:avLst/>
          </a:prstGeom>
          <a:noFill/>
          <a:ln/>
        </p:spPr>
        <p:txBody>
          <a:bodyPr wrap="square" lIns="0" tIns="0" rIns="0" bIns="0" rtlCol="0" anchor="ctr"/>
          <a:lstStyle/>
          <a:p>
            <a:pPr indent="0" marL="0">
              <a:buNone/>
            </a:pPr>
            <a:r>
              <a:rPr lang="en-US" sz="4500" dirty="0">
                <a:solidFill>
                  <a:srgbClr val="6D2E46"/>
                </a:solidFill>
                <a:latin typeface="Georgia" pitchFamily="34" charset="0"/>
                <a:ea typeface="Georgia" pitchFamily="34" charset="-122"/>
                <a:cs typeface="Georgia" pitchFamily="34" charset="-120"/>
              </a:rPr>
              <a:t>2</a:t>
            </a:r>
            <a:endParaRPr lang="en-US" sz="4500" dirty="0"/>
          </a:p>
        </p:txBody>
      </p:sp>
      <p:sp>
        <p:nvSpPr>
          <p:cNvPr id="19" name="Text 17"/>
          <p:cNvSpPr/>
          <p:nvPr/>
        </p:nvSpPr>
        <p:spPr>
          <a:xfrm>
            <a:off x="9043416" y="2350008"/>
            <a:ext cx="2441448" cy="548640"/>
          </a:xfrm>
          <a:prstGeom prst="rect">
            <a:avLst/>
          </a:prstGeom>
          <a:noFill/>
          <a:ln/>
        </p:spPr>
        <p:txBody>
          <a:bodyPr wrap="square" lIns="0" tIns="0" rIns="0" bIns="0" rtlCol="0" anchor="ctr"/>
          <a:lstStyle/>
          <a:p>
            <a:pPr indent="0" marL="0">
              <a:buNone/>
            </a:pPr>
            <a:r>
              <a:rPr lang="en-US" sz="1900" b="1" dirty="0">
                <a:solidFill>
                  <a:srgbClr val="30282E"/>
                </a:solidFill>
                <a:latin typeface="Calibri" pitchFamily="34" charset="0"/>
                <a:ea typeface="Calibri" pitchFamily="34" charset="-122"/>
                <a:cs typeface="Calibri" pitchFamily="34" charset="-120"/>
              </a:rPr>
              <a:t>Zero-sales checks</a:t>
            </a:r>
            <a:endParaRPr lang="en-US" sz="1900" dirty="0"/>
          </a:p>
        </p:txBody>
      </p:sp>
      <p:sp>
        <p:nvSpPr>
          <p:cNvPr id="20" name="Text 18"/>
          <p:cNvSpPr/>
          <p:nvPr/>
        </p:nvSpPr>
        <p:spPr>
          <a:xfrm>
            <a:off x="8083296" y="3081528"/>
            <a:ext cx="3401568" cy="237744"/>
          </a:xfrm>
          <a:prstGeom prst="rect">
            <a:avLst/>
          </a:prstGeom>
          <a:noFill/>
          <a:ln/>
        </p:spPr>
        <p:txBody>
          <a:bodyPr wrap="square" lIns="0" tIns="0" rIns="0" bIns="0" rtlCol="0" anchor="ctr"/>
          <a:lstStyle/>
          <a:p>
            <a:pPr indent="0" marL="0">
              <a:buNone/>
            </a:pPr>
            <a:r>
              <a:rPr lang="en-US" sz="1520" dirty="0">
                <a:solidFill>
                  <a:srgbClr val="6F6268"/>
                </a:solidFill>
                <a:latin typeface="Calibri" pitchFamily="34" charset="0"/>
                <a:ea typeface="Calibri" pitchFamily="34" charset="-122"/>
                <a:cs typeface="Calibri" pitchFamily="34" charset="-120"/>
              </a:rPr>
              <a:t>Listing, mapping or feed validation</a:t>
            </a:r>
            <a:endParaRPr lang="en-US" sz="1520" dirty="0"/>
          </a:p>
        </p:txBody>
      </p:sp>
      <p:sp>
        <p:nvSpPr>
          <p:cNvPr id="21" name="Shape 19"/>
          <p:cNvSpPr/>
          <p:nvPr/>
        </p:nvSpPr>
        <p:spPr>
          <a:xfrm>
            <a:off x="3813048" y="3794760"/>
            <a:ext cx="3813048" cy="1399032"/>
          </a:xfrm>
          <a:prstGeom prst="roundRect">
            <a:avLst>
              <a:gd name="adj" fmla="val 7843"/>
            </a:avLst>
          </a:prstGeom>
          <a:solidFill>
            <a:srgbClr val="FFFDFA"/>
          </a:solidFill>
          <a:ln w="12700">
            <a:solidFill>
              <a:srgbClr val="FFFDFA">
                <a:alpha val="0"/>
              </a:srgbClr>
            </a:solidFill>
            <a:prstDash val="solid"/>
          </a:ln>
        </p:spPr>
      </p:sp>
      <p:sp>
        <p:nvSpPr>
          <p:cNvPr id="22" name="Text 20"/>
          <p:cNvSpPr/>
          <p:nvPr/>
        </p:nvSpPr>
        <p:spPr>
          <a:xfrm>
            <a:off x="4023360" y="3968496"/>
            <a:ext cx="850392" cy="649224"/>
          </a:xfrm>
          <a:prstGeom prst="rect">
            <a:avLst/>
          </a:prstGeom>
          <a:noFill/>
          <a:ln/>
        </p:spPr>
        <p:txBody>
          <a:bodyPr wrap="square" lIns="0" tIns="0" rIns="0" bIns="0" rtlCol="0" anchor="ctr"/>
          <a:lstStyle/>
          <a:p>
            <a:pPr indent="0" marL="0">
              <a:buNone/>
            </a:pPr>
            <a:r>
              <a:rPr lang="en-US" sz="4500" dirty="0">
                <a:solidFill>
                  <a:srgbClr val="6D2E46"/>
                </a:solidFill>
                <a:latin typeface="Georgia" pitchFamily="34" charset="0"/>
                <a:ea typeface="Georgia" pitchFamily="34" charset="-122"/>
                <a:cs typeface="Georgia" pitchFamily="34" charset="-120"/>
              </a:rPr>
              <a:t>19</a:t>
            </a:r>
            <a:endParaRPr lang="en-US" sz="4500" dirty="0"/>
          </a:p>
        </p:txBody>
      </p:sp>
      <p:sp>
        <p:nvSpPr>
          <p:cNvPr id="23" name="Text 21"/>
          <p:cNvSpPr/>
          <p:nvPr/>
        </p:nvSpPr>
        <p:spPr>
          <a:xfrm>
            <a:off x="4983480" y="4014216"/>
            <a:ext cx="2441448" cy="548640"/>
          </a:xfrm>
          <a:prstGeom prst="rect">
            <a:avLst/>
          </a:prstGeom>
          <a:noFill/>
          <a:ln/>
        </p:spPr>
        <p:txBody>
          <a:bodyPr wrap="square" lIns="0" tIns="0" rIns="0" bIns="0" rtlCol="0" anchor="ctr"/>
          <a:lstStyle/>
          <a:p>
            <a:pPr indent="0" marL="0">
              <a:buNone/>
            </a:pPr>
            <a:r>
              <a:rPr lang="en-US" sz="1900" b="1" dirty="0">
                <a:solidFill>
                  <a:srgbClr val="30282E"/>
                </a:solidFill>
                <a:latin typeface="Calibri" pitchFamily="34" charset="0"/>
                <a:ea typeface="Calibri" pitchFamily="34" charset="-122"/>
                <a:cs typeface="Calibri" pitchFamily="34" charset="-120"/>
              </a:rPr>
              <a:t>Reactivation reviews</a:t>
            </a:r>
            <a:endParaRPr lang="en-US" sz="1900" dirty="0"/>
          </a:p>
        </p:txBody>
      </p:sp>
      <p:sp>
        <p:nvSpPr>
          <p:cNvPr id="24" name="Text 22"/>
          <p:cNvSpPr/>
          <p:nvPr/>
        </p:nvSpPr>
        <p:spPr>
          <a:xfrm>
            <a:off x="4023360" y="4745736"/>
            <a:ext cx="3401568" cy="237744"/>
          </a:xfrm>
          <a:prstGeom prst="rect">
            <a:avLst/>
          </a:prstGeom>
          <a:noFill/>
          <a:ln/>
        </p:spPr>
        <p:txBody>
          <a:bodyPr wrap="square" lIns="0" tIns="0" rIns="0" bIns="0" rtlCol="0" anchor="ctr"/>
          <a:lstStyle/>
          <a:p>
            <a:pPr indent="0" marL="0">
              <a:buNone/>
            </a:pPr>
            <a:r>
              <a:rPr lang="en-US" sz="1520" dirty="0">
                <a:solidFill>
                  <a:srgbClr val="6F6268"/>
                </a:solidFill>
                <a:latin typeface="Calibri" pitchFamily="34" charset="0"/>
                <a:ea typeface="Calibri" pitchFamily="34" charset="-122"/>
                <a:cs typeface="Calibri" pitchFamily="34" charset="-120"/>
              </a:rPr>
              <a:t>Understand the reason for inactivity</a:t>
            </a:r>
            <a:endParaRPr lang="en-US" sz="1520" dirty="0"/>
          </a:p>
        </p:txBody>
      </p:sp>
      <p:sp>
        <p:nvSpPr>
          <p:cNvPr id="25" name="Shape 23"/>
          <p:cNvSpPr/>
          <p:nvPr/>
        </p:nvSpPr>
        <p:spPr>
          <a:xfrm>
            <a:off x="7872984" y="3794760"/>
            <a:ext cx="3813048" cy="1399032"/>
          </a:xfrm>
          <a:prstGeom prst="roundRect">
            <a:avLst>
              <a:gd name="adj" fmla="val 7843"/>
            </a:avLst>
          </a:prstGeom>
          <a:solidFill>
            <a:srgbClr val="FFFDFA"/>
          </a:solidFill>
          <a:ln w="12700">
            <a:solidFill>
              <a:srgbClr val="FFFDFA">
                <a:alpha val="0"/>
              </a:srgbClr>
            </a:solidFill>
            <a:prstDash val="solid"/>
          </a:ln>
        </p:spPr>
      </p:sp>
      <p:sp>
        <p:nvSpPr>
          <p:cNvPr id="26" name="Text 24"/>
          <p:cNvSpPr/>
          <p:nvPr/>
        </p:nvSpPr>
        <p:spPr>
          <a:xfrm>
            <a:off x="8083296" y="3968496"/>
            <a:ext cx="850392" cy="649224"/>
          </a:xfrm>
          <a:prstGeom prst="rect">
            <a:avLst/>
          </a:prstGeom>
          <a:noFill/>
          <a:ln/>
        </p:spPr>
        <p:txBody>
          <a:bodyPr wrap="square" lIns="0" tIns="0" rIns="0" bIns="0" rtlCol="0" anchor="ctr"/>
          <a:lstStyle/>
          <a:p>
            <a:pPr indent="0" marL="0">
              <a:buNone/>
            </a:pPr>
            <a:r>
              <a:rPr lang="en-US" sz="4500" dirty="0">
                <a:solidFill>
                  <a:srgbClr val="6D2E46"/>
                </a:solidFill>
                <a:latin typeface="Georgia" pitchFamily="34" charset="0"/>
                <a:ea typeface="Georgia" pitchFamily="34" charset="-122"/>
                <a:cs typeface="Georgia" pitchFamily="34" charset="-120"/>
              </a:rPr>
              <a:t>17</a:t>
            </a:r>
            <a:endParaRPr lang="en-US" sz="4500" dirty="0"/>
          </a:p>
        </p:txBody>
      </p:sp>
      <p:sp>
        <p:nvSpPr>
          <p:cNvPr id="27" name="Text 25"/>
          <p:cNvSpPr/>
          <p:nvPr/>
        </p:nvSpPr>
        <p:spPr>
          <a:xfrm>
            <a:off x="9043416" y="4014216"/>
            <a:ext cx="2441448" cy="548640"/>
          </a:xfrm>
          <a:prstGeom prst="rect">
            <a:avLst/>
          </a:prstGeom>
          <a:noFill/>
          <a:ln/>
        </p:spPr>
        <p:txBody>
          <a:bodyPr wrap="square" lIns="0" tIns="0" rIns="0" bIns="0" rtlCol="0" anchor="ctr"/>
          <a:lstStyle/>
          <a:p>
            <a:pPr indent="0" marL="0">
              <a:buNone/>
            </a:pPr>
            <a:r>
              <a:rPr lang="en-US" sz="1900" b="1" dirty="0">
                <a:solidFill>
                  <a:srgbClr val="30282E"/>
                </a:solidFill>
                <a:latin typeface="Calibri" pitchFamily="34" charset="0"/>
                <a:ea typeface="Calibri" pitchFamily="34" charset="-122"/>
                <a:cs typeface="Calibri" pitchFamily="34" charset="-120"/>
              </a:rPr>
              <a:t>Promotion-test candidates</a:t>
            </a:r>
            <a:endParaRPr lang="en-US" sz="1900" dirty="0"/>
          </a:p>
        </p:txBody>
      </p:sp>
      <p:sp>
        <p:nvSpPr>
          <p:cNvPr id="28" name="Text 26"/>
          <p:cNvSpPr/>
          <p:nvPr/>
        </p:nvSpPr>
        <p:spPr>
          <a:xfrm>
            <a:off x="8083296" y="4745736"/>
            <a:ext cx="3401568" cy="237744"/>
          </a:xfrm>
          <a:prstGeom prst="rect">
            <a:avLst/>
          </a:prstGeom>
          <a:noFill/>
          <a:ln/>
        </p:spPr>
        <p:txBody>
          <a:bodyPr wrap="square" lIns="0" tIns="0" rIns="0" bIns="0" rtlCol="0" anchor="ctr"/>
          <a:lstStyle/>
          <a:p>
            <a:pPr indent="0" marL="0">
              <a:buNone/>
            </a:pPr>
            <a:r>
              <a:rPr lang="en-US" sz="1520" dirty="0">
                <a:solidFill>
                  <a:srgbClr val="6F6268"/>
                </a:solidFill>
                <a:latin typeface="Calibri" pitchFamily="34" charset="0"/>
                <a:ea typeface="Calibri" pitchFamily="34" charset="-122"/>
                <a:cs typeface="Calibri" pitchFamily="34" charset="-120"/>
              </a:rPr>
              <a:t>Validate economics before a small test</a:t>
            </a:r>
            <a:endParaRPr lang="en-US" sz="1520" dirty="0"/>
          </a:p>
        </p:txBody>
      </p:sp>
      <p:sp>
        <p:nvSpPr>
          <p:cNvPr id="29" name="Shape 27"/>
          <p:cNvSpPr/>
          <p:nvPr/>
        </p:nvSpPr>
        <p:spPr>
          <a:xfrm>
            <a:off x="502920" y="5422392"/>
            <a:ext cx="402336" cy="402336"/>
          </a:xfrm>
          <a:prstGeom prst="ellipse">
            <a:avLst/>
          </a:prstGeom>
          <a:solidFill>
            <a:srgbClr val="F0DFE3"/>
          </a:solidFill>
          <a:ln w="12700">
            <a:solidFill>
              <a:srgbClr val="F0DFE3">
                <a:alpha val="0"/>
              </a:srgbClr>
            </a:solidFill>
            <a:prstDash val="solid"/>
          </a:ln>
        </p:spPr>
      </p:sp>
      <p:sp>
        <p:nvSpPr>
          <p:cNvPr id="30" name="Text 28"/>
          <p:cNvSpPr/>
          <p:nvPr/>
        </p:nvSpPr>
        <p:spPr>
          <a:xfrm>
            <a:off x="502920" y="5422392"/>
            <a:ext cx="402336" cy="402336"/>
          </a:xfrm>
          <a:prstGeom prst="rect">
            <a:avLst/>
          </a:prstGeom>
          <a:noFill/>
          <a:ln/>
        </p:spPr>
        <p:txBody>
          <a:bodyPr wrap="square" lIns="0" tIns="0" rIns="0" bIns="0" rtlCol="0" anchor="ctr"/>
          <a:lstStyle/>
          <a:p>
            <a:pPr algn="ctr" indent="0" marL="0">
              <a:buNone/>
            </a:pPr>
            <a:r>
              <a:rPr lang="en-US" sz="1300" b="1" dirty="0">
                <a:solidFill>
                  <a:srgbClr val="6D2E46"/>
                </a:solidFill>
                <a:latin typeface="Calibri" pitchFamily="34" charset="0"/>
                <a:ea typeface="Calibri" pitchFamily="34" charset="-122"/>
                <a:cs typeface="Calibri" pitchFamily="34" charset="-120"/>
              </a:rPr>
              <a:t>18</a:t>
            </a:r>
            <a:endParaRPr lang="en-US" sz="1300" dirty="0"/>
          </a:p>
        </p:txBody>
      </p:sp>
      <p:sp>
        <p:nvSpPr>
          <p:cNvPr id="31" name="Text 29"/>
          <p:cNvSpPr/>
          <p:nvPr/>
        </p:nvSpPr>
        <p:spPr>
          <a:xfrm>
            <a:off x="1106424" y="5413248"/>
            <a:ext cx="4663440" cy="292608"/>
          </a:xfrm>
          <a:prstGeom prst="rect">
            <a:avLst/>
          </a:prstGeom>
          <a:noFill/>
          <a:ln/>
        </p:spPr>
        <p:txBody>
          <a:bodyPr wrap="square" lIns="0" tIns="0" rIns="0" bIns="0" rtlCol="0" anchor="ctr"/>
          <a:lstStyle/>
          <a:p>
            <a:pPr indent="0" marL="0">
              <a:buNone/>
            </a:pPr>
            <a:r>
              <a:rPr lang="en-US" sz="2000" b="1" dirty="0">
                <a:solidFill>
                  <a:srgbClr val="30282E"/>
                </a:solidFill>
                <a:latin typeface="Calibri" pitchFamily="34" charset="0"/>
                <a:ea typeface="Calibri" pitchFamily="34" charset="-122"/>
                <a:cs typeface="Calibri" pitchFamily="34" charset="-120"/>
              </a:rPr>
              <a:t>Separate assortment follow-up cells</a:t>
            </a:r>
            <a:endParaRPr lang="en-US" sz="2000" dirty="0"/>
          </a:p>
        </p:txBody>
      </p:sp>
      <p:sp>
        <p:nvSpPr>
          <p:cNvPr id="32" name="Text 30"/>
          <p:cNvSpPr/>
          <p:nvPr/>
        </p:nvSpPr>
        <p:spPr>
          <a:xfrm>
            <a:off x="5852160" y="5431536"/>
            <a:ext cx="5797296" cy="265176"/>
          </a:xfrm>
          <a:prstGeom prst="rect">
            <a:avLst/>
          </a:prstGeom>
          <a:noFill/>
          <a:ln/>
        </p:spPr>
        <p:txBody>
          <a:bodyPr wrap="square" lIns="0" tIns="0" rIns="0" bIns="0" rtlCol="0" anchor="ctr"/>
          <a:lstStyle/>
          <a:p>
            <a:pPr indent="0" marL="0">
              <a:buNone/>
            </a:pPr>
            <a:r>
              <a:rPr lang="en-US" sz="1600" dirty="0">
                <a:solidFill>
                  <a:srgbClr val="6F6268"/>
                </a:solidFill>
                <a:latin typeface="Calibri" pitchFamily="34" charset="0"/>
                <a:ea typeface="Calibri" pitchFamily="34" charset="-122"/>
                <a:cs typeface="Calibri" pitchFamily="34" charset="-120"/>
              </a:rPr>
              <a:t>Subcategory × shade comparisons—not product counts.</a:t>
            </a:r>
            <a:endParaRPr lang="en-US" sz="1600" dirty="0"/>
          </a:p>
        </p:txBody>
      </p:sp>
      <p:sp>
        <p:nvSpPr>
          <p:cNvPr id="33" name="Text 31"/>
          <p:cNvSpPr/>
          <p:nvPr/>
        </p:nvSpPr>
        <p:spPr>
          <a:xfrm>
            <a:off x="502920" y="5852160"/>
            <a:ext cx="11064240" cy="265176"/>
          </a:xfrm>
          <a:prstGeom prst="rect">
            <a:avLst/>
          </a:prstGeom>
          <a:noFill/>
          <a:ln/>
        </p:spPr>
        <p:txBody>
          <a:bodyPr wrap="square" lIns="0" tIns="0" rIns="0" bIns="0" rtlCol="0" anchor="ctr"/>
          <a:lstStyle/>
          <a:p>
            <a:pPr indent="0" marL="0">
              <a:buNone/>
            </a:pPr>
            <a:r>
              <a:rPr lang="en-US" sz="1500" dirty="0">
                <a:solidFill>
                  <a:srgbClr val="6F6268"/>
                </a:solidFill>
                <a:latin typeface="Calibri" pitchFamily="34" charset="0"/>
                <a:ea typeface="Calibri" pitchFamily="34" charset="-122"/>
                <a:cs typeface="Calibri" pitchFamily="34" charset="-120"/>
              </a:rPr>
              <a:t>Selected primary-action groups shown; not a full breakdown of all matched SKUs.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 review.json · recommendations; full record IDs and rows in notes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05 / 10</a:t>
            </a:r>
            <a:endParaRPr lang="en-US" sz="1050" dirty="0"/>
          </a:p>
        </p:txBody>
      </p:sp>
      <p:sp>
        <p:nvSpPr>
          <p:cNvPr id="4" name="Text 2"/>
          <p:cNvSpPr/>
          <p:nvPr/>
        </p:nvSpPr>
        <p:spPr>
          <a:xfrm>
            <a:off x="502920" y="457200"/>
            <a:ext cx="9601200" cy="173736"/>
          </a:xfrm>
          <a:prstGeom prst="rect">
            <a:avLst/>
          </a:prstGeom>
          <a:noFill/>
          <a:ln/>
        </p:spPr>
        <p:txBody>
          <a:bodyPr wrap="square" lIns="0" tIns="0" rIns="0" bIns="0" rtlCol="0" anchor="ctr"/>
          <a:lstStyle/>
          <a:p>
            <a:pPr indent="0" marL="0">
              <a:buNone/>
            </a:pPr>
            <a:r>
              <a:rPr lang="en-US" sz="1050" b="1" spc="130" kern="0" dirty="0">
                <a:solidFill>
                  <a:srgbClr val="6D2E46"/>
                </a:solidFill>
                <a:latin typeface="Calibri" pitchFamily="34" charset="0"/>
                <a:ea typeface="Calibri" pitchFamily="34" charset="-122"/>
                <a:cs typeface="Calibri" pitchFamily="34" charset="-120"/>
              </a:rPr>
              <a:t>ZENBEAUTY RETAIL  /  CATEGORY REVIEW</a:t>
            </a:r>
            <a:endParaRPr lang="en-US" sz="1050" dirty="0"/>
          </a:p>
        </p:txBody>
      </p:sp>
      <p:sp>
        <p:nvSpPr>
          <p:cNvPr id="5" name="Text 3"/>
          <p:cNvSpPr/>
          <p:nvPr/>
        </p:nvSpPr>
        <p:spPr>
          <a:xfrm>
            <a:off x="502920" y="813816"/>
            <a:ext cx="11183112" cy="603504"/>
          </a:xfrm>
          <a:prstGeom prst="rect">
            <a:avLst/>
          </a:prstGeom>
          <a:noFill/>
          <a:ln/>
        </p:spPr>
        <p:txBody>
          <a:bodyPr wrap="square" lIns="0" tIns="0" rIns="0" bIns="0" rtlCol="0" anchor="ctr"/>
          <a:lstStyle/>
          <a:p>
            <a:pPr indent="0" marL="0">
              <a:buNone/>
            </a:pPr>
            <a:r>
              <a:rPr lang="en-US" sz="3400" dirty="0">
                <a:solidFill>
                  <a:srgbClr val="30282E"/>
                </a:solidFill>
                <a:latin typeface="Georgia" pitchFamily="34" charset="0"/>
                <a:ea typeface="Georgia" pitchFamily="34" charset="-122"/>
                <a:cs typeface="Georgia" pitchFamily="34" charset="-120"/>
              </a:rPr>
              <a:t>Five decisions for the next category review</a:t>
            </a:r>
            <a:endParaRPr lang="en-US" sz="3400" dirty="0"/>
          </a:p>
        </p:txBody>
      </p:sp>
      <p:sp>
        <p:nvSpPr>
          <p:cNvPr id="6" name="Text 4"/>
          <p:cNvSpPr/>
          <p:nvPr/>
        </p:nvSpPr>
        <p:spPr>
          <a:xfrm>
            <a:off x="502920" y="1490472"/>
            <a:ext cx="11064240" cy="256032"/>
          </a:xfrm>
          <a:prstGeom prst="rect">
            <a:avLst/>
          </a:prstGeom>
          <a:noFill/>
          <a:ln/>
        </p:spPr>
        <p:txBody>
          <a:bodyPr wrap="square" lIns="0" tIns="0" rIns="0" bIns="0" rtlCol="0" anchor="ctr"/>
          <a:lstStyle/>
          <a:p>
            <a:pPr indent="0" marL="0">
              <a:buNone/>
            </a:pPr>
            <a:r>
              <a:rPr lang="en-US" sz="1750" dirty="0">
                <a:solidFill>
                  <a:srgbClr val="6F6268"/>
                </a:solidFill>
                <a:latin typeface="Calibri" pitchFamily="34" charset="0"/>
                <a:ea typeface="Calibri" pitchFamily="34" charset="-122"/>
                <a:cs typeface="Calibri" pitchFamily="34" charset="-120"/>
              </a:rPr>
              <a:t>Proposed owners and next checks—not approved commercial actions.</a:t>
            </a:r>
            <a:endParaRPr lang="en-US" sz="1750" dirty="0"/>
          </a:p>
        </p:txBody>
      </p:sp>
      <p:sp>
        <p:nvSpPr>
          <p:cNvPr id="7" name="Text 5"/>
          <p:cNvSpPr/>
          <p:nvPr/>
        </p:nvSpPr>
        <p:spPr>
          <a:xfrm>
            <a:off x="694944" y="1865376"/>
            <a:ext cx="3044952" cy="192024"/>
          </a:xfrm>
          <a:prstGeom prst="rect">
            <a:avLst/>
          </a:prstGeom>
          <a:noFill/>
          <a:ln/>
        </p:spPr>
        <p:txBody>
          <a:bodyPr wrap="square" lIns="0" tIns="0" rIns="0" bIns="0" rtlCol="0" anchor="ctr"/>
          <a:lstStyle/>
          <a:p>
            <a:pPr indent="0" marL="0">
              <a:buNone/>
            </a:pPr>
            <a:r>
              <a:rPr lang="en-US" sz="1140" b="1" spc="90" kern="0" dirty="0">
                <a:solidFill>
                  <a:srgbClr val="6D2E46"/>
                </a:solidFill>
                <a:latin typeface="Calibri" pitchFamily="34" charset="0"/>
                <a:ea typeface="Calibri" pitchFamily="34" charset="-122"/>
                <a:cs typeface="Calibri" pitchFamily="34" charset="-120"/>
              </a:rPr>
              <a:t>PRODUCT</a:t>
            </a:r>
            <a:endParaRPr lang="en-US" sz="1140" dirty="0"/>
          </a:p>
        </p:txBody>
      </p:sp>
      <p:sp>
        <p:nvSpPr>
          <p:cNvPr id="8" name="Text 6"/>
          <p:cNvSpPr/>
          <p:nvPr/>
        </p:nvSpPr>
        <p:spPr>
          <a:xfrm>
            <a:off x="3840480" y="1865376"/>
            <a:ext cx="3739896" cy="192024"/>
          </a:xfrm>
          <a:prstGeom prst="rect">
            <a:avLst/>
          </a:prstGeom>
          <a:noFill/>
          <a:ln/>
        </p:spPr>
        <p:txBody>
          <a:bodyPr wrap="square" lIns="0" tIns="0" rIns="0" bIns="0" rtlCol="0" anchor="ctr"/>
          <a:lstStyle/>
          <a:p>
            <a:pPr indent="0" marL="0">
              <a:buNone/>
            </a:pPr>
            <a:r>
              <a:rPr lang="en-US" sz="1140" b="1" spc="90" kern="0" dirty="0">
                <a:solidFill>
                  <a:srgbClr val="6D2E46"/>
                </a:solidFill>
                <a:latin typeface="Calibri" pitchFamily="34" charset="0"/>
                <a:ea typeface="Calibri" pitchFamily="34" charset="-122"/>
                <a:cs typeface="Calibri" pitchFamily="34" charset="-120"/>
              </a:rPr>
              <a:t>WHY REVIEW</a:t>
            </a:r>
            <a:endParaRPr lang="en-US" sz="1140" dirty="0"/>
          </a:p>
        </p:txBody>
      </p:sp>
      <p:sp>
        <p:nvSpPr>
          <p:cNvPr id="9" name="Text 7"/>
          <p:cNvSpPr/>
          <p:nvPr/>
        </p:nvSpPr>
        <p:spPr>
          <a:xfrm>
            <a:off x="7973568" y="1865376"/>
            <a:ext cx="3474720" cy="192024"/>
          </a:xfrm>
          <a:prstGeom prst="rect">
            <a:avLst/>
          </a:prstGeom>
          <a:noFill/>
          <a:ln/>
        </p:spPr>
        <p:txBody>
          <a:bodyPr wrap="square" lIns="0" tIns="0" rIns="0" bIns="0" rtlCol="0" anchor="ctr"/>
          <a:lstStyle/>
          <a:p>
            <a:pPr indent="0" marL="0">
              <a:buNone/>
            </a:pPr>
            <a:r>
              <a:rPr lang="en-US" sz="1140" b="1" spc="90" kern="0" dirty="0">
                <a:solidFill>
                  <a:srgbClr val="6D2E46"/>
                </a:solidFill>
                <a:latin typeface="Calibri" pitchFamily="34" charset="0"/>
                <a:ea typeface="Calibri" pitchFamily="34" charset="-122"/>
                <a:cs typeface="Calibri" pitchFamily="34" charset="-120"/>
              </a:rPr>
              <a:t>NEXT CHECK / PROPOSED OWNER</a:t>
            </a:r>
            <a:endParaRPr lang="en-US" sz="1140" dirty="0"/>
          </a:p>
        </p:txBody>
      </p:sp>
      <p:sp>
        <p:nvSpPr>
          <p:cNvPr id="10" name="Shape 8"/>
          <p:cNvSpPr/>
          <p:nvPr/>
        </p:nvSpPr>
        <p:spPr>
          <a:xfrm>
            <a:off x="502920" y="2185416"/>
            <a:ext cx="11183112" cy="704088"/>
          </a:xfrm>
          <a:prstGeom prst="rect">
            <a:avLst/>
          </a:prstGeom>
          <a:solidFill>
            <a:srgbClr val="FFFDFA"/>
          </a:solidFill>
          <a:ln w="12700">
            <a:solidFill>
              <a:srgbClr val="FFFDFA">
                <a:alpha val="0"/>
              </a:srgbClr>
            </a:solidFill>
            <a:prstDash val="solid"/>
          </a:ln>
        </p:spPr>
      </p:sp>
      <p:sp>
        <p:nvSpPr>
          <p:cNvPr id="11" name="Text 9"/>
          <p:cNvSpPr/>
          <p:nvPr/>
        </p:nvSpPr>
        <p:spPr>
          <a:xfrm>
            <a:off x="694944" y="2276856"/>
            <a:ext cx="2962656" cy="292608"/>
          </a:xfrm>
          <a:prstGeom prst="rect">
            <a:avLst/>
          </a:prstGeom>
          <a:noFill/>
          <a:ln/>
        </p:spPr>
        <p:txBody>
          <a:bodyPr wrap="square" lIns="0" tIns="0" rIns="0" bIns="0" rtlCol="0" anchor="ctr"/>
          <a:lstStyle/>
          <a:p>
            <a:pPr indent="0" marL="0">
              <a:buNone/>
            </a:pPr>
            <a:r>
              <a:rPr lang="en-US" sz="1620" b="1" dirty="0">
                <a:solidFill>
                  <a:srgbClr val="30282E"/>
                </a:solidFill>
                <a:latin typeface="Calibri" pitchFamily="34" charset="0"/>
                <a:ea typeface="Calibri" pitchFamily="34" charset="-122"/>
                <a:cs typeface="Calibri" pitchFamily="34" charset="-120"/>
              </a:rPr>
              <a:t>Wella Blondor · Light Blonde</a:t>
            </a:r>
            <a:endParaRPr lang="en-US" sz="1620" dirty="0"/>
          </a:p>
        </p:txBody>
      </p:sp>
      <p:sp>
        <p:nvSpPr>
          <p:cNvPr id="12" name="Text 10"/>
          <p:cNvSpPr/>
          <p:nvPr/>
        </p:nvSpPr>
        <p:spPr>
          <a:xfrm>
            <a:off x="694944" y="2624328"/>
            <a:ext cx="2926080" cy="192024"/>
          </a:xfrm>
          <a:prstGeom prst="rect">
            <a:avLst/>
          </a:prstGeom>
          <a:noFill/>
          <a:ln/>
        </p:spPr>
        <p:txBody>
          <a:bodyPr wrap="square" lIns="0" tIns="0" rIns="0" bIns="0" rtlCol="0" anchor="ctr"/>
          <a:lstStyle/>
          <a:p>
            <a:pPr indent="0" marL="0">
              <a:buNone/>
            </a:pPr>
            <a:r>
              <a:rPr lang="en-US" sz="1250" b="1" spc="90" kern="0" dirty="0">
                <a:solidFill>
                  <a:srgbClr val="6D2E46"/>
                </a:solidFill>
                <a:latin typeface="Calibri" pitchFamily="34" charset="0"/>
                <a:ea typeface="Calibri" pitchFamily="34" charset="-122"/>
                <a:cs typeface="Calibri" pitchFamily="34" charset="-120"/>
              </a:rPr>
              <a:t>HC0070</a:t>
            </a:r>
            <a:endParaRPr lang="en-US" sz="1250" dirty="0"/>
          </a:p>
        </p:txBody>
      </p:sp>
      <p:sp>
        <p:nvSpPr>
          <p:cNvPr id="13" name="Text 11"/>
          <p:cNvSpPr/>
          <p:nvPr/>
        </p:nvSpPr>
        <p:spPr>
          <a:xfrm>
            <a:off x="3840480" y="2295144"/>
            <a:ext cx="3886200" cy="484632"/>
          </a:xfrm>
          <a:prstGeom prst="rect">
            <a:avLst/>
          </a:prstGeom>
          <a:noFill/>
          <a:ln/>
        </p:spPr>
        <p:txBody>
          <a:bodyPr wrap="square" lIns="0" tIns="0" rIns="0" bIns="0" rtlCol="0" anchor="ctr"/>
          <a:lstStyle/>
          <a:p>
            <a:pPr indent="0" marL="0">
              <a:buNone/>
            </a:pPr>
            <a:r>
              <a:rPr lang="en-US" sz="1550" dirty="0">
                <a:solidFill>
                  <a:srgbClr val="30282E"/>
                </a:solidFill>
                <a:latin typeface="Calibri" pitchFamily="34" charset="0"/>
                <a:ea typeface="Calibri" pitchFamily="34" charset="-122"/>
                <a:cs typeface="Calibri" pitchFamily="34" charset="-120"/>
              </a:rPr>
              <a:t>Out of stock · €269.2k market proxy</a:t>
            </a:r>
            <a:endParaRPr lang="en-US" sz="1550" dirty="0"/>
          </a:p>
          <a:p>
            <a:pPr indent="0" marL="0">
              <a:buNone/>
            </a:pPr>
            <a:r>
              <a:rPr lang="en-US" sz="1550" dirty="0">
                <a:solidFill>
                  <a:srgbClr val="30282E"/>
                </a:solidFill>
                <a:latin typeface="Calibri" pitchFamily="34" charset="0"/>
                <a:ea typeface="Calibri" pitchFamily="34" charset="-122"/>
                <a:cs typeface="Calibri" pitchFamily="34" charset="-120"/>
              </a:rPr>
              <a:t>Market trend +26.3%</a:t>
            </a:r>
            <a:endParaRPr lang="en-US" sz="1550" dirty="0"/>
          </a:p>
        </p:txBody>
      </p:sp>
      <p:sp>
        <p:nvSpPr>
          <p:cNvPr id="14" name="Text 12"/>
          <p:cNvSpPr/>
          <p:nvPr/>
        </p:nvSpPr>
        <p:spPr>
          <a:xfrm>
            <a:off x="7973568" y="2286000"/>
            <a:ext cx="3493008"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Validate stock and lead time</a:t>
            </a:r>
            <a:endParaRPr lang="en-US" sz="1550" dirty="0"/>
          </a:p>
        </p:txBody>
      </p:sp>
      <p:sp>
        <p:nvSpPr>
          <p:cNvPr id="15" name="Text 13"/>
          <p:cNvSpPr/>
          <p:nvPr/>
        </p:nvSpPr>
        <p:spPr>
          <a:xfrm>
            <a:off x="7973568" y="2596896"/>
            <a:ext cx="3493008" cy="237744"/>
          </a:xfrm>
          <a:prstGeom prst="rect">
            <a:avLst/>
          </a:prstGeom>
          <a:noFill/>
          <a:ln/>
        </p:spPr>
        <p:txBody>
          <a:bodyPr wrap="square" lIns="0" tIns="0" rIns="0" bIns="0" rtlCol="0" anchor="ctr"/>
          <a:lstStyle/>
          <a:p>
            <a:pPr indent="0" marL="0">
              <a:buNone/>
            </a:pPr>
            <a:r>
              <a:rPr lang="en-US" sz="1450" dirty="0">
                <a:solidFill>
                  <a:srgbClr val="6F6268"/>
                </a:solidFill>
                <a:latin typeface="Calibri" pitchFamily="34" charset="0"/>
                <a:ea typeface="Calibri" pitchFamily="34" charset="-122"/>
                <a:cs typeface="Calibri" pitchFamily="34" charset="-120"/>
              </a:rPr>
              <a:t>Supply planner</a:t>
            </a:r>
            <a:endParaRPr lang="en-US" sz="1450" dirty="0"/>
          </a:p>
        </p:txBody>
      </p:sp>
      <p:sp>
        <p:nvSpPr>
          <p:cNvPr id="16" name="Shape 14"/>
          <p:cNvSpPr/>
          <p:nvPr/>
        </p:nvSpPr>
        <p:spPr>
          <a:xfrm>
            <a:off x="502920" y="2889504"/>
            <a:ext cx="11183112" cy="704088"/>
          </a:xfrm>
          <a:prstGeom prst="rect">
            <a:avLst/>
          </a:prstGeom>
          <a:solidFill>
            <a:srgbClr val="F0DFE3"/>
          </a:solidFill>
          <a:ln w="12700">
            <a:solidFill>
              <a:srgbClr val="F0DFE3">
                <a:alpha val="0"/>
              </a:srgbClr>
            </a:solidFill>
            <a:prstDash val="solid"/>
          </a:ln>
        </p:spPr>
      </p:sp>
      <p:sp>
        <p:nvSpPr>
          <p:cNvPr id="17" name="Text 15"/>
          <p:cNvSpPr/>
          <p:nvPr/>
        </p:nvSpPr>
        <p:spPr>
          <a:xfrm>
            <a:off x="694944" y="2980944"/>
            <a:ext cx="2962656" cy="292608"/>
          </a:xfrm>
          <a:prstGeom prst="rect">
            <a:avLst/>
          </a:prstGeom>
          <a:noFill/>
          <a:ln/>
        </p:spPr>
        <p:txBody>
          <a:bodyPr wrap="square" lIns="0" tIns="0" rIns="0" bIns="0" rtlCol="0" anchor="ctr"/>
          <a:lstStyle/>
          <a:p>
            <a:pPr indent="0" marL="0">
              <a:buNone/>
            </a:pPr>
            <a:r>
              <a:rPr lang="en-US" sz="1620" b="1" dirty="0">
                <a:solidFill>
                  <a:srgbClr val="30282E"/>
                </a:solidFill>
                <a:latin typeface="Calibri" pitchFamily="34" charset="0"/>
                <a:ea typeface="Calibri" pitchFamily="34" charset="-122"/>
                <a:cs typeface="Calibri" pitchFamily="34" charset="-120"/>
              </a:rPr>
              <a:t>Private label · Sunlit Peach</a:t>
            </a:r>
            <a:endParaRPr lang="en-US" sz="1620" dirty="0"/>
          </a:p>
        </p:txBody>
      </p:sp>
      <p:sp>
        <p:nvSpPr>
          <p:cNvPr id="18" name="Text 16"/>
          <p:cNvSpPr/>
          <p:nvPr/>
        </p:nvSpPr>
        <p:spPr>
          <a:xfrm>
            <a:off x="694944" y="3328416"/>
            <a:ext cx="2926080" cy="192024"/>
          </a:xfrm>
          <a:prstGeom prst="rect">
            <a:avLst/>
          </a:prstGeom>
          <a:noFill/>
          <a:ln/>
        </p:spPr>
        <p:txBody>
          <a:bodyPr wrap="square" lIns="0" tIns="0" rIns="0" bIns="0" rtlCol="0" anchor="ctr"/>
          <a:lstStyle/>
          <a:p>
            <a:pPr indent="0" marL="0">
              <a:buNone/>
            </a:pPr>
            <a:r>
              <a:rPr lang="en-US" sz="1250" b="1" spc="90" kern="0" dirty="0">
                <a:solidFill>
                  <a:srgbClr val="6D2E46"/>
                </a:solidFill>
                <a:latin typeface="Calibri" pitchFamily="34" charset="0"/>
                <a:ea typeface="Calibri" pitchFamily="34" charset="-122"/>
                <a:cs typeface="Calibri" pitchFamily="34" charset="-120"/>
              </a:rPr>
              <a:t>HC0002</a:t>
            </a:r>
            <a:endParaRPr lang="en-US" sz="1250" dirty="0"/>
          </a:p>
        </p:txBody>
      </p:sp>
      <p:sp>
        <p:nvSpPr>
          <p:cNvPr id="19" name="Text 17"/>
          <p:cNvSpPr/>
          <p:nvPr/>
        </p:nvSpPr>
        <p:spPr>
          <a:xfrm>
            <a:off x="3840480" y="2999232"/>
            <a:ext cx="3886200" cy="484632"/>
          </a:xfrm>
          <a:prstGeom prst="rect">
            <a:avLst/>
          </a:prstGeom>
          <a:noFill/>
          <a:ln/>
        </p:spPr>
        <p:txBody>
          <a:bodyPr wrap="square" lIns="0" tIns="0" rIns="0" bIns="0" rtlCol="0" anchor="ctr"/>
          <a:lstStyle/>
          <a:p>
            <a:pPr indent="0" marL="0">
              <a:buNone/>
            </a:pPr>
            <a:r>
              <a:rPr lang="en-US" sz="1550" dirty="0">
                <a:solidFill>
                  <a:srgbClr val="30282E"/>
                </a:solidFill>
                <a:latin typeface="Calibri" pitchFamily="34" charset="0"/>
                <a:ea typeface="Calibri" pitchFamily="34" charset="-122"/>
                <a:cs typeface="Calibri" pitchFamily="34" charset="-120"/>
              </a:rPr>
              <a:t>In stock · €0 sales / 0 units</a:t>
            </a:r>
            <a:endParaRPr lang="en-US" sz="1550" dirty="0"/>
          </a:p>
          <a:p>
            <a:pPr indent="0" marL="0">
              <a:buNone/>
            </a:pPr>
            <a:r>
              <a:rPr lang="en-US" sz="1550" dirty="0">
                <a:solidFill>
                  <a:srgbClr val="30282E"/>
                </a:solidFill>
                <a:latin typeface="Calibri" pitchFamily="34" charset="0"/>
                <a:ea typeface="Calibri" pitchFamily="34" charset="-122"/>
                <a:cs typeface="Calibri" pitchFamily="34" charset="-120"/>
              </a:rPr>
              <a:t>€64.2k market proxy · +31.0% · Summer</a:t>
            </a:r>
            <a:endParaRPr lang="en-US" sz="1550" dirty="0"/>
          </a:p>
        </p:txBody>
      </p:sp>
      <p:sp>
        <p:nvSpPr>
          <p:cNvPr id="20" name="Text 18"/>
          <p:cNvSpPr/>
          <p:nvPr/>
        </p:nvSpPr>
        <p:spPr>
          <a:xfrm>
            <a:off x="7973568" y="2990088"/>
            <a:ext cx="3493008"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Check listing, feed and season</a:t>
            </a:r>
            <a:endParaRPr lang="en-US" sz="1550" dirty="0"/>
          </a:p>
        </p:txBody>
      </p:sp>
      <p:sp>
        <p:nvSpPr>
          <p:cNvPr id="21" name="Text 19"/>
          <p:cNvSpPr/>
          <p:nvPr/>
        </p:nvSpPr>
        <p:spPr>
          <a:xfrm>
            <a:off x="7973568" y="3300984"/>
            <a:ext cx="3493008" cy="237744"/>
          </a:xfrm>
          <a:prstGeom prst="rect">
            <a:avLst/>
          </a:prstGeom>
          <a:noFill/>
          <a:ln/>
        </p:spPr>
        <p:txBody>
          <a:bodyPr wrap="square" lIns="0" tIns="0" rIns="0" bIns="0" rtlCol="0" anchor="ctr"/>
          <a:lstStyle/>
          <a:p>
            <a:pPr indent="0" marL="0">
              <a:buNone/>
            </a:pPr>
            <a:r>
              <a:rPr lang="en-US" sz="1450" dirty="0">
                <a:solidFill>
                  <a:srgbClr val="6F6268"/>
                </a:solidFill>
                <a:latin typeface="Calibri" pitchFamily="34" charset="0"/>
                <a:ea typeface="Calibri" pitchFamily="34" charset="-122"/>
                <a:cs typeface="Calibri" pitchFamily="34" charset="-120"/>
              </a:rPr>
              <a:t>E-commerce / category ops</a:t>
            </a:r>
            <a:endParaRPr lang="en-US" sz="1450" dirty="0"/>
          </a:p>
        </p:txBody>
      </p:sp>
      <p:sp>
        <p:nvSpPr>
          <p:cNvPr id="22" name="Shape 20"/>
          <p:cNvSpPr/>
          <p:nvPr/>
        </p:nvSpPr>
        <p:spPr>
          <a:xfrm>
            <a:off x="502920" y="3593592"/>
            <a:ext cx="11183112" cy="704088"/>
          </a:xfrm>
          <a:prstGeom prst="rect">
            <a:avLst/>
          </a:prstGeom>
          <a:solidFill>
            <a:srgbClr val="FFFDFA"/>
          </a:solidFill>
          <a:ln w="12700">
            <a:solidFill>
              <a:srgbClr val="FFFDFA">
                <a:alpha val="0"/>
              </a:srgbClr>
            </a:solidFill>
            <a:prstDash val="solid"/>
          </a:ln>
        </p:spPr>
      </p:sp>
      <p:sp>
        <p:nvSpPr>
          <p:cNvPr id="23" name="Text 21"/>
          <p:cNvSpPr/>
          <p:nvPr/>
        </p:nvSpPr>
        <p:spPr>
          <a:xfrm>
            <a:off x="694944" y="3685032"/>
            <a:ext cx="2962656" cy="292608"/>
          </a:xfrm>
          <a:prstGeom prst="rect">
            <a:avLst/>
          </a:prstGeom>
          <a:noFill/>
          <a:ln/>
        </p:spPr>
        <p:txBody>
          <a:bodyPr wrap="square" lIns="0" tIns="0" rIns="0" bIns="0" rtlCol="0" anchor="ctr"/>
          <a:lstStyle/>
          <a:p>
            <a:pPr indent="0" marL="0">
              <a:buNone/>
            </a:pPr>
            <a:r>
              <a:rPr lang="en-US" sz="1620" b="1" dirty="0">
                <a:solidFill>
                  <a:srgbClr val="30282E"/>
                </a:solidFill>
                <a:latin typeface="Calibri" pitchFamily="34" charset="0"/>
                <a:ea typeface="Calibri" pitchFamily="34" charset="-122"/>
                <a:cs typeface="Calibri" pitchFamily="34" charset="-120"/>
              </a:rPr>
              <a:t>Bleach London · White Toner</a:t>
            </a:r>
            <a:endParaRPr lang="en-US" sz="1620" dirty="0"/>
          </a:p>
        </p:txBody>
      </p:sp>
      <p:sp>
        <p:nvSpPr>
          <p:cNvPr id="24" name="Text 22"/>
          <p:cNvSpPr/>
          <p:nvPr/>
        </p:nvSpPr>
        <p:spPr>
          <a:xfrm>
            <a:off x="694944" y="4032504"/>
            <a:ext cx="2926080" cy="192024"/>
          </a:xfrm>
          <a:prstGeom prst="rect">
            <a:avLst/>
          </a:prstGeom>
          <a:noFill/>
          <a:ln/>
        </p:spPr>
        <p:txBody>
          <a:bodyPr wrap="square" lIns="0" tIns="0" rIns="0" bIns="0" rtlCol="0" anchor="ctr"/>
          <a:lstStyle/>
          <a:p>
            <a:pPr indent="0" marL="0">
              <a:buNone/>
            </a:pPr>
            <a:r>
              <a:rPr lang="en-US" sz="1250" b="1" spc="90" kern="0" dirty="0">
                <a:solidFill>
                  <a:srgbClr val="6D2E46"/>
                </a:solidFill>
                <a:latin typeface="Calibri" pitchFamily="34" charset="0"/>
                <a:ea typeface="Calibri" pitchFamily="34" charset="-122"/>
                <a:cs typeface="Calibri" pitchFamily="34" charset="-120"/>
              </a:rPr>
              <a:t>HC0101</a:t>
            </a:r>
            <a:endParaRPr lang="en-US" sz="1250" dirty="0"/>
          </a:p>
        </p:txBody>
      </p:sp>
      <p:sp>
        <p:nvSpPr>
          <p:cNvPr id="25" name="Text 23"/>
          <p:cNvSpPr/>
          <p:nvPr/>
        </p:nvSpPr>
        <p:spPr>
          <a:xfrm>
            <a:off x="3840480" y="3703320"/>
            <a:ext cx="3886200" cy="484632"/>
          </a:xfrm>
          <a:prstGeom prst="rect">
            <a:avLst/>
          </a:prstGeom>
          <a:noFill/>
          <a:ln/>
        </p:spPr>
        <p:txBody>
          <a:bodyPr wrap="square" lIns="0" tIns="0" rIns="0" bIns="0" rtlCol="0" anchor="ctr"/>
          <a:lstStyle/>
          <a:p>
            <a:pPr indent="0" marL="0">
              <a:buNone/>
            </a:pPr>
            <a:r>
              <a:rPr lang="en-US" sz="1550" dirty="0">
                <a:solidFill>
                  <a:srgbClr val="30282E"/>
                </a:solidFill>
                <a:latin typeface="Calibri" pitchFamily="34" charset="0"/>
                <a:ea typeface="Calibri" pitchFamily="34" charset="-122"/>
                <a:cs typeface="Calibri" pitchFamily="34" charset="-120"/>
              </a:rPr>
              <a:t>Inactive · €332.0k market proxy</a:t>
            </a:r>
            <a:endParaRPr lang="en-US" sz="1550" dirty="0"/>
          </a:p>
          <a:p>
            <a:pPr indent="0" marL="0">
              <a:buNone/>
            </a:pPr>
            <a:r>
              <a:rPr lang="en-US" sz="1550" dirty="0">
                <a:solidFill>
                  <a:srgbClr val="30282E"/>
                </a:solidFill>
                <a:latin typeface="Calibri" pitchFamily="34" charset="0"/>
                <a:ea typeface="Calibri" pitchFamily="34" charset="-122"/>
                <a:cs typeface="Calibri" pitchFamily="34" charset="-120"/>
              </a:rPr>
              <a:t>Market trend +17.8% · reason unknown</a:t>
            </a:r>
            <a:endParaRPr lang="en-US" sz="1550" dirty="0"/>
          </a:p>
        </p:txBody>
      </p:sp>
      <p:sp>
        <p:nvSpPr>
          <p:cNvPr id="26" name="Text 24"/>
          <p:cNvSpPr/>
          <p:nvPr/>
        </p:nvSpPr>
        <p:spPr>
          <a:xfrm>
            <a:off x="7973568" y="3694176"/>
            <a:ext cx="3493008"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Understand inactivity first</a:t>
            </a:r>
            <a:endParaRPr lang="en-US" sz="1550" dirty="0"/>
          </a:p>
        </p:txBody>
      </p:sp>
      <p:sp>
        <p:nvSpPr>
          <p:cNvPr id="27" name="Text 25"/>
          <p:cNvSpPr/>
          <p:nvPr/>
        </p:nvSpPr>
        <p:spPr>
          <a:xfrm>
            <a:off x="7973568" y="4005072"/>
            <a:ext cx="3493008" cy="237744"/>
          </a:xfrm>
          <a:prstGeom prst="rect">
            <a:avLst/>
          </a:prstGeom>
          <a:noFill/>
          <a:ln/>
        </p:spPr>
        <p:txBody>
          <a:bodyPr wrap="square" lIns="0" tIns="0" rIns="0" bIns="0" rtlCol="0" anchor="ctr"/>
          <a:lstStyle/>
          <a:p>
            <a:pPr indent="0" marL="0">
              <a:buNone/>
            </a:pPr>
            <a:r>
              <a:rPr lang="en-US" sz="1450" dirty="0">
                <a:solidFill>
                  <a:srgbClr val="6F6268"/>
                </a:solidFill>
                <a:latin typeface="Calibri" pitchFamily="34" charset="0"/>
                <a:ea typeface="Calibri" pitchFamily="34" charset="-122"/>
                <a:cs typeface="Calibri" pitchFamily="34" charset="-120"/>
              </a:rPr>
              <a:t>Category manager</a:t>
            </a:r>
            <a:endParaRPr lang="en-US" sz="1450" dirty="0"/>
          </a:p>
        </p:txBody>
      </p:sp>
      <p:sp>
        <p:nvSpPr>
          <p:cNvPr id="28" name="Shape 26"/>
          <p:cNvSpPr/>
          <p:nvPr/>
        </p:nvSpPr>
        <p:spPr>
          <a:xfrm>
            <a:off x="502920" y="4297680"/>
            <a:ext cx="11183112" cy="704088"/>
          </a:xfrm>
          <a:prstGeom prst="rect">
            <a:avLst/>
          </a:prstGeom>
          <a:solidFill>
            <a:srgbClr val="F0DFE3"/>
          </a:solidFill>
          <a:ln w="12700">
            <a:solidFill>
              <a:srgbClr val="F0DFE3">
                <a:alpha val="0"/>
              </a:srgbClr>
            </a:solidFill>
            <a:prstDash val="solid"/>
          </a:ln>
        </p:spPr>
      </p:sp>
      <p:sp>
        <p:nvSpPr>
          <p:cNvPr id="29" name="Text 27"/>
          <p:cNvSpPr/>
          <p:nvPr/>
        </p:nvSpPr>
        <p:spPr>
          <a:xfrm>
            <a:off x="694944" y="4389120"/>
            <a:ext cx="2962656" cy="292608"/>
          </a:xfrm>
          <a:prstGeom prst="rect">
            <a:avLst/>
          </a:prstGeom>
          <a:noFill/>
          <a:ln/>
        </p:spPr>
        <p:txBody>
          <a:bodyPr wrap="square" lIns="0" tIns="0" rIns="0" bIns="0" rtlCol="0" anchor="ctr"/>
          <a:lstStyle/>
          <a:p>
            <a:pPr indent="0" marL="0">
              <a:buNone/>
            </a:pPr>
            <a:r>
              <a:rPr lang="en-US" sz="1620" b="1" dirty="0">
                <a:solidFill>
                  <a:srgbClr val="30282E"/>
                </a:solidFill>
                <a:latin typeface="Calibri" pitchFamily="34" charset="0"/>
                <a:ea typeface="Calibri" pitchFamily="34" charset="-122"/>
                <a:cs typeface="Calibri" pitchFamily="34" charset="-120"/>
              </a:rPr>
              <a:t>Herbatint · Natural Black</a:t>
            </a:r>
            <a:endParaRPr lang="en-US" sz="1620" dirty="0"/>
          </a:p>
        </p:txBody>
      </p:sp>
      <p:sp>
        <p:nvSpPr>
          <p:cNvPr id="30" name="Text 28"/>
          <p:cNvSpPr/>
          <p:nvPr/>
        </p:nvSpPr>
        <p:spPr>
          <a:xfrm>
            <a:off x="694944" y="4736592"/>
            <a:ext cx="2926080" cy="192024"/>
          </a:xfrm>
          <a:prstGeom prst="rect">
            <a:avLst/>
          </a:prstGeom>
          <a:noFill/>
          <a:ln/>
        </p:spPr>
        <p:txBody>
          <a:bodyPr wrap="square" lIns="0" tIns="0" rIns="0" bIns="0" rtlCol="0" anchor="ctr"/>
          <a:lstStyle/>
          <a:p>
            <a:pPr indent="0" marL="0">
              <a:buNone/>
            </a:pPr>
            <a:r>
              <a:rPr lang="en-US" sz="1250" b="1" spc="90" kern="0" dirty="0">
                <a:solidFill>
                  <a:srgbClr val="6D2E46"/>
                </a:solidFill>
                <a:latin typeface="Calibri" pitchFamily="34" charset="0"/>
                <a:ea typeface="Calibri" pitchFamily="34" charset="-122"/>
                <a:cs typeface="Calibri" pitchFamily="34" charset="-120"/>
              </a:rPr>
              <a:t>HC0024</a:t>
            </a:r>
            <a:endParaRPr lang="en-US" sz="1250" dirty="0"/>
          </a:p>
        </p:txBody>
      </p:sp>
      <p:sp>
        <p:nvSpPr>
          <p:cNvPr id="31" name="Text 29"/>
          <p:cNvSpPr/>
          <p:nvPr/>
        </p:nvSpPr>
        <p:spPr>
          <a:xfrm>
            <a:off x="3840480" y="4407408"/>
            <a:ext cx="3886200" cy="484632"/>
          </a:xfrm>
          <a:prstGeom prst="rect">
            <a:avLst/>
          </a:prstGeom>
          <a:noFill/>
          <a:ln/>
        </p:spPr>
        <p:txBody>
          <a:bodyPr wrap="square" lIns="0" tIns="0" rIns="0" bIns="0" rtlCol="0" anchor="ctr"/>
          <a:lstStyle/>
          <a:p>
            <a:pPr indent="0" marL="0">
              <a:buNone/>
            </a:pPr>
            <a:r>
              <a:rPr lang="en-US" sz="1550" dirty="0">
                <a:solidFill>
                  <a:srgbClr val="30282E"/>
                </a:solidFill>
                <a:latin typeface="Calibri" pitchFamily="34" charset="0"/>
                <a:ea typeface="Calibri" pitchFamily="34" charset="-122"/>
                <a:cs typeface="Calibri" pitchFamily="34" charset="-120"/>
              </a:rPr>
              <a:t>24.6% margin · €30.5k revenue</a:t>
            </a:r>
            <a:endParaRPr lang="en-US" sz="1550" dirty="0"/>
          </a:p>
          <a:p>
            <a:pPr indent="0" marL="0">
              <a:buNone/>
            </a:pPr>
            <a:r>
              <a:rPr lang="en-US" sz="1550" dirty="0">
                <a:solidFill>
                  <a:srgbClr val="30282E"/>
                </a:solidFill>
                <a:latin typeface="Calibri" pitchFamily="34" charset="0"/>
                <a:ea typeface="Calibri" pitchFamily="34" charset="-122"/>
                <a:cs typeface="Calibri" pitchFamily="34" charset="-120"/>
              </a:rPr>
              <a:t>Also out of stock—check supply first</a:t>
            </a:r>
            <a:endParaRPr lang="en-US" sz="1550" dirty="0"/>
          </a:p>
        </p:txBody>
      </p:sp>
      <p:sp>
        <p:nvSpPr>
          <p:cNvPr id="32" name="Text 30"/>
          <p:cNvSpPr/>
          <p:nvPr/>
        </p:nvSpPr>
        <p:spPr>
          <a:xfrm>
            <a:off x="7973568" y="4398264"/>
            <a:ext cx="3493008"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Validate cost / terms and supply</a:t>
            </a:r>
            <a:endParaRPr lang="en-US" sz="1550" dirty="0"/>
          </a:p>
        </p:txBody>
      </p:sp>
      <p:sp>
        <p:nvSpPr>
          <p:cNvPr id="33" name="Text 31"/>
          <p:cNvSpPr/>
          <p:nvPr/>
        </p:nvSpPr>
        <p:spPr>
          <a:xfrm>
            <a:off x="7973568" y="4709160"/>
            <a:ext cx="3493008" cy="237744"/>
          </a:xfrm>
          <a:prstGeom prst="rect">
            <a:avLst/>
          </a:prstGeom>
          <a:noFill/>
          <a:ln/>
        </p:spPr>
        <p:txBody>
          <a:bodyPr wrap="square" lIns="0" tIns="0" rIns="0" bIns="0" rtlCol="0" anchor="ctr"/>
          <a:lstStyle/>
          <a:p>
            <a:pPr indent="0" marL="0">
              <a:buNone/>
            </a:pPr>
            <a:r>
              <a:rPr lang="en-US" sz="1450" dirty="0">
                <a:solidFill>
                  <a:srgbClr val="6F6268"/>
                </a:solidFill>
                <a:latin typeface="Calibri" pitchFamily="34" charset="0"/>
                <a:ea typeface="Calibri" pitchFamily="34" charset="-122"/>
                <a:cs typeface="Calibri" pitchFamily="34" charset="-120"/>
              </a:rPr>
              <a:t>Buyer / commercial finance</a:t>
            </a:r>
            <a:endParaRPr lang="en-US" sz="1450" dirty="0"/>
          </a:p>
        </p:txBody>
      </p:sp>
      <p:sp>
        <p:nvSpPr>
          <p:cNvPr id="34" name="Shape 32"/>
          <p:cNvSpPr/>
          <p:nvPr/>
        </p:nvSpPr>
        <p:spPr>
          <a:xfrm>
            <a:off x="502920" y="5001768"/>
            <a:ext cx="11183112" cy="704088"/>
          </a:xfrm>
          <a:prstGeom prst="rect">
            <a:avLst/>
          </a:prstGeom>
          <a:solidFill>
            <a:srgbClr val="FFFDFA"/>
          </a:solidFill>
          <a:ln w="12700">
            <a:solidFill>
              <a:srgbClr val="FFFDFA">
                <a:alpha val="0"/>
              </a:srgbClr>
            </a:solidFill>
            <a:prstDash val="solid"/>
          </a:ln>
        </p:spPr>
      </p:sp>
      <p:sp>
        <p:nvSpPr>
          <p:cNvPr id="35" name="Text 33"/>
          <p:cNvSpPr/>
          <p:nvPr/>
        </p:nvSpPr>
        <p:spPr>
          <a:xfrm>
            <a:off x="694944" y="5093208"/>
            <a:ext cx="2962656" cy="292608"/>
          </a:xfrm>
          <a:prstGeom prst="rect">
            <a:avLst/>
          </a:prstGeom>
          <a:noFill/>
          <a:ln/>
        </p:spPr>
        <p:txBody>
          <a:bodyPr wrap="square" lIns="0" tIns="0" rIns="0" bIns="0" rtlCol="0" anchor="ctr"/>
          <a:lstStyle/>
          <a:p>
            <a:pPr indent="0" marL="0">
              <a:buNone/>
            </a:pPr>
            <a:r>
              <a:rPr lang="en-US" sz="1620" b="1" dirty="0">
                <a:solidFill>
                  <a:srgbClr val="30282E"/>
                </a:solidFill>
                <a:latin typeface="Calibri" pitchFamily="34" charset="0"/>
                <a:ea typeface="Calibri" pitchFamily="34" charset="-122"/>
                <a:cs typeface="Calibri" pitchFamily="34" charset="-120"/>
              </a:rPr>
              <a:t>Madison Reed · Root Touch Up</a:t>
            </a:r>
            <a:endParaRPr lang="en-US" sz="1620" dirty="0"/>
          </a:p>
        </p:txBody>
      </p:sp>
      <p:sp>
        <p:nvSpPr>
          <p:cNvPr id="36" name="Text 34"/>
          <p:cNvSpPr/>
          <p:nvPr/>
        </p:nvSpPr>
        <p:spPr>
          <a:xfrm>
            <a:off x="694944" y="5440680"/>
            <a:ext cx="2926080" cy="192024"/>
          </a:xfrm>
          <a:prstGeom prst="rect">
            <a:avLst/>
          </a:prstGeom>
          <a:noFill/>
          <a:ln/>
        </p:spPr>
        <p:txBody>
          <a:bodyPr wrap="square" lIns="0" tIns="0" rIns="0" bIns="0" rtlCol="0" anchor="ctr"/>
          <a:lstStyle/>
          <a:p>
            <a:pPr indent="0" marL="0">
              <a:buNone/>
            </a:pPr>
            <a:r>
              <a:rPr lang="en-US" sz="1250" b="1" spc="90" kern="0" dirty="0">
                <a:solidFill>
                  <a:srgbClr val="6D2E46"/>
                </a:solidFill>
                <a:latin typeface="Calibri" pitchFamily="34" charset="0"/>
                <a:ea typeface="Calibri" pitchFamily="34" charset="-122"/>
                <a:cs typeface="Calibri" pitchFamily="34" charset="-120"/>
              </a:rPr>
              <a:t>HC0083</a:t>
            </a:r>
            <a:endParaRPr lang="en-US" sz="1250" dirty="0"/>
          </a:p>
        </p:txBody>
      </p:sp>
      <p:sp>
        <p:nvSpPr>
          <p:cNvPr id="37" name="Text 35"/>
          <p:cNvSpPr/>
          <p:nvPr/>
        </p:nvSpPr>
        <p:spPr>
          <a:xfrm>
            <a:off x="3840480" y="5111496"/>
            <a:ext cx="3886200" cy="484632"/>
          </a:xfrm>
          <a:prstGeom prst="rect">
            <a:avLst/>
          </a:prstGeom>
          <a:noFill/>
          <a:ln/>
        </p:spPr>
        <p:txBody>
          <a:bodyPr wrap="square" lIns="0" tIns="0" rIns="0" bIns="0" rtlCol="0" anchor="ctr"/>
          <a:lstStyle/>
          <a:p>
            <a:pPr indent="0" marL="0">
              <a:buNone/>
            </a:pPr>
            <a:r>
              <a:rPr lang="en-US" sz="1550" dirty="0">
                <a:solidFill>
                  <a:srgbClr val="30282E"/>
                </a:solidFill>
                <a:latin typeface="Calibri" pitchFamily="34" charset="0"/>
                <a:ea typeface="Calibri" pitchFamily="34" charset="-122"/>
                <a:cs typeface="Calibri" pitchFamily="34" charset="-120"/>
              </a:rPr>
              <a:t>In stock · channel / proxy 4.93%</a:t>
            </a:r>
            <a:endParaRPr lang="en-US" sz="1550" dirty="0"/>
          </a:p>
          <a:p>
            <a:pPr indent="0" marL="0">
              <a:buNone/>
            </a:pPr>
            <a:r>
              <a:rPr lang="en-US" sz="1550" dirty="0">
                <a:solidFill>
                  <a:srgbClr val="30282E"/>
                </a:solidFill>
                <a:latin typeface="Calibri" pitchFamily="34" charset="0"/>
                <a:ea typeface="Calibri" pitchFamily="34" charset="-122"/>
                <a:cs typeface="Calibri" pitchFamily="34" charset="-120"/>
              </a:rPr>
              <a:t>Peer ratio 7.33%—comparison, not share</a:t>
            </a:r>
            <a:endParaRPr lang="en-US" sz="1550" dirty="0"/>
          </a:p>
        </p:txBody>
      </p:sp>
      <p:sp>
        <p:nvSpPr>
          <p:cNvPr id="38" name="Text 36"/>
          <p:cNvSpPr/>
          <p:nvPr/>
        </p:nvSpPr>
        <p:spPr>
          <a:xfrm>
            <a:off x="7973568" y="5102352"/>
            <a:ext cx="3493008"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Small test with baseline / control</a:t>
            </a:r>
            <a:endParaRPr lang="en-US" sz="1550" dirty="0"/>
          </a:p>
        </p:txBody>
      </p:sp>
      <p:sp>
        <p:nvSpPr>
          <p:cNvPr id="39" name="Text 37"/>
          <p:cNvSpPr/>
          <p:nvPr/>
        </p:nvSpPr>
        <p:spPr>
          <a:xfrm>
            <a:off x="7973568" y="5413248"/>
            <a:ext cx="3493008" cy="237744"/>
          </a:xfrm>
          <a:prstGeom prst="rect">
            <a:avLst/>
          </a:prstGeom>
          <a:noFill/>
          <a:ln/>
        </p:spPr>
        <p:txBody>
          <a:bodyPr wrap="square" lIns="0" tIns="0" rIns="0" bIns="0" rtlCol="0" anchor="ctr"/>
          <a:lstStyle/>
          <a:p>
            <a:pPr indent="0" marL="0">
              <a:buNone/>
            </a:pPr>
            <a:r>
              <a:rPr lang="en-US" sz="1450" dirty="0">
                <a:solidFill>
                  <a:srgbClr val="6F6268"/>
                </a:solidFill>
                <a:latin typeface="Calibri" pitchFamily="34" charset="0"/>
                <a:ea typeface="Calibri" pitchFamily="34" charset="-122"/>
                <a:cs typeface="Calibri" pitchFamily="34" charset="-120"/>
              </a:rPr>
              <a:t>Category / merchandising</a:t>
            </a:r>
            <a:endParaRPr lang="en-US" sz="1450" dirty="0"/>
          </a:p>
        </p:txBody>
      </p:sp>
      <p:sp>
        <p:nvSpPr>
          <p:cNvPr id="40" name="Text 38"/>
          <p:cNvSpPr/>
          <p:nvPr/>
        </p:nvSpPr>
        <p:spPr>
          <a:xfrm>
            <a:off x="502920" y="5897880"/>
            <a:ext cx="11064240" cy="201168"/>
          </a:xfrm>
          <a:prstGeom prst="rect">
            <a:avLst/>
          </a:prstGeom>
          <a:noFill/>
          <a:ln/>
        </p:spPr>
        <p:txBody>
          <a:bodyPr wrap="square" lIns="0" tIns="0" rIns="0" bIns="0" rtlCol="0" anchor="ctr"/>
          <a:lstStyle/>
          <a:p>
            <a:pPr indent="0" marL="0">
              <a:buNone/>
            </a:pPr>
            <a:r>
              <a:rPr lang="en-US" sz="1200" dirty="0">
                <a:solidFill>
                  <a:srgbClr val="6F6268"/>
                </a:solidFill>
                <a:latin typeface="Calibri" pitchFamily="34" charset="0"/>
                <a:ea typeface="Calibri" pitchFamily="34" charset="-122"/>
                <a:cs typeface="Calibri" pitchFamily="34" charset="-120"/>
              </a:rPr>
              <a:t>Market figures are demand proxies. Inactivity reasons and stock duration remain unknown.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 review.json · summary and primary-action SKU scenarios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06 / 10</a:t>
            </a:r>
            <a:endParaRPr lang="en-US" sz="1050" dirty="0"/>
          </a:p>
        </p:txBody>
      </p:sp>
      <p:sp>
        <p:nvSpPr>
          <p:cNvPr id="4" name="Text 2"/>
          <p:cNvSpPr/>
          <p:nvPr/>
        </p:nvSpPr>
        <p:spPr>
          <a:xfrm>
            <a:off x="502920" y="457200"/>
            <a:ext cx="9601200" cy="173736"/>
          </a:xfrm>
          <a:prstGeom prst="rect">
            <a:avLst/>
          </a:prstGeom>
          <a:noFill/>
          <a:ln/>
        </p:spPr>
        <p:txBody>
          <a:bodyPr wrap="square" lIns="0" tIns="0" rIns="0" bIns="0" rtlCol="0" anchor="ctr"/>
          <a:lstStyle/>
          <a:p>
            <a:pPr indent="0" marL="0">
              <a:buNone/>
            </a:pPr>
            <a:r>
              <a:rPr lang="en-US" sz="1050" b="1" spc="130" kern="0" dirty="0">
                <a:solidFill>
                  <a:srgbClr val="6D2E46"/>
                </a:solidFill>
                <a:latin typeface="Calibri" pitchFamily="34" charset="0"/>
                <a:ea typeface="Calibri" pitchFamily="34" charset="-122"/>
                <a:cs typeface="Calibri" pitchFamily="34" charset="-120"/>
              </a:rPr>
              <a:t>ZENBEAUTY RETAIL  /  CATEGORY REVIEW</a:t>
            </a:r>
            <a:endParaRPr lang="en-US" sz="1050" dirty="0"/>
          </a:p>
        </p:txBody>
      </p:sp>
      <p:sp>
        <p:nvSpPr>
          <p:cNvPr id="5" name="Text 3"/>
          <p:cNvSpPr/>
          <p:nvPr/>
        </p:nvSpPr>
        <p:spPr>
          <a:xfrm>
            <a:off x="502920" y="813816"/>
            <a:ext cx="11183112" cy="603504"/>
          </a:xfrm>
          <a:prstGeom prst="rect">
            <a:avLst/>
          </a:prstGeom>
          <a:noFill/>
          <a:ln/>
        </p:spPr>
        <p:txBody>
          <a:bodyPr wrap="square" lIns="0" tIns="0" rIns="0" bIns="0" rtlCol="0" anchor="ctr"/>
          <a:lstStyle/>
          <a:p>
            <a:pPr indent="0" marL="0">
              <a:buNone/>
            </a:pPr>
            <a:r>
              <a:rPr lang="en-US" sz="3200" dirty="0">
                <a:solidFill>
                  <a:srgbClr val="30282E"/>
                </a:solidFill>
                <a:latin typeface="Georgia" pitchFamily="34" charset="0"/>
                <a:ea typeface="Georgia" pitchFamily="34" charset="-122"/>
                <a:cs typeface="Georgia" pitchFamily="34" charset="-120"/>
              </a:rPr>
              <a:t>Financial scenarios guide questions, not promises</a:t>
            </a:r>
            <a:endParaRPr lang="en-US" sz="3200" dirty="0"/>
          </a:p>
        </p:txBody>
      </p:sp>
      <p:sp>
        <p:nvSpPr>
          <p:cNvPr id="6" name="Text 4"/>
          <p:cNvSpPr/>
          <p:nvPr/>
        </p:nvSpPr>
        <p:spPr>
          <a:xfrm>
            <a:off x="502920" y="1527048"/>
            <a:ext cx="11091672" cy="365760"/>
          </a:xfrm>
          <a:prstGeom prst="rect">
            <a:avLst/>
          </a:prstGeom>
          <a:noFill/>
          <a:ln/>
        </p:spPr>
        <p:txBody>
          <a:bodyPr wrap="square" lIns="0" tIns="0" rIns="0" bIns="0" rtlCol="0" anchor="ctr"/>
          <a:lstStyle/>
          <a:p>
            <a:pPr indent="0" marL="0">
              <a:buNone/>
            </a:pPr>
            <a:r>
              <a:rPr lang="en-US" sz="1750" dirty="0">
                <a:solidFill>
                  <a:srgbClr val="6F6268"/>
                </a:solidFill>
                <a:latin typeface="Calibri" pitchFamily="34" charset="0"/>
                <a:ea typeface="Calibri" pitchFamily="34" charset="-122"/>
                <a:cs typeface="Calibri" pitchFamily="34" charset="-120"/>
              </a:rPr>
              <a:t>Supplied 12-week window · all primary-action SKU cases, not just the five decisions.</a:t>
            </a:r>
            <a:endParaRPr lang="en-US" sz="1750" dirty="0"/>
          </a:p>
        </p:txBody>
      </p:sp>
      <p:sp>
        <p:nvSpPr>
          <p:cNvPr id="7" name="Shape 5"/>
          <p:cNvSpPr/>
          <p:nvPr/>
        </p:nvSpPr>
        <p:spPr>
          <a:xfrm>
            <a:off x="502920" y="2057400"/>
            <a:ext cx="11183112" cy="429768"/>
          </a:xfrm>
          <a:prstGeom prst="roundRect">
            <a:avLst>
              <a:gd name="adj" fmla="val 25532"/>
            </a:avLst>
          </a:prstGeom>
          <a:solidFill>
            <a:srgbClr val="6D2E46"/>
          </a:solidFill>
          <a:ln w="12700">
            <a:solidFill>
              <a:srgbClr val="6D2E46">
                <a:alpha val="0"/>
              </a:srgbClr>
            </a:solidFill>
            <a:prstDash val="solid"/>
          </a:ln>
        </p:spPr>
      </p:sp>
      <p:sp>
        <p:nvSpPr>
          <p:cNvPr id="8" name="Text 6"/>
          <p:cNvSpPr/>
          <p:nvPr/>
        </p:nvSpPr>
        <p:spPr>
          <a:xfrm>
            <a:off x="704088" y="2148840"/>
            <a:ext cx="10780776" cy="228600"/>
          </a:xfrm>
          <a:prstGeom prst="rect">
            <a:avLst/>
          </a:prstGeom>
          <a:noFill/>
          <a:ln/>
        </p:spPr>
        <p:txBody>
          <a:bodyPr wrap="square" lIns="0" tIns="0" rIns="0" bIns="0" rtlCol="0" anchor="ctr"/>
          <a:lstStyle/>
          <a:p>
            <a:pPr algn="ctr" indent="0" marL="0">
              <a:buNone/>
            </a:pPr>
            <a:r>
              <a:rPr lang="en-US" sz="1550" b="1" spc="110" kern="0" dirty="0">
                <a:solidFill>
                  <a:srgbClr val="FAF6EF"/>
                </a:solidFill>
                <a:latin typeface="Calibri" pitchFamily="34" charset="0"/>
                <a:ea typeface="Calibri" pitchFamily="34" charset="-122"/>
                <a:cs typeface="Calibri" pitchFamily="34" charset="-120"/>
              </a:rPr>
              <a:t>NO REALISED BENEFIT MEASURED</a:t>
            </a:r>
            <a:endParaRPr lang="en-US" sz="1550" dirty="0"/>
          </a:p>
        </p:txBody>
      </p:sp>
      <p:sp>
        <p:nvSpPr>
          <p:cNvPr id="9" name="Shape 7"/>
          <p:cNvSpPr/>
          <p:nvPr/>
        </p:nvSpPr>
        <p:spPr>
          <a:xfrm>
            <a:off x="502920" y="2752344"/>
            <a:ext cx="5440680" cy="2441448"/>
          </a:xfrm>
          <a:prstGeom prst="roundRect">
            <a:avLst>
              <a:gd name="adj" fmla="val 4494"/>
            </a:avLst>
          </a:prstGeom>
          <a:solidFill>
            <a:srgbClr val="FFFDFA"/>
          </a:solidFill>
          <a:ln w="12700">
            <a:solidFill>
              <a:srgbClr val="FFFDFA">
                <a:alpha val="0"/>
              </a:srgbClr>
            </a:solidFill>
            <a:prstDash val="solid"/>
          </a:ln>
        </p:spPr>
      </p:sp>
      <p:sp>
        <p:nvSpPr>
          <p:cNvPr id="10" name="Text 8"/>
          <p:cNvSpPr/>
          <p:nvPr/>
        </p:nvSpPr>
        <p:spPr>
          <a:xfrm>
            <a:off x="740664" y="2999232"/>
            <a:ext cx="4965192" cy="301752"/>
          </a:xfrm>
          <a:prstGeom prst="rect">
            <a:avLst/>
          </a:prstGeom>
          <a:noFill/>
          <a:ln/>
        </p:spPr>
        <p:txBody>
          <a:bodyPr wrap="square" lIns="0" tIns="0" rIns="0" bIns="0" rtlCol="0" anchor="ctr"/>
          <a:lstStyle/>
          <a:p>
            <a:pPr indent="0" marL="0">
              <a:buNone/>
            </a:pPr>
            <a:r>
              <a:rPr lang="en-US" sz="1800" b="1" dirty="0">
                <a:solidFill>
                  <a:srgbClr val="30282E"/>
                </a:solidFill>
                <a:latin typeface="Calibri" pitchFamily="34" charset="0"/>
                <a:ea typeface="Calibri" pitchFamily="34" charset="-122"/>
                <a:cs typeface="Calibri" pitchFamily="34" charset="-120"/>
              </a:rPr>
              <a:t>Revenue benchmark-distance scenario</a:t>
            </a:r>
            <a:endParaRPr lang="en-US" sz="1800" dirty="0"/>
          </a:p>
        </p:txBody>
      </p:sp>
      <p:sp>
        <p:nvSpPr>
          <p:cNvPr id="11" name="Text 9"/>
          <p:cNvSpPr/>
          <p:nvPr/>
        </p:nvSpPr>
        <p:spPr>
          <a:xfrm>
            <a:off x="722376" y="3456432"/>
            <a:ext cx="4937760" cy="731520"/>
          </a:xfrm>
          <a:prstGeom prst="rect">
            <a:avLst/>
          </a:prstGeom>
          <a:noFill/>
          <a:ln/>
        </p:spPr>
        <p:txBody>
          <a:bodyPr wrap="square" lIns="0" tIns="0" rIns="0" bIns="0" rtlCol="0" anchor="ctr"/>
          <a:lstStyle/>
          <a:p>
            <a:pPr indent="0" marL="0">
              <a:buNone/>
            </a:pPr>
            <a:r>
              <a:rPr lang="en-US" sz="5800" dirty="0">
                <a:solidFill>
                  <a:srgbClr val="6D2E46"/>
                </a:solidFill>
                <a:latin typeface="Georgia" pitchFamily="34" charset="0"/>
                <a:ea typeface="Georgia" pitchFamily="34" charset="-122"/>
                <a:cs typeface="Georgia" pitchFamily="34" charset="-120"/>
              </a:rPr>
              <a:t>€93k</a:t>
            </a:r>
            <a:endParaRPr lang="en-US" sz="5800" dirty="0"/>
          </a:p>
        </p:txBody>
      </p:sp>
      <p:sp>
        <p:nvSpPr>
          <p:cNvPr id="12" name="Text 10"/>
          <p:cNvSpPr/>
          <p:nvPr/>
        </p:nvSpPr>
        <p:spPr>
          <a:xfrm>
            <a:off x="740664" y="4315968"/>
            <a:ext cx="4937760" cy="539496"/>
          </a:xfrm>
          <a:prstGeom prst="rect">
            <a:avLst/>
          </a:prstGeom>
          <a:noFill/>
          <a:ln/>
        </p:spPr>
        <p:txBody>
          <a:bodyPr wrap="square" lIns="0" tIns="0" rIns="0" bIns="0" rtlCol="0" anchor="ctr"/>
          <a:lstStyle/>
          <a:p>
            <a:pPr indent="0" marL="0">
              <a:buNone/>
            </a:pPr>
            <a:r>
              <a:rPr lang="en-US" sz="1800" dirty="0">
                <a:solidFill>
                  <a:srgbClr val="30282E"/>
                </a:solidFill>
                <a:latin typeface="Calibri" pitchFamily="34" charset="0"/>
                <a:ea typeface="Calibri" pitchFamily="34" charset="-122"/>
                <a:cs typeface="Calibri" pitchFamily="34" charset="-120"/>
              </a:rPr>
              <a:t>Distance to a typical peer ratio</a:t>
            </a:r>
            <a:endParaRPr lang="en-US" sz="1800" dirty="0"/>
          </a:p>
          <a:p>
            <a:pPr indent="0" marL="0">
              <a:buNone/>
            </a:pPr>
            <a:r>
              <a:rPr lang="en-US" sz="1800" dirty="0">
                <a:solidFill>
                  <a:srgbClr val="30282E"/>
                </a:solidFill>
                <a:latin typeface="Calibri" pitchFamily="34" charset="0"/>
                <a:ea typeface="Calibri" pitchFamily="34" charset="-122"/>
                <a:cs typeface="Calibri" pitchFamily="34" charset="-120"/>
              </a:rPr>
              <a:t>in the same subcategory.</a:t>
            </a:r>
            <a:endParaRPr lang="en-US" sz="1800" dirty="0"/>
          </a:p>
        </p:txBody>
      </p:sp>
      <p:sp>
        <p:nvSpPr>
          <p:cNvPr id="13" name="Text 11"/>
          <p:cNvSpPr/>
          <p:nvPr/>
        </p:nvSpPr>
        <p:spPr>
          <a:xfrm>
            <a:off x="740664" y="4882896"/>
            <a:ext cx="4937760" cy="201168"/>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Not a sales forecast.</a:t>
            </a:r>
            <a:endParaRPr lang="en-US" sz="1550" dirty="0"/>
          </a:p>
        </p:txBody>
      </p:sp>
      <p:sp>
        <p:nvSpPr>
          <p:cNvPr id="14" name="Shape 12"/>
          <p:cNvSpPr/>
          <p:nvPr/>
        </p:nvSpPr>
        <p:spPr>
          <a:xfrm>
            <a:off x="6245352" y="2752344"/>
            <a:ext cx="5440680" cy="2441448"/>
          </a:xfrm>
          <a:prstGeom prst="roundRect">
            <a:avLst>
              <a:gd name="adj" fmla="val 4494"/>
            </a:avLst>
          </a:prstGeom>
          <a:solidFill>
            <a:srgbClr val="FFFDFA"/>
          </a:solidFill>
          <a:ln w="12700">
            <a:solidFill>
              <a:srgbClr val="FFFDFA">
                <a:alpha val="0"/>
              </a:srgbClr>
            </a:solidFill>
            <a:prstDash val="solid"/>
          </a:ln>
        </p:spPr>
      </p:sp>
      <p:sp>
        <p:nvSpPr>
          <p:cNvPr id="15" name="Text 13"/>
          <p:cNvSpPr/>
          <p:nvPr/>
        </p:nvSpPr>
        <p:spPr>
          <a:xfrm>
            <a:off x="6483096" y="2999232"/>
            <a:ext cx="4965192" cy="301752"/>
          </a:xfrm>
          <a:prstGeom prst="rect">
            <a:avLst/>
          </a:prstGeom>
          <a:noFill/>
          <a:ln/>
        </p:spPr>
        <p:txBody>
          <a:bodyPr wrap="square" lIns="0" tIns="0" rIns="0" bIns="0" rtlCol="0" anchor="ctr"/>
          <a:lstStyle/>
          <a:p>
            <a:pPr indent="0" marL="0">
              <a:buNone/>
            </a:pPr>
            <a:r>
              <a:rPr lang="en-US" sz="1800" b="1" dirty="0">
                <a:solidFill>
                  <a:srgbClr val="30282E"/>
                </a:solidFill>
                <a:latin typeface="Calibri" pitchFamily="34" charset="0"/>
                <a:ea typeface="Calibri" pitchFamily="34" charset="-122"/>
                <a:cs typeface="Calibri" pitchFamily="34" charset="-120"/>
              </a:rPr>
              <a:t>Gross-profit benchmark scenario</a:t>
            </a:r>
            <a:endParaRPr lang="en-US" sz="1800" dirty="0"/>
          </a:p>
        </p:txBody>
      </p:sp>
      <p:sp>
        <p:nvSpPr>
          <p:cNvPr id="16" name="Text 14"/>
          <p:cNvSpPr/>
          <p:nvPr/>
        </p:nvSpPr>
        <p:spPr>
          <a:xfrm>
            <a:off x="6464808" y="3456432"/>
            <a:ext cx="4937760" cy="731520"/>
          </a:xfrm>
          <a:prstGeom prst="rect">
            <a:avLst/>
          </a:prstGeom>
          <a:noFill/>
          <a:ln/>
        </p:spPr>
        <p:txBody>
          <a:bodyPr wrap="square" lIns="0" tIns="0" rIns="0" bIns="0" rtlCol="0" anchor="ctr"/>
          <a:lstStyle/>
          <a:p>
            <a:pPr indent="0" marL="0">
              <a:buNone/>
            </a:pPr>
            <a:r>
              <a:rPr lang="en-US" sz="5800" dirty="0">
                <a:solidFill>
                  <a:srgbClr val="6D2E46"/>
                </a:solidFill>
                <a:latin typeface="Georgia" pitchFamily="34" charset="0"/>
                <a:ea typeface="Georgia" pitchFamily="34" charset="-122"/>
                <a:cs typeface="Georgia" pitchFamily="34" charset="-120"/>
              </a:rPr>
              <a:t>€24.9k</a:t>
            </a:r>
            <a:endParaRPr lang="en-US" sz="5800" dirty="0"/>
          </a:p>
        </p:txBody>
      </p:sp>
      <p:sp>
        <p:nvSpPr>
          <p:cNvPr id="17" name="Text 15"/>
          <p:cNvSpPr/>
          <p:nvPr/>
        </p:nvSpPr>
        <p:spPr>
          <a:xfrm>
            <a:off x="6483096" y="4315968"/>
            <a:ext cx="4937760" cy="539496"/>
          </a:xfrm>
          <a:prstGeom prst="rect">
            <a:avLst/>
          </a:prstGeom>
          <a:noFill/>
          <a:ln/>
        </p:spPr>
        <p:txBody>
          <a:bodyPr wrap="square" lIns="0" tIns="0" rIns="0" bIns="0" rtlCol="0" anchor="ctr"/>
          <a:lstStyle/>
          <a:p>
            <a:pPr indent="0" marL="0">
              <a:buNone/>
            </a:pPr>
            <a:r>
              <a:rPr lang="en-US" sz="1800" dirty="0">
                <a:solidFill>
                  <a:srgbClr val="30282E"/>
                </a:solidFill>
                <a:latin typeface="Calibri" pitchFamily="34" charset="0"/>
                <a:ea typeface="Calibri" pitchFamily="34" charset="-122"/>
                <a:cs typeface="Calibri" pitchFamily="34" charset="-120"/>
              </a:rPr>
              <a:t>Current revenue held constant;</a:t>
            </a:r>
            <a:endParaRPr lang="en-US" sz="1800" dirty="0"/>
          </a:p>
          <a:p>
            <a:pPr indent="0" marL="0">
              <a:buNone/>
            </a:pPr>
            <a:r>
              <a:rPr lang="en-US" sz="1800" dirty="0">
                <a:solidFill>
                  <a:srgbClr val="30282E"/>
                </a:solidFill>
                <a:latin typeface="Calibri" pitchFamily="34" charset="0"/>
                <a:ea typeface="Calibri" pitchFamily="34" charset="-122"/>
                <a:cs typeface="Calibri" pitchFamily="34" charset="-120"/>
              </a:rPr>
              <a:t>margin moved to the peer median.</a:t>
            </a:r>
            <a:endParaRPr lang="en-US" sz="1800" dirty="0"/>
          </a:p>
        </p:txBody>
      </p:sp>
      <p:sp>
        <p:nvSpPr>
          <p:cNvPr id="18" name="Text 16"/>
          <p:cNvSpPr/>
          <p:nvPr/>
        </p:nvSpPr>
        <p:spPr>
          <a:xfrm>
            <a:off x="6483096" y="4882896"/>
            <a:ext cx="4937760" cy="201168"/>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Not additional revenue or net profit.</a:t>
            </a:r>
            <a:endParaRPr lang="en-US" sz="1550" dirty="0"/>
          </a:p>
        </p:txBody>
      </p:sp>
      <p:sp>
        <p:nvSpPr>
          <p:cNvPr id="19" name="Text 17"/>
          <p:cNvSpPr/>
          <p:nvPr/>
        </p:nvSpPr>
        <p:spPr>
          <a:xfrm>
            <a:off x="502920" y="5468112"/>
            <a:ext cx="11155680" cy="329184"/>
          </a:xfrm>
          <a:prstGeom prst="rect">
            <a:avLst/>
          </a:prstGeom>
          <a:noFill/>
          <a:ln/>
        </p:spPr>
        <p:txBody>
          <a:bodyPr wrap="square" lIns="0" tIns="0" rIns="0" bIns="0" rtlCol="0" anchor="ctr"/>
          <a:lstStyle/>
          <a:p>
            <a:pPr indent="0" marL="0">
              <a:buNone/>
            </a:pPr>
            <a:r>
              <a:rPr lang="en-US" sz="2300" dirty="0">
                <a:solidFill>
                  <a:srgbClr val="30282E"/>
                </a:solidFill>
                <a:latin typeface="Georgia" pitchFamily="34" charset="0"/>
                <a:ea typeface="Georgia" pitchFamily="34" charset="-122"/>
                <a:cs typeface="Georgia" pitchFamily="34" charset="-120"/>
              </a:rPr>
              <a:t>Separate measures. Do not add them. No annualisation.</a:t>
            </a:r>
            <a:endParaRPr lang="en-US" sz="2300" dirty="0"/>
          </a:p>
        </p:txBody>
      </p:sp>
      <p:sp>
        <p:nvSpPr>
          <p:cNvPr id="20" name="Text 18"/>
          <p:cNvSpPr/>
          <p:nvPr/>
        </p:nvSpPr>
        <p:spPr>
          <a:xfrm>
            <a:off x="502920" y="5907024"/>
            <a:ext cx="11155680" cy="201168"/>
          </a:xfrm>
          <a:prstGeom prst="rect">
            <a:avLst/>
          </a:prstGeom>
          <a:noFill/>
          <a:ln/>
        </p:spPr>
        <p:txBody>
          <a:bodyPr wrap="square" lIns="0" tIns="0" rIns="0" bIns="0" rtlCol="0" anchor="ctr"/>
          <a:lstStyle/>
          <a:p>
            <a:pPr indent="0" marL="0">
              <a:buNone/>
            </a:pPr>
            <a:r>
              <a:rPr lang="en-US" sz="1350" dirty="0">
                <a:solidFill>
                  <a:srgbClr val="6F6268"/>
                </a:solidFill>
                <a:latin typeface="Calibri" pitchFamily="34" charset="0"/>
                <a:ea typeface="Calibri" pitchFamily="34" charset="-122"/>
                <a:cs typeface="Calibri" pitchFamily="34" charset="-120"/>
              </a:rPr>
              <a:t>Not guarantees or upper bounds. Costs, elasticity and cannibalisation are not modelled; period end unknown.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 review.json · proposed owners and success measures; README workflow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07 / 10</a:t>
            </a:r>
            <a:endParaRPr lang="en-US" sz="1050" dirty="0"/>
          </a:p>
        </p:txBody>
      </p:sp>
      <p:sp>
        <p:nvSpPr>
          <p:cNvPr id="4" name="Text 2"/>
          <p:cNvSpPr/>
          <p:nvPr/>
        </p:nvSpPr>
        <p:spPr>
          <a:xfrm>
            <a:off x="502920" y="457200"/>
            <a:ext cx="9601200" cy="173736"/>
          </a:xfrm>
          <a:prstGeom prst="rect">
            <a:avLst/>
          </a:prstGeom>
          <a:noFill/>
          <a:ln/>
        </p:spPr>
        <p:txBody>
          <a:bodyPr wrap="square" lIns="0" tIns="0" rIns="0" bIns="0" rtlCol="0" anchor="ctr"/>
          <a:lstStyle/>
          <a:p>
            <a:pPr indent="0" marL="0">
              <a:buNone/>
            </a:pPr>
            <a:r>
              <a:rPr lang="en-US" sz="1050" b="1" spc="130" kern="0" dirty="0">
                <a:solidFill>
                  <a:srgbClr val="6D2E46"/>
                </a:solidFill>
                <a:latin typeface="Calibri" pitchFamily="34" charset="0"/>
                <a:ea typeface="Calibri" pitchFamily="34" charset="-122"/>
                <a:cs typeface="Calibri" pitchFamily="34" charset="-120"/>
              </a:rPr>
              <a:t>ZENBEAUTY RETAIL  /  CATEGORY REVIEW</a:t>
            </a:r>
            <a:endParaRPr lang="en-US" sz="1050" dirty="0"/>
          </a:p>
        </p:txBody>
      </p:sp>
      <p:sp>
        <p:nvSpPr>
          <p:cNvPr id="5" name="Text 3"/>
          <p:cNvSpPr/>
          <p:nvPr/>
        </p:nvSpPr>
        <p:spPr>
          <a:xfrm>
            <a:off x="502920" y="813816"/>
            <a:ext cx="11183112" cy="603504"/>
          </a:xfrm>
          <a:prstGeom prst="rect">
            <a:avLst/>
          </a:prstGeom>
          <a:noFill/>
          <a:ln/>
        </p:spPr>
        <p:txBody>
          <a:bodyPr wrap="square" lIns="0" tIns="0" rIns="0" bIns="0" rtlCol="0" anchor="ctr"/>
          <a:lstStyle/>
          <a:p>
            <a:pPr indent="0" marL="0">
              <a:buNone/>
            </a:pPr>
            <a:r>
              <a:rPr lang="en-US" sz="3400" dirty="0">
                <a:solidFill>
                  <a:srgbClr val="30282E"/>
                </a:solidFill>
                <a:latin typeface="Georgia" pitchFamily="34" charset="0"/>
                <a:ea typeface="Georgia" pitchFamily="34" charset="-122"/>
                <a:cs typeface="Georgia" pitchFamily="34" charset="-120"/>
              </a:rPr>
              <a:t>What changes for stakeholders</a:t>
            </a:r>
            <a:endParaRPr lang="en-US" sz="3400" dirty="0"/>
          </a:p>
        </p:txBody>
      </p:sp>
      <p:sp>
        <p:nvSpPr>
          <p:cNvPr id="6" name="Text 4"/>
          <p:cNvSpPr/>
          <p:nvPr/>
        </p:nvSpPr>
        <p:spPr>
          <a:xfrm>
            <a:off x="502920" y="1527048"/>
            <a:ext cx="11091672" cy="365760"/>
          </a:xfrm>
          <a:prstGeom prst="rect">
            <a:avLst/>
          </a:prstGeom>
          <a:noFill/>
          <a:ln/>
        </p:spPr>
        <p:txBody>
          <a:bodyPr wrap="square" lIns="0" tIns="0" rIns="0" bIns="0" rtlCol="0" anchor="ctr"/>
          <a:lstStyle/>
          <a:p>
            <a:pPr indent="0" marL="0">
              <a:buNone/>
            </a:pPr>
            <a:r>
              <a:rPr lang="en-US" sz="1750" dirty="0">
                <a:solidFill>
                  <a:srgbClr val="6F6268"/>
                </a:solidFill>
                <a:latin typeface="Calibri" pitchFamily="34" charset="0"/>
                <a:ea typeface="Calibri" pitchFamily="34" charset="-122"/>
                <a:cs typeface="Calibri" pitchFamily="34" charset="-120"/>
              </a:rPr>
              <a:t>Traceability and accountability are built in. Commercial outcomes still need testing.</a:t>
            </a:r>
            <a:endParaRPr lang="en-US" sz="1750" dirty="0"/>
          </a:p>
        </p:txBody>
      </p:sp>
      <p:sp>
        <p:nvSpPr>
          <p:cNvPr id="7" name="Shape 5"/>
          <p:cNvSpPr/>
          <p:nvPr/>
        </p:nvSpPr>
        <p:spPr>
          <a:xfrm>
            <a:off x="502920" y="2148840"/>
            <a:ext cx="3090672" cy="3584448"/>
          </a:xfrm>
          <a:prstGeom prst="roundRect">
            <a:avLst>
              <a:gd name="adj" fmla="val 3550"/>
            </a:avLst>
          </a:prstGeom>
          <a:solidFill>
            <a:srgbClr val="6D2E46"/>
          </a:solidFill>
          <a:ln w="12700">
            <a:solidFill>
              <a:srgbClr val="6D2E46">
                <a:alpha val="0"/>
              </a:srgbClr>
            </a:solidFill>
            <a:prstDash val="solid"/>
          </a:ln>
        </p:spPr>
      </p:sp>
      <p:sp>
        <p:nvSpPr>
          <p:cNvPr id="8" name="Text 6"/>
          <p:cNvSpPr/>
          <p:nvPr/>
        </p:nvSpPr>
        <p:spPr>
          <a:xfrm>
            <a:off x="777240" y="2423160"/>
            <a:ext cx="2560320" cy="365760"/>
          </a:xfrm>
          <a:prstGeom prst="rect">
            <a:avLst/>
          </a:prstGeom>
          <a:noFill/>
          <a:ln/>
        </p:spPr>
        <p:txBody>
          <a:bodyPr wrap="square" lIns="0" tIns="0" rIns="0" bIns="0" rtlCol="0" anchor="ctr"/>
          <a:lstStyle/>
          <a:p>
            <a:pPr indent="0" marL="0">
              <a:buNone/>
            </a:pPr>
            <a:r>
              <a:rPr lang="en-US" sz="2900" dirty="0">
                <a:solidFill>
                  <a:srgbClr val="FAF6EF"/>
                </a:solidFill>
                <a:latin typeface="Georgia" pitchFamily="34" charset="0"/>
                <a:ea typeface="Georgia" pitchFamily="34" charset="-122"/>
                <a:cs typeface="Georgia" pitchFamily="34" charset="-120"/>
              </a:rPr>
              <a:t>Before</a:t>
            </a:r>
            <a:endParaRPr lang="en-US" sz="2900" dirty="0"/>
          </a:p>
        </p:txBody>
      </p:sp>
      <p:sp>
        <p:nvSpPr>
          <p:cNvPr id="9" name="Text 7"/>
          <p:cNvSpPr/>
          <p:nvPr/>
        </p:nvSpPr>
        <p:spPr>
          <a:xfrm>
            <a:off x="777240" y="3072384"/>
            <a:ext cx="2532888" cy="1865376"/>
          </a:xfrm>
          <a:prstGeom prst="rect">
            <a:avLst/>
          </a:prstGeom>
          <a:noFill/>
          <a:ln/>
        </p:spPr>
        <p:txBody>
          <a:bodyPr wrap="square" lIns="0" tIns="0" rIns="0" bIns="0" rtlCol="0" anchor="t"/>
          <a:lstStyle/>
          <a:p>
            <a:pPr indent="0" marL="0">
              <a:buNone/>
            </a:pPr>
            <a:r>
              <a:rPr lang="en-US" sz="2300" dirty="0">
                <a:solidFill>
                  <a:srgbClr val="FAF6EF"/>
                </a:solidFill>
                <a:latin typeface="Calibri" pitchFamily="34" charset="0"/>
                <a:ea typeface="Calibri" pitchFamily="34" charset="-122"/>
                <a:cs typeface="Calibri" pitchFamily="34" charset="-120"/>
              </a:rPr>
              <a:t>A signal can be</a:t>
            </a:r>
            <a:endParaRPr lang="en-US" sz="2300" dirty="0"/>
          </a:p>
          <a:p>
            <a:pPr indent="0" marL="0">
              <a:buNone/>
            </a:pPr>
            <a:r>
              <a:rPr lang="en-US" sz="2300" dirty="0">
                <a:solidFill>
                  <a:srgbClr val="FAF6EF"/>
                </a:solidFill>
                <a:latin typeface="Calibri" pitchFamily="34" charset="0"/>
                <a:ea typeface="Calibri" pitchFamily="34" charset="-122"/>
                <a:cs typeface="Calibri" pitchFamily="34" charset="-120"/>
              </a:rPr>
              <a:t>discussed without</a:t>
            </a:r>
            <a:endParaRPr lang="en-US" sz="2300" dirty="0"/>
          </a:p>
          <a:p>
            <a:pPr indent="0" marL="0">
              <a:buNone/>
            </a:pPr>
            <a:r>
              <a:rPr lang="en-US" sz="2300" dirty="0">
                <a:solidFill>
                  <a:srgbClr val="FAF6EF"/>
                </a:solidFill>
                <a:latin typeface="Calibri" pitchFamily="34" charset="0"/>
                <a:ea typeface="Calibri" pitchFamily="34" charset="-122"/>
                <a:cs typeface="Calibri" pitchFamily="34" charset="-120"/>
              </a:rPr>
              <a:t>an owner, a decision</a:t>
            </a:r>
            <a:endParaRPr lang="en-US" sz="2300" dirty="0"/>
          </a:p>
          <a:p>
            <a:pPr indent="0" marL="0">
              <a:buNone/>
            </a:pPr>
            <a:r>
              <a:rPr lang="en-US" sz="2300" dirty="0">
                <a:solidFill>
                  <a:srgbClr val="FAF6EF"/>
                </a:solidFill>
                <a:latin typeface="Calibri" pitchFamily="34" charset="0"/>
                <a:ea typeface="Calibri" pitchFamily="34" charset="-122"/>
                <a:cs typeface="Calibri" pitchFamily="34" charset="-120"/>
              </a:rPr>
              <a:t>or a measured</a:t>
            </a:r>
            <a:endParaRPr lang="en-US" sz="2300" dirty="0"/>
          </a:p>
          <a:p>
            <a:pPr indent="0" marL="0">
              <a:buNone/>
            </a:pPr>
            <a:r>
              <a:rPr lang="en-US" sz="2300" dirty="0">
                <a:solidFill>
                  <a:srgbClr val="FAF6EF"/>
                </a:solidFill>
                <a:latin typeface="Calibri" pitchFamily="34" charset="0"/>
                <a:ea typeface="Calibri" pitchFamily="34" charset="-122"/>
                <a:cs typeface="Calibri" pitchFamily="34" charset="-120"/>
              </a:rPr>
              <a:t>follow-through.</a:t>
            </a:r>
            <a:endParaRPr lang="en-US" sz="2300" dirty="0"/>
          </a:p>
        </p:txBody>
      </p:sp>
      <p:sp>
        <p:nvSpPr>
          <p:cNvPr id="10" name="Text 8"/>
          <p:cNvSpPr/>
          <p:nvPr/>
        </p:nvSpPr>
        <p:spPr>
          <a:xfrm>
            <a:off x="3941064" y="2157984"/>
            <a:ext cx="7708392" cy="402336"/>
          </a:xfrm>
          <a:prstGeom prst="rect">
            <a:avLst/>
          </a:prstGeom>
          <a:noFill/>
          <a:ln/>
        </p:spPr>
        <p:txBody>
          <a:bodyPr wrap="square" lIns="0" tIns="0" rIns="0" bIns="0" rtlCol="0" anchor="ctr"/>
          <a:lstStyle/>
          <a:p>
            <a:pPr indent="0" marL="0">
              <a:buNone/>
            </a:pPr>
            <a:r>
              <a:rPr lang="en-US" sz="2050" b="1" dirty="0">
                <a:solidFill>
                  <a:srgbClr val="30282E"/>
                </a:solidFill>
                <a:latin typeface="Calibri" pitchFamily="34" charset="0"/>
                <a:ea typeface="Calibri" pitchFamily="34" charset="-122"/>
                <a:cs typeface="Calibri" pitchFamily="34" charset="-120"/>
              </a:rPr>
              <a:t>Now: a proposed owner and a measurable next checkpoint</a:t>
            </a:r>
            <a:endParaRPr lang="en-US" sz="2050" dirty="0"/>
          </a:p>
        </p:txBody>
      </p:sp>
      <p:sp>
        <p:nvSpPr>
          <p:cNvPr id="11" name="Shape 9"/>
          <p:cNvSpPr/>
          <p:nvPr/>
        </p:nvSpPr>
        <p:spPr>
          <a:xfrm>
            <a:off x="3959352" y="2779776"/>
            <a:ext cx="420624" cy="420624"/>
          </a:xfrm>
          <a:prstGeom prst="ellipse">
            <a:avLst/>
          </a:prstGeom>
          <a:solidFill>
            <a:srgbClr val="F0DFE3"/>
          </a:solidFill>
          <a:ln w="12700">
            <a:solidFill>
              <a:srgbClr val="F0DFE3">
                <a:alpha val="0"/>
              </a:srgbClr>
            </a:solidFill>
            <a:prstDash val="solid"/>
          </a:ln>
        </p:spPr>
      </p:sp>
      <p:sp>
        <p:nvSpPr>
          <p:cNvPr id="12" name="Text 10"/>
          <p:cNvSpPr/>
          <p:nvPr/>
        </p:nvSpPr>
        <p:spPr>
          <a:xfrm>
            <a:off x="3959352" y="2779776"/>
            <a:ext cx="420624" cy="420624"/>
          </a:xfrm>
          <a:prstGeom prst="rect">
            <a:avLst/>
          </a:prstGeom>
          <a:noFill/>
          <a:ln/>
        </p:spPr>
        <p:txBody>
          <a:bodyPr wrap="square" lIns="0" tIns="0" rIns="0" bIns="0" rtlCol="0" anchor="ctr"/>
          <a:lstStyle/>
          <a:p>
            <a:pPr algn="ctr" indent="0" marL="0">
              <a:buNone/>
            </a:pPr>
            <a:r>
              <a:rPr lang="en-US" sz="1300" b="1" dirty="0">
                <a:solidFill>
                  <a:srgbClr val="6D2E46"/>
                </a:solidFill>
                <a:latin typeface="Calibri" pitchFamily="34" charset="0"/>
                <a:ea typeface="Calibri" pitchFamily="34" charset="-122"/>
                <a:cs typeface="Calibri" pitchFamily="34" charset="-120"/>
              </a:rPr>
              <a:t>CL</a:t>
            </a:r>
            <a:endParaRPr lang="en-US" sz="1300" dirty="0"/>
          </a:p>
        </p:txBody>
      </p:sp>
      <p:sp>
        <p:nvSpPr>
          <p:cNvPr id="13" name="Text 11"/>
          <p:cNvSpPr/>
          <p:nvPr/>
        </p:nvSpPr>
        <p:spPr>
          <a:xfrm>
            <a:off x="4572000" y="2761488"/>
            <a:ext cx="2999232" cy="265176"/>
          </a:xfrm>
          <a:prstGeom prst="rect">
            <a:avLst/>
          </a:prstGeom>
          <a:noFill/>
          <a:ln/>
        </p:spPr>
        <p:txBody>
          <a:bodyPr wrap="square" lIns="0" tIns="0" rIns="0" bIns="0" rtlCol="0" anchor="ctr"/>
          <a:lstStyle/>
          <a:p>
            <a:pPr indent="0" marL="0">
              <a:buNone/>
            </a:pPr>
            <a:r>
              <a:rPr lang="en-US" sz="1850" b="1" dirty="0">
                <a:solidFill>
                  <a:srgbClr val="30282E"/>
                </a:solidFill>
                <a:latin typeface="Calibri" pitchFamily="34" charset="0"/>
                <a:ea typeface="Calibri" pitchFamily="34" charset="-122"/>
                <a:cs typeface="Calibri" pitchFamily="34" charset="-120"/>
              </a:rPr>
              <a:t>Category lead</a:t>
            </a:r>
            <a:endParaRPr lang="en-US" sz="1850" dirty="0"/>
          </a:p>
        </p:txBody>
      </p:sp>
      <p:sp>
        <p:nvSpPr>
          <p:cNvPr id="14" name="Text 12"/>
          <p:cNvSpPr/>
          <p:nvPr/>
        </p:nvSpPr>
        <p:spPr>
          <a:xfrm>
            <a:off x="4572000" y="3099816"/>
            <a:ext cx="3035808" cy="237744"/>
          </a:xfrm>
          <a:prstGeom prst="rect">
            <a:avLst/>
          </a:prstGeom>
          <a:noFill/>
          <a:ln/>
        </p:spPr>
        <p:txBody>
          <a:bodyPr wrap="square" lIns="0" tIns="0" rIns="0" bIns="0" rtlCol="0" anchor="ctr"/>
          <a:lstStyle/>
          <a:p>
            <a:pPr indent="0" marL="0">
              <a:buNone/>
            </a:pPr>
            <a:r>
              <a:rPr lang="en-US" sz="1550" dirty="0">
                <a:solidFill>
                  <a:srgbClr val="6F6268"/>
                </a:solidFill>
                <a:latin typeface="Calibri" pitchFamily="34" charset="0"/>
                <a:ea typeface="Calibri" pitchFamily="34" charset="-122"/>
                <a:cs typeface="Calibri" pitchFamily="34" charset="-120"/>
              </a:rPr>
              <a:t>Own review decisions</a:t>
            </a:r>
            <a:endParaRPr lang="en-US" sz="1550" dirty="0"/>
          </a:p>
        </p:txBody>
      </p:sp>
      <p:sp>
        <p:nvSpPr>
          <p:cNvPr id="15" name="Text 13"/>
          <p:cNvSpPr/>
          <p:nvPr/>
        </p:nvSpPr>
        <p:spPr>
          <a:xfrm>
            <a:off x="8119872" y="2807208"/>
            <a:ext cx="3547872" cy="557784"/>
          </a:xfrm>
          <a:prstGeom prst="rect">
            <a:avLst/>
          </a:prstGeom>
          <a:noFill/>
          <a:ln/>
        </p:spPr>
        <p:txBody>
          <a:bodyPr wrap="square" lIns="0" tIns="0" rIns="0" bIns="0" rtlCol="0" anchor="ctr"/>
          <a:lstStyle/>
          <a:p>
            <a:pPr indent="0" marL="0">
              <a:buNone/>
            </a:pPr>
            <a:r>
              <a:rPr lang="en-US" sz="1750" dirty="0">
                <a:solidFill>
                  <a:srgbClr val="30282E"/>
                </a:solidFill>
                <a:latin typeface="Calibri" pitchFamily="34" charset="0"/>
                <a:ea typeface="Calibri" pitchFamily="34" charset="-122"/>
                <a:cs typeface="Calibri" pitchFamily="34" charset="-120"/>
              </a:rPr>
              <a:t>Decision completeness:</a:t>
            </a:r>
            <a:endParaRPr lang="en-US" sz="1750" dirty="0"/>
          </a:p>
          <a:p>
            <a:pPr indent="0" marL="0">
              <a:buNone/>
            </a:pPr>
            <a:r>
              <a:rPr lang="en-US" sz="1750" dirty="0">
                <a:solidFill>
                  <a:srgbClr val="30282E"/>
                </a:solidFill>
                <a:latin typeface="Calibri" pitchFamily="34" charset="0"/>
                <a:ea typeface="Calibri" pitchFamily="34" charset="-122"/>
                <a:cs typeface="Calibri" pitchFamily="34" charset="-120"/>
              </a:rPr>
              <a:t>accept/defer, owner and date</a:t>
            </a:r>
            <a:endParaRPr lang="en-US" sz="1750" dirty="0"/>
          </a:p>
        </p:txBody>
      </p:sp>
      <p:sp>
        <p:nvSpPr>
          <p:cNvPr id="16" name="Shape 14"/>
          <p:cNvSpPr/>
          <p:nvPr/>
        </p:nvSpPr>
        <p:spPr>
          <a:xfrm>
            <a:off x="3959352" y="3538728"/>
            <a:ext cx="420624" cy="420624"/>
          </a:xfrm>
          <a:prstGeom prst="ellipse">
            <a:avLst/>
          </a:prstGeom>
          <a:solidFill>
            <a:srgbClr val="F0DFE3"/>
          </a:solidFill>
          <a:ln w="12700">
            <a:solidFill>
              <a:srgbClr val="F0DFE3">
                <a:alpha val="0"/>
              </a:srgbClr>
            </a:solidFill>
            <a:prstDash val="solid"/>
          </a:ln>
        </p:spPr>
      </p:sp>
      <p:sp>
        <p:nvSpPr>
          <p:cNvPr id="17" name="Text 15"/>
          <p:cNvSpPr/>
          <p:nvPr/>
        </p:nvSpPr>
        <p:spPr>
          <a:xfrm>
            <a:off x="3959352" y="3538728"/>
            <a:ext cx="420624" cy="420624"/>
          </a:xfrm>
          <a:prstGeom prst="rect">
            <a:avLst/>
          </a:prstGeom>
          <a:noFill/>
          <a:ln/>
        </p:spPr>
        <p:txBody>
          <a:bodyPr wrap="square" lIns="0" tIns="0" rIns="0" bIns="0" rtlCol="0" anchor="ctr"/>
          <a:lstStyle/>
          <a:p>
            <a:pPr algn="ctr" indent="0" marL="0">
              <a:buNone/>
            </a:pPr>
            <a:r>
              <a:rPr lang="en-US" sz="1300" b="1" dirty="0">
                <a:solidFill>
                  <a:srgbClr val="6D2E46"/>
                </a:solidFill>
                <a:latin typeface="Calibri" pitchFamily="34" charset="0"/>
                <a:ea typeface="Calibri" pitchFamily="34" charset="-122"/>
                <a:cs typeface="Calibri" pitchFamily="34" charset="-120"/>
              </a:rPr>
              <a:t>SP</a:t>
            </a:r>
            <a:endParaRPr lang="en-US" sz="1300" dirty="0"/>
          </a:p>
        </p:txBody>
      </p:sp>
      <p:sp>
        <p:nvSpPr>
          <p:cNvPr id="18" name="Text 16"/>
          <p:cNvSpPr/>
          <p:nvPr/>
        </p:nvSpPr>
        <p:spPr>
          <a:xfrm>
            <a:off x="4572000" y="3520440"/>
            <a:ext cx="2999232" cy="265176"/>
          </a:xfrm>
          <a:prstGeom prst="rect">
            <a:avLst/>
          </a:prstGeom>
          <a:noFill/>
          <a:ln/>
        </p:spPr>
        <p:txBody>
          <a:bodyPr wrap="square" lIns="0" tIns="0" rIns="0" bIns="0" rtlCol="0" anchor="ctr"/>
          <a:lstStyle/>
          <a:p>
            <a:pPr indent="0" marL="0">
              <a:buNone/>
            </a:pPr>
            <a:r>
              <a:rPr lang="en-US" sz="1850" b="1" dirty="0">
                <a:solidFill>
                  <a:srgbClr val="30282E"/>
                </a:solidFill>
                <a:latin typeface="Calibri" pitchFamily="34" charset="0"/>
                <a:ea typeface="Calibri" pitchFamily="34" charset="-122"/>
                <a:cs typeface="Calibri" pitchFamily="34" charset="-120"/>
              </a:rPr>
              <a:t>Supply planner</a:t>
            </a:r>
            <a:endParaRPr lang="en-US" sz="1850" dirty="0"/>
          </a:p>
        </p:txBody>
      </p:sp>
      <p:sp>
        <p:nvSpPr>
          <p:cNvPr id="19" name="Text 17"/>
          <p:cNvSpPr/>
          <p:nvPr/>
        </p:nvSpPr>
        <p:spPr>
          <a:xfrm>
            <a:off x="4572000" y="3858768"/>
            <a:ext cx="3035808" cy="237744"/>
          </a:xfrm>
          <a:prstGeom prst="rect">
            <a:avLst/>
          </a:prstGeom>
          <a:noFill/>
          <a:ln/>
        </p:spPr>
        <p:txBody>
          <a:bodyPr wrap="square" lIns="0" tIns="0" rIns="0" bIns="0" rtlCol="0" anchor="ctr"/>
          <a:lstStyle/>
          <a:p>
            <a:pPr indent="0" marL="0">
              <a:buNone/>
            </a:pPr>
            <a:r>
              <a:rPr lang="en-US" sz="1550" dirty="0">
                <a:solidFill>
                  <a:srgbClr val="6F6268"/>
                </a:solidFill>
                <a:latin typeface="Calibri" pitchFamily="34" charset="0"/>
                <a:ea typeface="Calibri" pitchFamily="34" charset="-122"/>
                <a:cs typeface="Calibri" pitchFamily="34" charset="-120"/>
              </a:rPr>
              <a:t>Validate stock and feed</a:t>
            </a:r>
            <a:endParaRPr lang="en-US" sz="1550" dirty="0"/>
          </a:p>
        </p:txBody>
      </p:sp>
      <p:sp>
        <p:nvSpPr>
          <p:cNvPr id="20" name="Text 18"/>
          <p:cNvSpPr/>
          <p:nvPr/>
        </p:nvSpPr>
        <p:spPr>
          <a:xfrm>
            <a:off x="8119872" y="3566160"/>
            <a:ext cx="3547872" cy="557784"/>
          </a:xfrm>
          <a:prstGeom prst="rect">
            <a:avLst/>
          </a:prstGeom>
          <a:noFill/>
          <a:ln/>
        </p:spPr>
        <p:txBody>
          <a:bodyPr wrap="square" lIns="0" tIns="0" rIns="0" bIns="0" rtlCol="0" anchor="ctr"/>
          <a:lstStyle/>
          <a:p>
            <a:pPr indent="0" marL="0">
              <a:buNone/>
            </a:pPr>
            <a:r>
              <a:rPr lang="en-US" sz="1750" dirty="0">
                <a:solidFill>
                  <a:srgbClr val="30282E"/>
                </a:solidFill>
                <a:latin typeface="Calibri" pitchFamily="34" charset="0"/>
                <a:ea typeface="Calibri" pitchFamily="34" charset="-122"/>
                <a:cs typeface="Calibri" pitchFamily="34" charset="-120"/>
              </a:rPr>
              <a:t>Availability confirmed;</a:t>
            </a:r>
            <a:endParaRPr lang="en-US" sz="1750" dirty="0"/>
          </a:p>
          <a:p>
            <a:pPr indent="0" marL="0">
              <a:buNone/>
            </a:pPr>
            <a:r>
              <a:rPr lang="en-US" sz="1750" dirty="0">
                <a:solidFill>
                  <a:srgbClr val="30282E"/>
                </a:solidFill>
                <a:latin typeface="Calibri" pitchFamily="34" charset="0"/>
                <a:ea typeface="Calibri" pitchFamily="34" charset="-122"/>
                <a:cs typeface="Calibri" pitchFamily="34" charset="-120"/>
              </a:rPr>
              <a:t>then units and gross profit</a:t>
            </a:r>
            <a:endParaRPr lang="en-US" sz="1750" dirty="0"/>
          </a:p>
        </p:txBody>
      </p:sp>
      <p:sp>
        <p:nvSpPr>
          <p:cNvPr id="21" name="Shape 19"/>
          <p:cNvSpPr/>
          <p:nvPr/>
        </p:nvSpPr>
        <p:spPr>
          <a:xfrm>
            <a:off x="3959352" y="4297680"/>
            <a:ext cx="420624" cy="420624"/>
          </a:xfrm>
          <a:prstGeom prst="ellipse">
            <a:avLst/>
          </a:prstGeom>
          <a:solidFill>
            <a:srgbClr val="F0DFE3"/>
          </a:solidFill>
          <a:ln w="12700">
            <a:solidFill>
              <a:srgbClr val="F0DFE3">
                <a:alpha val="0"/>
              </a:srgbClr>
            </a:solidFill>
            <a:prstDash val="solid"/>
          </a:ln>
        </p:spPr>
      </p:sp>
      <p:sp>
        <p:nvSpPr>
          <p:cNvPr id="22" name="Text 20"/>
          <p:cNvSpPr/>
          <p:nvPr/>
        </p:nvSpPr>
        <p:spPr>
          <a:xfrm>
            <a:off x="3959352" y="4297680"/>
            <a:ext cx="420624" cy="420624"/>
          </a:xfrm>
          <a:prstGeom prst="rect">
            <a:avLst/>
          </a:prstGeom>
          <a:noFill/>
          <a:ln/>
        </p:spPr>
        <p:txBody>
          <a:bodyPr wrap="square" lIns="0" tIns="0" rIns="0" bIns="0" rtlCol="0" anchor="ctr"/>
          <a:lstStyle/>
          <a:p>
            <a:pPr algn="ctr" indent="0" marL="0">
              <a:buNone/>
            </a:pPr>
            <a:r>
              <a:rPr lang="en-US" sz="1300" b="1" dirty="0">
                <a:solidFill>
                  <a:srgbClr val="6D2E46"/>
                </a:solidFill>
                <a:latin typeface="Calibri" pitchFamily="34" charset="0"/>
                <a:ea typeface="Calibri" pitchFamily="34" charset="-122"/>
                <a:cs typeface="Calibri" pitchFamily="34" charset="-120"/>
              </a:rPr>
              <a:t>EC</a:t>
            </a:r>
            <a:endParaRPr lang="en-US" sz="1300" dirty="0"/>
          </a:p>
        </p:txBody>
      </p:sp>
      <p:sp>
        <p:nvSpPr>
          <p:cNvPr id="23" name="Text 21"/>
          <p:cNvSpPr/>
          <p:nvPr/>
        </p:nvSpPr>
        <p:spPr>
          <a:xfrm>
            <a:off x="4572000" y="4279392"/>
            <a:ext cx="2999232" cy="265176"/>
          </a:xfrm>
          <a:prstGeom prst="rect">
            <a:avLst/>
          </a:prstGeom>
          <a:noFill/>
          <a:ln/>
        </p:spPr>
        <p:txBody>
          <a:bodyPr wrap="square" lIns="0" tIns="0" rIns="0" bIns="0" rtlCol="0" anchor="ctr"/>
          <a:lstStyle/>
          <a:p>
            <a:pPr indent="0" marL="0">
              <a:buNone/>
            </a:pPr>
            <a:r>
              <a:rPr lang="en-US" sz="1850" b="1" dirty="0">
                <a:solidFill>
                  <a:srgbClr val="30282E"/>
                </a:solidFill>
                <a:latin typeface="Calibri" pitchFamily="34" charset="0"/>
                <a:ea typeface="Calibri" pitchFamily="34" charset="-122"/>
                <a:cs typeface="Calibri" pitchFamily="34" charset="-120"/>
              </a:rPr>
              <a:t>E-commerce</a:t>
            </a:r>
            <a:endParaRPr lang="en-US" sz="1850" dirty="0"/>
          </a:p>
        </p:txBody>
      </p:sp>
      <p:sp>
        <p:nvSpPr>
          <p:cNvPr id="24" name="Text 22"/>
          <p:cNvSpPr/>
          <p:nvPr/>
        </p:nvSpPr>
        <p:spPr>
          <a:xfrm>
            <a:off x="4572000" y="4617720"/>
            <a:ext cx="3035808" cy="237744"/>
          </a:xfrm>
          <a:prstGeom prst="rect">
            <a:avLst/>
          </a:prstGeom>
          <a:noFill/>
          <a:ln/>
        </p:spPr>
        <p:txBody>
          <a:bodyPr wrap="square" lIns="0" tIns="0" rIns="0" bIns="0" rtlCol="0" anchor="ctr"/>
          <a:lstStyle/>
          <a:p>
            <a:pPr indent="0" marL="0">
              <a:buNone/>
            </a:pPr>
            <a:r>
              <a:rPr lang="en-US" sz="1550" dirty="0">
                <a:solidFill>
                  <a:srgbClr val="6F6268"/>
                </a:solidFill>
                <a:latin typeface="Calibri" pitchFamily="34" charset="0"/>
                <a:ea typeface="Calibri" pitchFamily="34" charset="-122"/>
                <a:cs typeface="Calibri" pitchFamily="34" charset="-120"/>
              </a:rPr>
              <a:t>Validate listing and sales feed</a:t>
            </a:r>
            <a:endParaRPr lang="en-US" sz="1550" dirty="0"/>
          </a:p>
        </p:txBody>
      </p:sp>
      <p:sp>
        <p:nvSpPr>
          <p:cNvPr id="25" name="Text 23"/>
          <p:cNvSpPr/>
          <p:nvPr/>
        </p:nvSpPr>
        <p:spPr>
          <a:xfrm>
            <a:off x="8119872" y="4325112"/>
            <a:ext cx="3547872" cy="557784"/>
          </a:xfrm>
          <a:prstGeom prst="rect">
            <a:avLst/>
          </a:prstGeom>
          <a:noFill/>
          <a:ln/>
        </p:spPr>
        <p:txBody>
          <a:bodyPr wrap="square" lIns="0" tIns="0" rIns="0" bIns="0" rtlCol="0" anchor="ctr"/>
          <a:lstStyle/>
          <a:p>
            <a:pPr indent="0" marL="0">
              <a:buNone/>
            </a:pPr>
            <a:r>
              <a:rPr lang="en-US" sz="1750" dirty="0">
                <a:solidFill>
                  <a:srgbClr val="30282E"/>
                </a:solidFill>
                <a:latin typeface="Calibri" pitchFamily="34" charset="0"/>
                <a:ea typeface="Calibri" pitchFamily="34" charset="-122"/>
                <a:cs typeface="Calibri" pitchFamily="34" charset="-120"/>
              </a:rPr>
              <a:t>First confirmed sales;</a:t>
            </a:r>
            <a:endParaRPr lang="en-US" sz="1750" dirty="0"/>
          </a:p>
          <a:p>
            <a:pPr indent="0" marL="0">
              <a:buNone/>
            </a:pPr>
            <a:r>
              <a:rPr lang="en-US" sz="1750" dirty="0">
                <a:solidFill>
                  <a:srgbClr val="30282E"/>
                </a:solidFill>
                <a:latin typeface="Calibri" pitchFamily="34" charset="0"/>
                <a:ea typeface="Calibri" pitchFamily="34" charset="-122"/>
                <a:cs typeface="Calibri" pitchFamily="34" charset="-120"/>
              </a:rPr>
              <a:t>units and gross profit</a:t>
            </a:r>
            <a:endParaRPr lang="en-US" sz="1750" dirty="0"/>
          </a:p>
        </p:txBody>
      </p:sp>
      <p:sp>
        <p:nvSpPr>
          <p:cNvPr id="26" name="Shape 24"/>
          <p:cNvSpPr/>
          <p:nvPr/>
        </p:nvSpPr>
        <p:spPr>
          <a:xfrm>
            <a:off x="3959352" y="5056632"/>
            <a:ext cx="420624" cy="420624"/>
          </a:xfrm>
          <a:prstGeom prst="ellipse">
            <a:avLst/>
          </a:prstGeom>
          <a:solidFill>
            <a:srgbClr val="F0DFE3"/>
          </a:solidFill>
          <a:ln w="12700">
            <a:solidFill>
              <a:srgbClr val="F0DFE3">
                <a:alpha val="0"/>
              </a:srgbClr>
            </a:solidFill>
            <a:prstDash val="solid"/>
          </a:ln>
        </p:spPr>
      </p:sp>
      <p:sp>
        <p:nvSpPr>
          <p:cNvPr id="27" name="Text 25"/>
          <p:cNvSpPr/>
          <p:nvPr/>
        </p:nvSpPr>
        <p:spPr>
          <a:xfrm>
            <a:off x="3959352" y="5056632"/>
            <a:ext cx="420624" cy="420624"/>
          </a:xfrm>
          <a:prstGeom prst="rect">
            <a:avLst/>
          </a:prstGeom>
          <a:noFill/>
          <a:ln/>
        </p:spPr>
        <p:txBody>
          <a:bodyPr wrap="square" lIns="0" tIns="0" rIns="0" bIns="0" rtlCol="0" anchor="ctr"/>
          <a:lstStyle/>
          <a:p>
            <a:pPr algn="ctr" indent="0" marL="0">
              <a:buNone/>
            </a:pPr>
            <a:r>
              <a:rPr lang="en-US" sz="1300" b="1" dirty="0">
                <a:solidFill>
                  <a:srgbClr val="6D2E46"/>
                </a:solidFill>
                <a:latin typeface="Calibri" pitchFamily="34" charset="0"/>
                <a:ea typeface="Calibri" pitchFamily="34" charset="-122"/>
                <a:cs typeface="Calibri" pitchFamily="34" charset="-120"/>
              </a:rPr>
              <a:t>BF</a:t>
            </a:r>
            <a:endParaRPr lang="en-US" sz="1300" dirty="0"/>
          </a:p>
        </p:txBody>
      </p:sp>
      <p:sp>
        <p:nvSpPr>
          <p:cNvPr id="28" name="Text 26"/>
          <p:cNvSpPr/>
          <p:nvPr/>
        </p:nvSpPr>
        <p:spPr>
          <a:xfrm>
            <a:off x="4572000" y="5038344"/>
            <a:ext cx="2999232" cy="265176"/>
          </a:xfrm>
          <a:prstGeom prst="rect">
            <a:avLst/>
          </a:prstGeom>
          <a:noFill/>
          <a:ln/>
        </p:spPr>
        <p:txBody>
          <a:bodyPr wrap="square" lIns="0" tIns="0" rIns="0" bIns="0" rtlCol="0" anchor="ctr"/>
          <a:lstStyle/>
          <a:p>
            <a:pPr indent="0" marL="0">
              <a:buNone/>
            </a:pPr>
            <a:r>
              <a:rPr lang="en-US" sz="1850" b="1" dirty="0">
                <a:solidFill>
                  <a:srgbClr val="30282E"/>
                </a:solidFill>
                <a:latin typeface="Calibri" pitchFamily="34" charset="0"/>
                <a:ea typeface="Calibri" pitchFamily="34" charset="-122"/>
                <a:cs typeface="Calibri" pitchFamily="34" charset="-120"/>
              </a:rPr>
              <a:t>Buyer + finance</a:t>
            </a:r>
            <a:endParaRPr lang="en-US" sz="1850" dirty="0"/>
          </a:p>
        </p:txBody>
      </p:sp>
      <p:sp>
        <p:nvSpPr>
          <p:cNvPr id="29" name="Text 27"/>
          <p:cNvSpPr/>
          <p:nvPr/>
        </p:nvSpPr>
        <p:spPr>
          <a:xfrm>
            <a:off x="4572000" y="5376672"/>
            <a:ext cx="3035808" cy="237744"/>
          </a:xfrm>
          <a:prstGeom prst="rect">
            <a:avLst/>
          </a:prstGeom>
          <a:noFill/>
          <a:ln/>
        </p:spPr>
        <p:txBody>
          <a:bodyPr wrap="square" lIns="0" tIns="0" rIns="0" bIns="0" rtlCol="0" anchor="ctr"/>
          <a:lstStyle/>
          <a:p>
            <a:pPr indent="0" marL="0">
              <a:buNone/>
            </a:pPr>
            <a:r>
              <a:rPr lang="en-US" sz="1550" dirty="0">
                <a:solidFill>
                  <a:srgbClr val="6F6268"/>
                </a:solidFill>
                <a:latin typeface="Calibri" pitchFamily="34" charset="0"/>
                <a:ea typeface="Calibri" pitchFamily="34" charset="-122"/>
                <a:cs typeface="Calibri" pitchFamily="34" charset="-120"/>
              </a:rPr>
              <a:t>Check costs, terms and tests</a:t>
            </a:r>
            <a:endParaRPr lang="en-US" sz="1550" dirty="0"/>
          </a:p>
        </p:txBody>
      </p:sp>
      <p:sp>
        <p:nvSpPr>
          <p:cNvPr id="30" name="Text 28"/>
          <p:cNvSpPr/>
          <p:nvPr/>
        </p:nvSpPr>
        <p:spPr>
          <a:xfrm>
            <a:off x="8119872" y="5084064"/>
            <a:ext cx="3547872" cy="557784"/>
          </a:xfrm>
          <a:prstGeom prst="rect">
            <a:avLst/>
          </a:prstGeom>
          <a:noFill/>
          <a:ln/>
        </p:spPr>
        <p:txBody>
          <a:bodyPr wrap="square" lIns="0" tIns="0" rIns="0" bIns="0" rtlCol="0" anchor="ctr"/>
          <a:lstStyle/>
          <a:p>
            <a:pPr indent="0" marL="0">
              <a:buNone/>
            </a:pPr>
            <a:r>
              <a:rPr lang="en-US" sz="1750" dirty="0">
                <a:solidFill>
                  <a:srgbClr val="30282E"/>
                </a:solidFill>
                <a:latin typeface="Calibri" pitchFamily="34" charset="0"/>
                <a:ea typeface="Calibri" pitchFamily="34" charset="-122"/>
                <a:cs typeface="Calibri" pitchFamily="34" charset="-120"/>
              </a:rPr>
              <a:t>Gross profit + units;</a:t>
            </a:r>
            <a:endParaRPr lang="en-US" sz="1750" dirty="0"/>
          </a:p>
          <a:p>
            <a:pPr indent="0" marL="0">
              <a:buNone/>
            </a:pPr>
            <a:r>
              <a:rPr lang="en-US" sz="1750" dirty="0">
                <a:solidFill>
                  <a:srgbClr val="30282E"/>
                </a:solidFill>
                <a:latin typeface="Calibri" pitchFamily="34" charset="0"/>
                <a:ea typeface="Calibri" pitchFamily="34" charset="-122"/>
                <a:cs typeface="Calibri" pitchFamily="34" charset="-120"/>
              </a:rPr>
              <a:t>include commercial costs</a:t>
            </a:r>
            <a:endParaRPr lang="en-US" sz="1750" dirty="0"/>
          </a:p>
        </p:txBody>
      </p:sp>
      <p:sp>
        <p:nvSpPr>
          <p:cNvPr id="31" name="Text 29"/>
          <p:cNvSpPr/>
          <p:nvPr/>
        </p:nvSpPr>
        <p:spPr>
          <a:xfrm>
            <a:off x="502920" y="5916168"/>
            <a:ext cx="11091672" cy="192024"/>
          </a:xfrm>
          <a:prstGeom prst="rect">
            <a:avLst/>
          </a:prstGeom>
          <a:noFill/>
          <a:ln/>
        </p:spPr>
        <p:txBody>
          <a:bodyPr wrap="square" lIns="0" tIns="0" rIns="0" bIns="0" rtlCol="0" anchor="ctr"/>
          <a:lstStyle/>
          <a:p>
            <a:pPr indent="0" marL="0">
              <a:buNone/>
            </a:pPr>
            <a:r>
              <a:rPr lang="en-US" sz="1200" dirty="0">
                <a:solidFill>
                  <a:srgbClr val="6F6268"/>
                </a:solidFill>
                <a:latin typeface="Calibri" pitchFamily="34" charset="0"/>
                <a:ea typeface="Calibri" pitchFamily="34" charset="-122"/>
                <a:cs typeface="Calibri" pitchFamily="34" charset="-120"/>
              </a:rPr>
              <a:t>Proposed responsibilities, not assigned tasks. No adoption or time-saving benefit has been measured.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 dashboard workflow; review.json · data_quality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08 / 10</a:t>
            </a:r>
            <a:endParaRPr lang="en-US" sz="1050" dirty="0"/>
          </a:p>
        </p:txBody>
      </p:sp>
      <p:sp>
        <p:nvSpPr>
          <p:cNvPr id="4" name="Text 2"/>
          <p:cNvSpPr/>
          <p:nvPr/>
        </p:nvSpPr>
        <p:spPr>
          <a:xfrm>
            <a:off x="502920" y="457200"/>
            <a:ext cx="9601200" cy="173736"/>
          </a:xfrm>
          <a:prstGeom prst="rect">
            <a:avLst/>
          </a:prstGeom>
          <a:noFill/>
          <a:ln/>
        </p:spPr>
        <p:txBody>
          <a:bodyPr wrap="square" lIns="0" tIns="0" rIns="0" bIns="0" rtlCol="0" anchor="ctr"/>
          <a:lstStyle/>
          <a:p>
            <a:pPr indent="0" marL="0">
              <a:buNone/>
            </a:pPr>
            <a:r>
              <a:rPr lang="en-US" sz="1050" b="1" spc="130" kern="0" dirty="0">
                <a:solidFill>
                  <a:srgbClr val="6D2E46"/>
                </a:solidFill>
                <a:latin typeface="Calibri" pitchFamily="34" charset="0"/>
                <a:ea typeface="Calibri" pitchFamily="34" charset="-122"/>
                <a:cs typeface="Calibri" pitchFamily="34" charset="-120"/>
              </a:rPr>
              <a:t>ZENBEAUTY RETAIL  /  CATEGORY REVIEW</a:t>
            </a:r>
            <a:endParaRPr lang="en-US" sz="1050" dirty="0"/>
          </a:p>
        </p:txBody>
      </p:sp>
      <p:sp>
        <p:nvSpPr>
          <p:cNvPr id="5" name="Text 3"/>
          <p:cNvSpPr/>
          <p:nvPr/>
        </p:nvSpPr>
        <p:spPr>
          <a:xfrm>
            <a:off x="502920" y="813816"/>
            <a:ext cx="11183112" cy="603504"/>
          </a:xfrm>
          <a:prstGeom prst="rect">
            <a:avLst/>
          </a:prstGeom>
          <a:noFill/>
          <a:ln/>
        </p:spPr>
        <p:txBody>
          <a:bodyPr wrap="square" lIns="0" tIns="0" rIns="0" bIns="0" rtlCol="0" anchor="ctr"/>
          <a:lstStyle/>
          <a:p>
            <a:pPr indent="0" marL="0">
              <a:buNone/>
            </a:pPr>
            <a:r>
              <a:rPr lang="en-US" sz="3400" dirty="0">
                <a:solidFill>
                  <a:srgbClr val="30282E"/>
                </a:solidFill>
                <a:latin typeface="Georgia" pitchFamily="34" charset="0"/>
                <a:ea typeface="Georgia" pitchFamily="34" charset="-122"/>
                <a:cs typeface="Georgia" pitchFamily="34" charset="-120"/>
              </a:rPr>
              <a:t>A usable workflow, with clear limits</a:t>
            </a:r>
            <a:endParaRPr lang="en-US" sz="3400" dirty="0"/>
          </a:p>
        </p:txBody>
      </p:sp>
      <p:sp>
        <p:nvSpPr>
          <p:cNvPr id="6" name="Text 4"/>
          <p:cNvSpPr/>
          <p:nvPr/>
        </p:nvSpPr>
        <p:spPr>
          <a:xfrm>
            <a:off x="502920" y="1527048"/>
            <a:ext cx="11091672" cy="365760"/>
          </a:xfrm>
          <a:prstGeom prst="rect">
            <a:avLst/>
          </a:prstGeom>
          <a:noFill/>
          <a:ln/>
        </p:spPr>
        <p:txBody>
          <a:bodyPr wrap="square" lIns="0" tIns="0" rIns="0" bIns="0" rtlCol="0" anchor="ctr"/>
          <a:lstStyle/>
          <a:p>
            <a:pPr indent="0" marL="0">
              <a:buNone/>
            </a:pPr>
            <a:r>
              <a:rPr lang="en-US" sz="1750" dirty="0">
                <a:solidFill>
                  <a:srgbClr val="6F6268"/>
                </a:solidFill>
                <a:latin typeface="Calibri" pitchFamily="34" charset="0"/>
                <a:ea typeface="Calibri" pitchFamily="34" charset="-122"/>
                <a:cs typeface="Calibri" pitchFamily="34" charset="-120"/>
              </a:rPr>
              <a:t>A browser-local plan supports the review. It is not yet a shared workflow system.</a:t>
            </a:r>
            <a:endParaRPr lang="en-US" sz="1750" dirty="0"/>
          </a:p>
        </p:txBody>
      </p:sp>
      <p:sp>
        <p:nvSpPr>
          <p:cNvPr id="7" name="Shape 5"/>
          <p:cNvSpPr/>
          <p:nvPr/>
        </p:nvSpPr>
        <p:spPr>
          <a:xfrm>
            <a:off x="502920" y="2167128"/>
            <a:ext cx="2569464" cy="1078992"/>
          </a:xfrm>
          <a:prstGeom prst="roundRect">
            <a:avLst>
              <a:gd name="adj" fmla="val 10169"/>
            </a:avLst>
          </a:prstGeom>
          <a:solidFill>
            <a:srgbClr val="FFFDFA"/>
          </a:solidFill>
          <a:ln w="12700">
            <a:solidFill>
              <a:srgbClr val="FFFDFA">
                <a:alpha val="0"/>
              </a:srgbClr>
            </a:solidFill>
            <a:prstDash val="solid"/>
          </a:ln>
        </p:spPr>
      </p:sp>
      <p:sp>
        <p:nvSpPr>
          <p:cNvPr id="8" name="Shape 6"/>
          <p:cNvSpPr/>
          <p:nvPr/>
        </p:nvSpPr>
        <p:spPr>
          <a:xfrm>
            <a:off x="685800" y="2414016"/>
            <a:ext cx="393192" cy="393192"/>
          </a:xfrm>
          <a:prstGeom prst="ellipse">
            <a:avLst/>
          </a:prstGeom>
          <a:solidFill>
            <a:srgbClr val="F0DFE3"/>
          </a:solidFill>
          <a:ln w="12700">
            <a:solidFill>
              <a:srgbClr val="F0DFE3">
                <a:alpha val="0"/>
              </a:srgbClr>
            </a:solidFill>
            <a:prstDash val="solid"/>
          </a:ln>
        </p:spPr>
      </p:sp>
      <p:sp>
        <p:nvSpPr>
          <p:cNvPr id="9" name="Text 7"/>
          <p:cNvSpPr/>
          <p:nvPr/>
        </p:nvSpPr>
        <p:spPr>
          <a:xfrm>
            <a:off x="685800" y="2414016"/>
            <a:ext cx="393192" cy="393192"/>
          </a:xfrm>
          <a:prstGeom prst="rect">
            <a:avLst/>
          </a:prstGeom>
          <a:noFill/>
          <a:ln/>
        </p:spPr>
        <p:txBody>
          <a:bodyPr wrap="square" lIns="0" tIns="0" rIns="0" bIns="0" rtlCol="0" anchor="ctr"/>
          <a:lstStyle/>
          <a:p>
            <a:pPr algn="ctr" indent="0" marL="0">
              <a:buNone/>
            </a:pPr>
            <a:r>
              <a:rPr lang="en-US" sz="1300" b="1" dirty="0">
                <a:solidFill>
                  <a:srgbClr val="6D2E46"/>
                </a:solidFill>
                <a:latin typeface="Calibri" pitchFamily="34" charset="0"/>
                <a:ea typeface="Calibri" pitchFamily="34" charset="-122"/>
                <a:cs typeface="Calibri" pitchFamily="34" charset="-120"/>
              </a:rPr>
              <a:t>01</a:t>
            </a:r>
            <a:endParaRPr lang="en-US" sz="1300" dirty="0"/>
          </a:p>
        </p:txBody>
      </p:sp>
      <p:sp>
        <p:nvSpPr>
          <p:cNvPr id="10" name="Text 8"/>
          <p:cNvSpPr/>
          <p:nvPr/>
        </p:nvSpPr>
        <p:spPr>
          <a:xfrm>
            <a:off x="1234440" y="2423160"/>
            <a:ext cx="1673352" cy="448056"/>
          </a:xfrm>
          <a:prstGeom prst="rect">
            <a:avLst/>
          </a:prstGeom>
          <a:noFill/>
          <a:ln/>
        </p:spPr>
        <p:txBody>
          <a:bodyPr wrap="square" lIns="0" tIns="0" rIns="0" bIns="0" rtlCol="0" anchor="ctr"/>
          <a:lstStyle/>
          <a:p>
            <a:pPr indent="0" marL="0">
              <a:buNone/>
            </a:pPr>
            <a:r>
              <a:rPr lang="en-US" sz="1800" b="1" dirty="0">
                <a:solidFill>
                  <a:srgbClr val="30282E"/>
                </a:solidFill>
                <a:latin typeface="Calibri" pitchFamily="34" charset="0"/>
                <a:ea typeface="Calibri" pitchFamily="34" charset="-122"/>
                <a:cs typeface="Calibri" pitchFamily="34" charset="-120"/>
              </a:rPr>
              <a:t>Review a decision</a:t>
            </a:r>
            <a:endParaRPr lang="en-US" sz="1800" dirty="0"/>
          </a:p>
        </p:txBody>
      </p:sp>
      <p:sp>
        <p:nvSpPr>
          <p:cNvPr id="11" name="Shape 9"/>
          <p:cNvSpPr/>
          <p:nvPr/>
        </p:nvSpPr>
        <p:spPr>
          <a:xfrm>
            <a:off x="3154680" y="2596896"/>
            <a:ext cx="137160" cy="228600"/>
          </a:xfrm>
          <a:prstGeom prst="chevron">
            <a:avLst/>
          </a:prstGeom>
          <a:solidFill>
            <a:srgbClr val="BD8192"/>
          </a:solidFill>
          <a:ln w="12700">
            <a:solidFill>
              <a:srgbClr val="BD8192">
                <a:alpha val="0"/>
              </a:srgbClr>
            </a:solidFill>
            <a:prstDash val="solid"/>
          </a:ln>
        </p:spPr>
      </p:sp>
      <p:sp>
        <p:nvSpPr>
          <p:cNvPr id="12" name="Shape 10"/>
          <p:cNvSpPr/>
          <p:nvPr/>
        </p:nvSpPr>
        <p:spPr>
          <a:xfrm>
            <a:off x="3374136" y="2167128"/>
            <a:ext cx="2569464" cy="1078992"/>
          </a:xfrm>
          <a:prstGeom prst="roundRect">
            <a:avLst>
              <a:gd name="adj" fmla="val 10169"/>
            </a:avLst>
          </a:prstGeom>
          <a:solidFill>
            <a:srgbClr val="FFFDFA"/>
          </a:solidFill>
          <a:ln w="12700">
            <a:solidFill>
              <a:srgbClr val="FFFDFA">
                <a:alpha val="0"/>
              </a:srgbClr>
            </a:solidFill>
            <a:prstDash val="solid"/>
          </a:ln>
        </p:spPr>
      </p:sp>
      <p:sp>
        <p:nvSpPr>
          <p:cNvPr id="13" name="Shape 11"/>
          <p:cNvSpPr/>
          <p:nvPr/>
        </p:nvSpPr>
        <p:spPr>
          <a:xfrm>
            <a:off x="3557016" y="2414016"/>
            <a:ext cx="393192" cy="393192"/>
          </a:xfrm>
          <a:prstGeom prst="ellipse">
            <a:avLst/>
          </a:prstGeom>
          <a:solidFill>
            <a:srgbClr val="F0DFE3"/>
          </a:solidFill>
          <a:ln w="12700">
            <a:solidFill>
              <a:srgbClr val="F0DFE3">
                <a:alpha val="0"/>
              </a:srgbClr>
            </a:solidFill>
            <a:prstDash val="solid"/>
          </a:ln>
        </p:spPr>
      </p:sp>
      <p:sp>
        <p:nvSpPr>
          <p:cNvPr id="14" name="Text 12"/>
          <p:cNvSpPr/>
          <p:nvPr/>
        </p:nvSpPr>
        <p:spPr>
          <a:xfrm>
            <a:off x="3557016" y="2414016"/>
            <a:ext cx="393192" cy="393192"/>
          </a:xfrm>
          <a:prstGeom prst="rect">
            <a:avLst/>
          </a:prstGeom>
          <a:noFill/>
          <a:ln/>
        </p:spPr>
        <p:txBody>
          <a:bodyPr wrap="square" lIns="0" tIns="0" rIns="0" bIns="0" rtlCol="0" anchor="ctr"/>
          <a:lstStyle/>
          <a:p>
            <a:pPr algn="ctr" indent="0" marL="0">
              <a:buNone/>
            </a:pPr>
            <a:r>
              <a:rPr lang="en-US" sz="1300" b="1" dirty="0">
                <a:solidFill>
                  <a:srgbClr val="6D2E46"/>
                </a:solidFill>
                <a:latin typeface="Calibri" pitchFamily="34" charset="0"/>
                <a:ea typeface="Calibri" pitchFamily="34" charset="-122"/>
                <a:cs typeface="Calibri" pitchFamily="34" charset="-120"/>
              </a:rPr>
              <a:t>02</a:t>
            </a:r>
            <a:endParaRPr lang="en-US" sz="1300" dirty="0"/>
          </a:p>
        </p:txBody>
      </p:sp>
      <p:sp>
        <p:nvSpPr>
          <p:cNvPr id="15" name="Text 13"/>
          <p:cNvSpPr/>
          <p:nvPr/>
        </p:nvSpPr>
        <p:spPr>
          <a:xfrm>
            <a:off x="4105656" y="2423160"/>
            <a:ext cx="1673352" cy="448056"/>
          </a:xfrm>
          <a:prstGeom prst="rect">
            <a:avLst/>
          </a:prstGeom>
          <a:noFill/>
          <a:ln/>
        </p:spPr>
        <p:txBody>
          <a:bodyPr wrap="square" lIns="0" tIns="0" rIns="0" bIns="0" rtlCol="0" anchor="ctr"/>
          <a:lstStyle/>
          <a:p>
            <a:pPr indent="0" marL="0">
              <a:buNone/>
            </a:pPr>
            <a:r>
              <a:rPr lang="en-US" sz="1800" b="1" dirty="0">
                <a:solidFill>
                  <a:srgbClr val="30282E"/>
                </a:solidFill>
                <a:latin typeface="Calibri" pitchFamily="34" charset="0"/>
                <a:ea typeface="Calibri" pitchFamily="34" charset="-122"/>
                <a:cs typeface="Calibri" pitchFamily="34" charset="-120"/>
              </a:rPr>
              <a:t>Inspect the evidence</a:t>
            </a:r>
            <a:endParaRPr lang="en-US" sz="1800" dirty="0"/>
          </a:p>
        </p:txBody>
      </p:sp>
      <p:sp>
        <p:nvSpPr>
          <p:cNvPr id="16" name="Shape 14"/>
          <p:cNvSpPr/>
          <p:nvPr/>
        </p:nvSpPr>
        <p:spPr>
          <a:xfrm>
            <a:off x="6025896" y="2596896"/>
            <a:ext cx="137160" cy="228600"/>
          </a:xfrm>
          <a:prstGeom prst="chevron">
            <a:avLst/>
          </a:prstGeom>
          <a:solidFill>
            <a:srgbClr val="BD8192"/>
          </a:solidFill>
          <a:ln w="12700">
            <a:solidFill>
              <a:srgbClr val="BD8192">
                <a:alpha val="0"/>
              </a:srgbClr>
            </a:solidFill>
            <a:prstDash val="solid"/>
          </a:ln>
        </p:spPr>
      </p:sp>
      <p:sp>
        <p:nvSpPr>
          <p:cNvPr id="17" name="Shape 15"/>
          <p:cNvSpPr/>
          <p:nvPr/>
        </p:nvSpPr>
        <p:spPr>
          <a:xfrm>
            <a:off x="6245352" y="2167128"/>
            <a:ext cx="2569464" cy="1078992"/>
          </a:xfrm>
          <a:prstGeom prst="roundRect">
            <a:avLst>
              <a:gd name="adj" fmla="val 10169"/>
            </a:avLst>
          </a:prstGeom>
          <a:solidFill>
            <a:srgbClr val="FFFDFA"/>
          </a:solidFill>
          <a:ln w="12700">
            <a:solidFill>
              <a:srgbClr val="FFFDFA">
                <a:alpha val="0"/>
              </a:srgbClr>
            </a:solidFill>
            <a:prstDash val="solid"/>
          </a:ln>
        </p:spPr>
      </p:sp>
      <p:sp>
        <p:nvSpPr>
          <p:cNvPr id="18" name="Shape 16"/>
          <p:cNvSpPr/>
          <p:nvPr/>
        </p:nvSpPr>
        <p:spPr>
          <a:xfrm>
            <a:off x="6428232" y="2414016"/>
            <a:ext cx="393192" cy="393192"/>
          </a:xfrm>
          <a:prstGeom prst="ellipse">
            <a:avLst/>
          </a:prstGeom>
          <a:solidFill>
            <a:srgbClr val="F0DFE3"/>
          </a:solidFill>
          <a:ln w="12700">
            <a:solidFill>
              <a:srgbClr val="F0DFE3">
                <a:alpha val="0"/>
              </a:srgbClr>
            </a:solidFill>
            <a:prstDash val="solid"/>
          </a:ln>
        </p:spPr>
      </p:sp>
      <p:sp>
        <p:nvSpPr>
          <p:cNvPr id="19" name="Text 17"/>
          <p:cNvSpPr/>
          <p:nvPr/>
        </p:nvSpPr>
        <p:spPr>
          <a:xfrm>
            <a:off x="6428232" y="2414016"/>
            <a:ext cx="393192" cy="393192"/>
          </a:xfrm>
          <a:prstGeom prst="rect">
            <a:avLst/>
          </a:prstGeom>
          <a:noFill/>
          <a:ln/>
        </p:spPr>
        <p:txBody>
          <a:bodyPr wrap="square" lIns="0" tIns="0" rIns="0" bIns="0" rtlCol="0" anchor="ctr"/>
          <a:lstStyle/>
          <a:p>
            <a:pPr algn="ctr" indent="0" marL="0">
              <a:buNone/>
            </a:pPr>
            <a:r>
              <a:rPr lang="en-US" sz="1300" b="1" dirty="0">
                <a:solidFill>
                  <a:srgbClr val="6D2E46"/>
                </a:solidFill>
                <a:latin typeface="Calibri" pitchFamily="34" charset="0"/>
                <a:ea typeface="Calibri" pitchFamily="34" charset="-122"/>
                <a:cs typeface="Calibri" pitchFamily="34" charset="-120"/>
              </a:rPr>
              <a:t>03</a:t>
            </a:r>
            <a:endParaRPr lang="en-US" sz="1300" dirty="0"/>
          </a:p>
        </p:txBody>
      </p:sp>
      <p:sp>
        <p:nvSpPr>
          <p:cNvPr id="20" name="Text 18"/>
          <p:cNvSpPr/>
          <p:nvPr/>
        </p:nvSpPr>
        <p:spPr>
          <a:xfrm>
            <a:off x="6976872" y="2423160"/>
            <a:ext cx="1673352" cy="448056"/>
          </a:xfrm>
          <a:prstGeom prst="rect">
            <a:avLst/>
          </a:prstGeom>
          <a:noFill/>
          <a:ln/>
        </p:spPr>
        <p:txBody>
          <a:bodyPr wrap="square" lIns="0" tIns="0" rIns="0" bIns="0" rtlCol="0" anchor="ctr"/>
          <a:lstStyle/>
          <a:p>
            <a:pPr indent="0" marL="0">
              <a:buNone/>
            </a:pPr>
            <a:r>
              <a:rPr lang="en-US" sz="1800" b="1" dirty="0">
                <a:solidFill>
                  <a:srgbClr val="30282E"/>
                </a:solidFill>
                <a:latin typeface="Calibri" pitchFamily="34" charset="0"/>
                <a:ea typeface="Calibri" pitchFamily="34" charset="-122"/>
                <a:cs typeface="Calibri" pitchFamily="34" charset="-120"/>
              </a:rPr>
              <a:t>Accept or defer</a:t>
            </a:r>
            <a:endParaRPr lang="en-US" sz="1800" dirty="0"/>
          </a:p>
        </p:txBody>
      </p:sp>
      <p:sp>
        <p:nvSpPr>
          <p:cNvPr id="21" name="Shape 19"/>
          <p:cNvSpPr/>
          <p:nvPr/>
        </p:nvSpPr>
        <p:spPr>
          <a:xfrm>
            <a:off x="8897112" y="2596896"/>
            <a:ext cx="137160" cy="228600"/>
          </a:xfrm>
          <a:prstGeom prst="chevron">
            <a:avLst/>
          </a:prstGeom>
          <a:solidFill>
            <a:srgbClr val="BD8192"/>
          </a:solidFill>
          <a:ln w="12700">
            <a:solidFill>
              <a:srgbClr val="BD8192">
                <a:alpha val="0"/>
              </a:srgbClr>
            </a:solidFill>
            <a:prstDash val="solid"/>
          </a:ln>
        </p:spPr>
      </p:sp>
      <p:sp>
        <p:nvSpPr>
          <p:cNvPr id="22" name="Shape 20"/>
          <p:cNvSpPr/>
          <p:nvPr/>
        </p:nvSpPr>
        <p:spPr>
          <a:xfrm>
            <a:off x="9116568" y="2167128"/>
            <a:ext cx="2569464" cy="1078992"/>
          </a:xfrm>
          <a:prstGeom prst="roundRect">
            <a:avLst>
              <a:gd name="adj" fmla="val 10169"/>
            </a:avLst>
          </a:prstGeom>
          <a:solidFill>
            <a:srgbClr val="6D2E46"/>
          </a:solidFill>
          <a:ln w="12700">
            <a:solidFill>
              <a:srgbClr val="6D2E46">
                <a:alpha val="0"/>
              </a:srgbClr>
            </a:solidFill>
            <a:prstDash val="solid"/>
          </a:ln>
        </p:spPr>
      </p:sp>
      <p:sp>
        <p:nvSpPr>
          <p:cNvPr id="23" name="Shape 21"/>
          <p:cNvSpPr/>
          <p:nvPr/>
        </p:nvSpPr>
        <p:spPr>
          <a:xfrm>
            <a:off x="9299448" y="2414016"/>
            <a:ext cx="393192" cy="393192"/>
          </a:xfrm>
          <a:prstGeom prst="ellipse">
            <a:avLst/>
          </a:prstGeom>
          <a:solidFill>
            <a:srgbClr val="E6BFCA"/>
          </a:solidFill>
          <a:ln w="12700">
            <a:solidFill>
              <a:srgbClr val="E6BFCA">
                <a:alpha val="0"/>
              </a:srgbClr>
            </a:solidFill>
            <a:prstDash val="solid"/>
          </a:ln>
        </p:spPr>
      </p:sp>
      <p:sp>
        <p:nvSpPr>
          <p:cNvPr id="24" name="Text 22"/>
          <p:cNvSpPr/>
          <p:nvPr/>
        </p:nvSpPr>
        <p:spPr>
          <a:xfrm>
            <a:off x="9299448" y="2414016"/>
            <a:ext cx="393192" cy="393192"/>
          </a:xfrm>
          <a:prstGeom prst="rect">
            <a:avLst/>
          </a:prstGeom>
          <a:noFill/>
          <a:ln/>
        </p:spPr>
        <p:txBody>
          <a:bodyPr wrap="square" lIns="0" tIns="0" rIns="0" bIns="0" rtlCol="0" anchor="ctr"/>
          <a:lstStyle/>
          <a:p>
            <a:pPr algn="ctr" indent="0" marL="0">
              <a:buNone/>
            </a:pPr>
            <a:r>
              <a:rPr lang="en-US" sz="1300" b="1" dirty="0">
                <a:solidFill>
                  <a:srgbClr val="6D2E46"/>
                </a:solidFill>
                <a:latin typeface="Calibri" pitchFamily="34" charset="0"/>
                <a:ea typeface="Calibri" pitchFamily="34" charset="-122"/>
                <a:cs typeface="Calibri" pitchFamily="34" charset="-120"/>
              </a:rPr>
              <a:t>04</a:t>
            </a:r>
            <a:endParaRPr lang="en-US" sz="1300" dirty="0"/>
          </a:p>
        </p:txBody>
      </p:sp>
      <p:sp>
        <p:nvSpPr>
          <p:cNvPr id="25" name="Text 23"/>
          <p:cNvSpPr/>
          <p:nvPr/>
        </p:nvSpPr>
        <p:spPr>
          <a:xfrm>
            <a:off x="9848088" y="2423160"/>
            <a:ext cx="1673352" cy="448056"/>
          </a:xfrm>
          <a:prstGeom prst="rect">
            <a:avLst/>
          </a:prstGeom>
          <a:noFill/>
          <a:ln/>
        </p:spPr>
        <p:txBody>
          <a:bodyPr wrap="square" lIns="0" tIns="0" rIns="0" bIns="0" rtlCol="0" anchor="ctr"/>
          <a:lstStyle/>
          <a:p>
            <a:pPr indent="0" marL="0">
              <a:buNone/>
            </a:pPr>
            <a:r>
              <a:rPr lang="en-US" sz="1800" b="1" dirty="0">
                <a:solidFill>
                  <a:srgbClr val="FAF6EF"/>
                </a:solidFill>
                <a:latin typeface="Calibri" pitchFamily="34" charset="0"/>
                <a:ea typeface="Calibri" pitchFamily="34" charset="-122"/>
                <a:cs typeface="Calibri" pitchFamily="34" charset="-120"/>
              </a:rPr>
              <a:t>Export the plan</a:t>
            </a:r>
            <a:endParaRPr lang="en-US" sz="1800" dirty="0"/>
          </a:p>
        </p:txBody>
      </p:sp>
      <p:sp>
        <p:nvSpPr>
          <p:cNvPr id="26" name="Shape 24"/>
          <p:cNvSpPr/>
          <p:nvPr/>
        </p:nvSpPr>
        <p:spPr>
          <a:xfrm>
            <a:off x="502920" y="3557016"/>
            <a:ext cx="5422392" cy="2185416"/>
          </a:xfrm>
          <a:prstGeom prst="roundRect">
            <a:avLst>
              <a:gd name="adj" fmla="val 5021"/>
            </a:avLst>
          </a:prstGeom>
          <a:solidFill>
            <a:srgbClr val="FFFDFA"/>
          </a:solidFill>
          <a:ln w="12700">
            <a:solidFill>
              <a:srgbClr val="FFFDFA">
                <a:alpha val="0"/>
              </a:srgbClr>
            </a:solidFill>
            <a:prstDash val="solid"/>
          </a:ln>
        </p:spPr>
      </p:sp>
      <p:sp>
        <p:nvSpPr>
          <p:cNvPr id="27" name="Shape 25"/>
          <p:cNvSpPr/>
          <p:nvPr/>
        </p:nvSpPr>
        <p:spPr>
          <a:xfrm>
            <a:off x="6263640" y="3557016"/>
            <a:ext cx="5422392" cy="2185416"/>
          </a:xfrm>
          <a:prstGeom prst="roundRect">
            <a:avLst>
              <a:gd name="adj" fmla="val 5021"/>
            </a:avLst>
          </a:prstGeom>
          <a:solidFill>
            <a:srgbClr val="F0DFE3"/>
          </a:solidFill>
          <a:ln w="12700">
            <a:solidFill>
              <a:srgbClr val="F0DFE3">
                <a:alpha val="0"/>
              </a:srgbClr>
            </a:solidFill>
            <a:prstDash val="solid"/>
          </a:ln>
        </p:spPr>
      </p:sp>
      <p:sp>
        <p:nvSpPr>
          <p:cNvPr id="28" name="Text 26"/>
          <p:cNvSpPr/>
          <p:nvPr/>
        </p:nvSpPr>
        <p:spPr>
          <a:xfrm>
            <a:off x="749808" y="3776472"/>
            <a:ext cx="4855464" cy="329184"/>
          </a:xfrm>
          <a:prstGeom prst="rect">
            <a:avLst/>
          </a:prstGeom>
          <a:noFill/>
          <a:ln/>
        </p:spPr>
        <p:txBody>
          <a:bodyPr wrap="square" lIns="0" tIns="0" rIns="0" bIns="0" rtlCol="0" anchor="ctr"/>
          <a:lstStyle/>
          <a:p>
            <a:pPr indent="0" marL="0">
              <a:buNone/>
            </a:pPr>
            <a:r>
              <a:rPr lang="en-US" sz="2300" dirty="0">
                <a:solidFill>
                  <a:srgbClr val="30282E"/>
                </a:solidFill>
                <a:latin typeface="Georgia" pitchFamily="34" charset="0"/>
                <a:ea typeface="Georgia" pitchFamily="34" charset="-122"/>
                <a:cs typeface="Georgia" pitchFamily="34" charset="-120"/>
              </a:rPr>
              <a:t>Ready to use locally</a:t>
            </a:r>
            <a:endParaRPr lang="en-US" sz="2300" dirty="0"/>
          </a:p>
        </p:txBody>
      </p:sp>
      <p:sp>
        <p:nvSpPr>
          <p:cNvPr id="29" name="Text 27"/>
          <p:cNvSpPr/>
          <p:nvPr/>
        </p:nvSpPr>
        <p:spPr>
          <a:xfrm>
            <a:off x="768096" y="4297680"/>
            <a:ext cx="4773168" cy="256032"/>
          </a:xfrm>
          <a:prstGeom prst="rect">
            <a:avLst/>
          </a:prstGeom>
          <a:noFill/>
          <a:ln/>
        </p:spPr>
        <p:txBody>
          <a:bodyPr wrap="square" lIns="0" tIns="0" rIns="0" bIns="0" rtlCol="0" anchor="ctr"/>
          <a:lstStyle/>
          <a:p>
            <a:pPr indent="0" marL="0">
              <a:buNone/>
            </a:pPr>
            <a:r>
              <a:rPr lang="en-US" sz="1720" dirty="0">
                <a:solidFill>
                  <a:srgbClr val="30282E"/>
                </a:solidFill>
                <a:latin typeface="Calibri" pitchFamily="34" charset="0"/>
                <a:ea typeface="Calibri" pitchFamily="34" charset="-122"/>
                <a:cs typeface="Calibri" pitchFamily="34" charset="-120"/>
              </a:rPr>
              <a:t>Owners, due dates, progress and notes</a:t>
            </a:r>
            <a:endParaRPr lang="en-US" sz="1720" dirty="0"/>
          </a:p>
        </p:txBody>
      </p:sp>
      <p:sp>
        <p:nvSpPr>
          <p:cNvPr id="30" name="Text 28"/>
          <p:cNvSpPr/>
          <p:nvPr/>
        </p:nvSpPr>
        <p:spPr>
          <a:xfrm>
            <a:off x="768096" y="4636008"/>
            <a:ext cx="4773168" cy="256032"/>
          </a:xfrm>
          <a:prstGeom prst="rect">
            <a:avLst/>
          </a:prstGeom>
          <a:noFill/>
          <a:ln/>
        </p:spPr>
        <p:txBody>
          <a:bodyPr wrap="square" lIns="0" tIns="0" rIns="0" bIns="0" rtlCol="0" anchor="ctr"/>
          <a:lstStyle/>
          <a:p>
            <a:pPr indent="0" marL="0">
              <a:buNone/>
            </a:pPr>
            <a:r>
              <a:rPr lang="en-US" sz="1720" dirty="0">
                <a:solidFill>
                  <a:srgbClr val="30282E"/>
                </a:solidFill>
                <a:latin typeface="Calibri" pitchFamily="34" charset="0"/>
                <a:ea typeface="Calibri" pitchFamily="34" charset="-122"/>
                <a:cs typeface="Calibri" pitchFamily="34" charset="-120"/>
              </a:rPr>
              <a:t>Source record / row drilldown</a:t>
            </a:r>
            <a:endParaRPr lang="en-US" sz="1720" dirty="0"/>
          </a:p>
        </p:txBody>
      </p:sp>
      <p:sp>
        <p:nvSpPr>
          <p:cNvPr id="31" name="Text 29"/>
          <p:cNvSpPr/>
          <p:nvPr/>
        </p:nvSpPr>
        <p:spPr>
          <a:xfrm>
            <a:off x="768096" y="4974336"/>
            <a:ext cx="4773168" cy="256032"/>
          </a:xfrm>
          <a:prstGeom prst="rect">
            <a:avLst/>
          </a:prstGeom>
          <a:noFill/>
          <a:ln/>
        </p:spPr>
        <p:txBody>
          <a:bodyPr wrap="square" lIns="0" tIns="0" rIns="0" bIns="0" rtlCol="0" anchor="ctr"/>
          <a:lstStyle/>
          <a:p>
            <a:pPr indent="0" marL="0">
              <a:buNone/>
            </a:pPr>
            <a:r>
              <a:rPr lang="en-US" sz="1720" dirty="0">
                <a:solidFill>
                  <a:srgbClr val="30282E"/>
                </a:solidFill>
                <a:latin typeface="Calibri" pitchFamily="34" charset="0"/>
                <a:ea typeface="Calibri" pitchFamily="34" charset="-122"/>
                <a:cs typeface="Calibri" pitchFamily="34" charset="-120"/>
              </a:rPr>
              <a:t>CSV exports; no external UI dependency</a:t>
            </a:r>
            <a:endParaRPr lang="en-US" sz="1720" dirty="0"/>
          </a:p>
        </p:txBody>
      </p:sp>
      <p:sp>
        <p:nvSpPr>
          <p:cNvPr id="32" name="Text 30"/>
          <p:cNvSpPr/>
          <p:nvPr/>
        </p:nvSpPr>
        <p:spPr>
          <a:xfrm>
            <a:off x="768096" y="5358384"/>
            <a:ext cx="4837176" cy="274320"/>
          </a:xfrm>
          <a:prstGeom prst="rect">
            <a:avLst/>
          </a:prstGeom>
          <a:noFill/>
          <a:ln/>
        </p:spPr>
        <p:txBody>
          <a:bodyPr wrap="square" lIns="0" tIns="0" rIns="0" bIns="0" rtlCol="0" anchor="ctr"/>
          <a:lstStyle/>
          <a:p>
            <a:pPr indent="0" marL="0">
              <a:buNone/>
            </a:pPr>
            <a:r>
              <a:rPr lang="en-US" sz="1600" b="1" dirty="0">
                <a:solidFill>
                  <a:srgbClr val="6D2E46"/>
                </a:solidFill>
                <a:latin typeface="Calibri" pitchFamily="34" charset="0"/>
                <a:ea typeface="Calibri" pitchFamily="34" charset="-122"/>
                <a:cs typeface="Calibri" pitchFamily="34" charset="-120"/>
              </a:rPr>
              <a:t>Plans stay in this browser. Export before moving.</a:t>
            </a:r>
            <a:endParaRPr lang="en-US" sz="1600" dirty="0"/>
          </a:p>
        </p:txBody>
      </p:sp>
      <p:sp>
        <p:nvSpPr>
          <p:cNvPr id="33" name="Text 31"/>
          <p:cNvSpPr/>
          <p:nvPr/>
        </p:nvSpPr>
        <p:spPr>
          <a:xfrm>
            <a:off x="6519672" y="3776472"/>
            <a:ext cx="4855464" cy="329184"/>
          </a:xfrm>
          <a:prstGeom prst="rect">
            <a:avLst/>
          </a:prstGeom>
          <a:noFill/>
          <a:ln/>
        </p:spPr>
        <p:txBody>
          <a:bodyPr wrap="square" lIns="0" tIns="0" rIns="0" bIns="0" rtlCol="0" anchor="ctr"/>
          <a:lstStyle/>
          <a:p>
            <a:pPr indent="0" marL="0">
              <a:buNone/>
            </a:pPr>
            <a:r>
              <a:rPr lang="en-US" sz="2300" dirty="0">
                <a:solidFill>
                  <a:srgbClr val="30282E"/>
                </a:solidFill>
                <a:latin typeface="Georgia" pitchFamily="34" charset="0"/>
                <a:ea typeface="Georgia" pitchFamily="34" charset="-122"/>
                <a:cs typeface="Georgia" pitchFamily="34" charset="-120"/>
              </a:rPr>
              <a:t>Know the evidence limits</a:t>
            </a:r>
            <a:endParaRPr lang="en-US" sz="2300" dirty="0"/>
          </a:p>
        </p:txBody>
      </p:sp>
      <p:sp>
        <p:nvSpPr>
          <p:cNvPr id="34" name="Text 32"/>
          <p:cNvSpPr/>
          <p:nvPr/>
        </p:nvSpPr>
        <p:spPr>
          <a:xfrm>
            <a:off x="6528816" y="4352544"/>
            <a:ext cx="4855464" cy="265176"/>
          </a:xfrm>
          <a:prstGeom prst="rect">
            <a:avLst/>
          </a:prstGeom>
          <a:noFill/>
          <a:ln/>
        </p:spPr>
        <p:txBody>
          <a:bodyPr wrap="square" lIns="0" tIns="0" rIns="0" bIns="0" rtlCol="0" anchor="ctr"/>
          <a:lstStyle/>
          <a:p>
            <a:pPr indent="0" marL="0">
              <a:buNone/>
            </a:pPr>
            <a:r>
              <a:rPr lang="en-US" sz="1700" dirty="0">
                <a:solidFill>
                  <a:srgbClr val="30282E"/>
                </a:solidFill>
                <a:latin typeface="Calibri" pitchFamily="34" charset="0"/>
                <a:ea typeface="Calibri" pitchFamily="34" charset="-122"/>
                <a:cs typeface="Calibri" pitchFamily="34" charset="-120"/>
              </a:rPr>
              <a:t>1 Jul 2026 observations · 81 days old</a:t>
            </a:r>
            <a:endParaRPr lang="en-US" sz="1700" dirty="0"/>
          </a:p>
        </p:txBody>
      </p:sp>
      <p:sp>
        <p:nvSpPr>
          <p:cNvPr id="35" name="Text 33"/>
          <p:cNvSpPr/>
          <p:nvPr/>
        </p:nvSpPr>
        <p:spPr>
          <a:xfrm>
            <a:off x="6528816" y="4791456"/>
            <a:ext cx="4855464" cy="265176"/>
          </a:xfrm>
          <a:prstGeom prst="rect">
            <a:avLst/>
          </a:prstGeom>
          <a:noFill/>
          <a:ln/>
        </p:spPr>
        <p:txBody>
          <a:bodyPr wrap="square" lIns="0" tIns="0" rIns="0" bIns="0" rtlCol="0" anchor="ctr"/>
          <a:lstStyle/>
          <a:p>
            <a:pPr indent="0" marL="0">
              <a:buNone/>
            </a:pPr>
            <a:r>
              <a:rPr lang="en-US" sz="1700" dirty="0">
                <a:solidFill>
                  <a:srgbClr val="30282E"/>
                </a:solidFill>
                <a:latin typeface="Calibri" pitchFamily="34" charset="0"/>
                <a:ea typeface="Calibri" pitchFamily="34" charset="-122"/>
                <a:cs typeface="Calibri" pitchFamily="34" charset="-120"/>
              </a:rPr>
              <a:t>4 invalid popularity scores excluded</a:t>
            </a:r>
            <a:endParaRPr lang="en-US" sz="1700" dirty="0"/>
          </a:p>
        </p:txBody>
      </p:sp>
      <p:sp>
        <p:nvSpPr>
          <p:cNvPr id="36" name="Text 34"/>
          <p:cNvSpPr/>
          <p:nvPr/>
        </p:nvSpPr>
        <p:spPr>
          <a:xfrm>
            <a:off x="6528816" y="5230368"/>
            <a:ext cx="4855464" cy="265176"/>
          </a:xfrm>
          <a:prstGeom prst="rect">
            <a:avLst/>
          </a:prstGeom>
          <a:noFill/>
          <a:ln/>
        </p:spPr>
        <p:txBody>
          <a:bodyPr wrap="square" lIns="0" tIns="0" rIns="0" bIns="0" rtlCol="0" anchor="ctr"/>
          <a:lstStyle/>
          <a:p>
            <a:pPr indent="0" marL="0">
              <a:buNone/>
            </a:pPr>
            <a:r>
              <a:rPr lang="en-US" sz="1700" dirty="0">
                <a:solidFill>
                  <a:srgbClr val="30282E"/>
                </a:solidFill>
                <a:latin typeface="Calibri" pitchFamily="34" charset="0"/>
                <a:ea typeface="Calibri" pitchFamily="34" charset="-122"/>
                <a:cs typeface="Calibri" pitchFamily="34" charset="-120"/>
              </a:rPr>
              <a:t>12-week end and stock-snapshot date unknown</a:t>
            </a:r>
            <a:endParaRPr lang="en-US" sz="1700" dirty="0"/>
          </a:p>
        </p:txBody>
      </p:sp>
      <p:sp>
        <p:nvSpPr>
          <p:cNvPr id="37" name="Text 35"/>
          <p:cNvSpPr/>
          <p:nvPr/>
        </p:nvSpPr>
        <p:spPr>
          <a:xfrm>
            <a:off x="502920" y="5916168"/>
            <a:ext cx="11064240" cy="201168"/>
          </a:xfrm>
          <a:prstGeom prst="rect">
            <a:avLst/>
          </a:prstGeom>
          <a:noFill/>
          <a:ln/>
        </p:spPr>
        <p:txBody>
          <a:bodyPr wrap="square" lIns="0" tIns="0" rIns="0" bIns="0" rtlCol="0" anchor="ctr"/>
          <a:lstStyle/>
          <a:p>
            <a:pPr indent="0" marL="0">
              <a:buNone/>
            </a:pPr>
            <a:r>
              <a:rPr lang="en-US" sz="1350" dirty="0">
                <a:solidFill>
                  <a:srgbClr val="6F6268"/>
                </a:solidFill>
                <a:latin typeface="Calibri" pitchFamily="34" charset="0"/>
                <a:ea typeface="Calibri" pitchFamily="34" charset="-122"/>
                <a:cs typeface="Calibri" pitchFamily="34" charset="-120"/>
              </a:rPr>
              <a:t>Accepting a plan item does not change stock, prices or assortment.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 architecture\production.png + production.json; official URLs in notes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09 / 10</a:t>
            </a:r>
            <a:endParaRPr lang="en-US" sz="1050" dirty="0"/>
          </a:p>
        </p:txBody>
      </p:sp>
      <p:sp>
        <p:nvSpPr>
          <p:cNvPr id="4" name="Text 2"/>
          <p:cNvSpPr/>
          <p:nvPr/>
        </p:nvSpPr>
        <p:spPr>
          <a:xfrm>
            <a:off x="502920" y="502920"/>
            <a:ext cx="11183112" cy="539496"/>
          </a:xfrm>
          <a:prstGeom prst="rect">
            <a:avLst/>
          </a:prstGeom>
          <a:noFill/>
          <a:ln/>
        </p:spPr>
        <p:txBody>
          <a:bodyPr wrap="square" lIns="0" tIns="0" rIns="0" bIns="0" rtlCol="0" anchor="ctr"/>
          <a:lstStyle/>
          <a:p>
            <a:pPr indent="0" marL="0">
              <a:buNone/>
            </a:pPr>
            <a:r>
              <a:rPr lang="en-US" sz="3200" dirty="0">
                <a:solidFill>
                  <a:srgbClr val="30282E"/>
                </a:solidFill>
                <a:latin typeface="Georgia" pitchFamily="34" charset="0"/>
                <a:ea typeface="Georgia" pitchFamily="34" charset="-122"/>
                <a:cs typeface="Georgia" pitchFamily="34" charset="-120"/>
              </a:rPr>
              <a:t>A production path on Azure — proposed, not deployed</a:t>
            </a:r>
            <a:endParaRPr lang="en-US" sz="3200" dirty="0"/>
          </a:p>
        </p:txBody>
      </p:sp>
      <p:sp>
        <p:nvSpPr>
          <p:cNvPr id="5" name="Text 3"/>
          <p:cNvSpPr/>
          <p:nvPr/>
        </p:nvSpPr>
        <p:spPr>
          <a:xfrm>
            <a:off x="502920" y="1124712"/>
            <a:ext cx="11183112" cy="246888"/>
          </a:xfrm>
          <a:prstGeom prst="rect">
            <a:avLst/>
          </a:prstGeom>
          <a:noFill/>
          <a:ln/>
        </p:spPr>
        <p:txBody>
          <a:bodyPr wrap="square" lIns="0" tIns="0" rIns="0" bIns="0" rtlCol="0" anchor="ctr"/>
          <a:lstStyle/>
          <a:p>
            <a:pPr indent="0" marL="0">
              <a:buNone/>
            </a:pPr>
            <a:r>
              <a:rPr lang="en-US" sz="1680" dirty="0">
                <a:solidFill>
                  <a:srgbClr val="6F6268"/>
                </a:solidFill>
                <a:latin typeface="Calibri" pitchFamily="34" charset="0"/>
                <a:ea typeface="Calibri" pitchFamily="34" charset="-122"/>
                <a:cs typeface="Calibri" pitchFamily="34" charset="-120"/>
              </a:rPr>
              <a:t>Today: local dashboard + browser storage. API, SSO and shared plans are not implemented.</a:t>
            </a:r>
            <a:endParaRPr lang="en-US" sz="1680" dirty="0"/>
          </a:p>
        </p:txBody>
      </p:sp>
      <p:pic>
        <p:nvPicPr>
          <p:cNvPr id="6" name="Image 0" descr="The shared, proposed Azure production architecture. Not deployed.">
            <a:hlinkClick r:id="rId2" tooltip=""/>
          </p:cNvPr>
          <p:cNvPicPr>
            <a:picLocks noChangeAspect="1"/>
          </p:cNvPicPr>
          <p:nvPr/>
        </p:nvPicPr>
        <p:blipFill>
          <a:blip r:embed="rId1"/>
          <a:stretch>
            <a:fillRect/>
          </a:stretch>
        </p:blipFill>
        <p:spPr>
          <a:xfrm>
            <a:off x="505178" y="1435608"/>
            <a:ext cx="11181643" cy="474573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C252B"/>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D1BFC6"/>
                </a:solidFill>
                <a:latin typeface="Calibri" pitchFamily="34" charset="0"/>
                <a:ea typeface="Calibri" pitchFamily="34" charset="-122"/>
                <a:cs typeface="Calibri" pitchFamily="34" charset="-120"/>
              </a:rPr>
              <a:t>Synthetic case study · proposed next steps · review.json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D1BFC6"/>
                </a:solidFill>
                <a:latin typeface="Calibri" pitchFamily="34" charset="0"/>
                <a:ea typeface="Calibri" pitchFamily="34" charset="-122"/>
                <a:cs typeface="Calibri" pitchFamily="34" charset="-120"/>
              </a:rPr>
              <a:t>10 / 10</a:t>
            </a:r>
            <a:endParaRPr lang="en-US" sz="1050" dirty="0"/>
          </a:p>
        </p:txBody>
      </p:sp>
      <p:sp>
        <p:nvSpPr>
          <p:cNvPr id="4" name="Text 2"/>
          <p:cNvSpPr/>
          <p:nvPr/>
        </p:nvSpPr>
        <p:spPr>
          <a:xfrm>
            <a:off x="594360" y="566928"/>
            <a:ext cx="6400800" cy="219456"/>
          </a:xfrm>
          <a:prstGeom prst="rect">
            <a:avLst/>
          </a:prstGeom>
          <a:noFill/>
          <a:ln/>
        </p:spPr>
        <p:txBody>
          <a:bodyPr wrap="square" lIns="0" tIns="0" rIns="0" bIns="0" rtlCol="0" anchor="ctr"/>
          <a:lstStyle/>
          <a:p>
            <a:pPr indent="0" marL="0">
              <a:buNone/>
            </a:pPr>
            <a:r>
              <a:rPr lang="en-US" sz="1250" b="1" spc="180" kern="0" dirty="0">
                <a:solidFill>
                  <a:srgbClr val="E6BFCA"/>
                </a:solidFill>
                <a:latin typeface="Calibri" pitchFamily="34" charset="0"/>
                <a:ea typeface="Calibri" pitchFamily="34" charset="-122"/>
                <a:cs typeface="Calibri" pitchFamily="34" charset="-120"/>
              </a:rPr>
              <a:t>THE LEADERSHIP DECISION</a:t>
            </a:r>
            <a:endParaRPr lang="en-US" sz="1250" dirty="0"/>
          </a:p>
        </p:txBody>
      </p:sp>
      <p:sp>
        <p:nvSpPr>
          <p:cNvPr id="5" name="Text 3"/>
          <p:cNvSpPr/>
          <p:nvPr/>
        </p:nvSpPr>
        <p:spPr>
          <a:xfrm>
            <a:off x="594360" y="1197864"/>
            <a:ext cx="6492240" cy="1417320"/>
          </a:xfrm>
          <a:prstGeom prst="rect">
            <a:avLst/>
          </a:prstGeom>
          <a:noFill/>
          <a:ln/>
        </p:spPr>
        <p:txBody>
          <a:bodyPr wrap="square" lIns="0" tIns="0" rIns="0" bIns="0" rtlCol="0" anchor="t"/>
          <a:lstStyle/>
          <a:p>
            <a:pPr indent="0" marL="0">
              <a:buNone/>
            </a:pPr>
            <a:r>
              <a:rPr lang="en-US" sz="4700" dirty="0">
                <a:solidFill>
                  <a:srgbClr val="FAF6EF"/>
                </a:solidFill>
                <a:latin typeface="Georgia" pitchFamily="34" charset="0"/>
                <a:ea typeface="Georgia" pitchFamily="34" charset="-122"/>
                <a:cs typeface="Georgia" pitchFamily="34" charset="-120"/>
              </a:rPr>
              <a:t>Validate,</a:t>
            </a:r>
            <a:endParaRPr lang="en-US" sz="4700" dirty="0"/>
          </a:p>
          <a:p>
            <a:pPr indent="0" marL="0">
              <a:buNone/>
            </a:pPr>
            <a:r>
              <a:rPr lang="en-US" sz="4700" dirty="0">
                <a:solidFill>
                  <a:srgbClr val="FAF6EF"/>
                </a:solidFill>
                <a:latin typeface="Georgia" pitchFamily="34" charset="0"/>
                <a:ea typeface="Georgia" pitchFamily="34" charset="-122"/>
                <a:cs typeface="Georgia" pitchFamily="34" charset="-120"/>
              </a:rPr>
              <a:t>pilot, measure.</a:t>
            </a:r>
            <a:endParaRPr lang="en-US" sz="4700" dirty="0"/>
          </a:p>
        </p:txBody>
      </p:sp>
      <p:sp>
        <p:nvSpPr>
          <p:cNvPr id="6" name="Text 4"/>
          <p:cNvSpPr/>
          <p:nvPr/>
        </p:nvSpPr>
        <p:spPr>
          <a:xfrm>
            <a:off x="594360" y="2862072"/>
            <a:ext cx="6135624" cy="886968"/>
          </a:xfrm>
          <a:prstGeom prst="rect">
            <a:avLst/>
          </a:prstGeom>
          <a:noFill/>
          <a:ln/>
        </p:spPr>
        <p:txBody>
          <a:bodyPr wrap="square" lIns="0" tIns="0" rIns="0" bIns="0" rtlCol="0" anchor="ctr"/>
          <a:lstStyle/>
          <a:p>
            <a:pPr indent="0" marL="0">
              <a:buNone/>
            </a:pPr>
            <a:r>
              <a:rPr lang="en-US" sz="2800" dirty="0">
                <a:solidFill>
                  <a:srgbClr val="E6BFCA"/>
                </a:solidFill>
                <a:latin typeface="Georgia" pitchFamily="34" charset="0"/>
                <a:ea typeface="Georgia" pitchFamily="34" charset="-122"/>
                <a:cs typeface="Georgia" pitchFamily="34" charset="-120"/>
              </a:rPr>
              <a:t>Sponsor a controlled pilot,</a:t>
            </a:r>
            <a:endParaRPr lang="en-US" sz="2800" dirty="0"/>
          </a:p>
          <a:p>
            <a:pPr indent="0" marL="0">
              <a:buNone/>
            </a:pPr>
            <a:r>
              <a:rPr lang="en-US" sz="2800" dirty="0">
                <a:solidFill>
                  <a:srgbClr val="E6BFCA"/>
                </a:solidFill>
                <a:latin typeface="Georgia" pitchFamily="34" charset="0"/>
                <a:ea typeface="Georgia" pitchFamily="34" charset="-122"/>
                <a:cs typeface="Georgia" pitchFamily="34" charset="-120"/>
              </a:rPr>
              <a:t>not a promised uplift.</a:t>
            </a:r>
            <a:endParaRPr lang="en-US" sz="2800" dirty="0"/>
          </a:p>
        </p:txBody>
      </p:sp>
      <p:sp>
        <p:nvSpPr>
          <p:cNvPr id="7" name="Text 5"/>
          <p:cNvSpPr/>
          <p:nvPr/>
        </p:nvSpPr>
        <p:spPr>
          <a:xfrm>
            <a:off x="594360" y="4160520"/>
            <a:ext cx="6172200" cy="1060704"/>
          </a:xfrm>
          <a:prstGeom prst="rect">
            <a:avLst/>
          </a:prstGeom>
          <a:noFill/>
          <a:ln/>
        </p:spPr>
        <p:txBody>
          <a:bodyPr wrap="square" lIns="0" tIns="0" rIns="0" bIns="0" rtlCol="0" anchor="t"/>
          <a:lstStyle/>
          <a:p>
            <a:pPr indent="0" marL="0">
              <a:buNone/>
            </a:pPr>
            <a:r>
              <a:rPr lang="en-US" sz="2000" dirty="0">
                <a:solidFill>
                  <a:srgbClr val="FAF6EF"/>
                </a:solidFill>
                <a:latin typeface="Calibri" pitchFamily="34" charset="0"/>
                <a:ea typeface="Calibri" pitchFamily="34" charset="-122"/>
                <a:cs typeface="Calibri" pitchFamily="34" charset="-120"/>
              </a:rPr>
              <a:t>Name the category owner.</a:t>
            </a:r>
            <a:endParaRPr lang="en-US" sz="2000" dirty="0"/>
          </a:p>
          <a:p>
            <a:pPr indent="0" marL="0">
              <a:buNone/>
            </a:pPr>
            <a:r>
              <a:rPr lang="en-US" sz="2000" dirty="0">
                <a:solidFill>
                  <a:srgbClr val="FAF6EF"/>
                </a:solidFill>
                <a:latin typeface="Calibri" pitchFamily="34" charset="0"/>
                <a:ea typeface="Calibri" pitchFamily="34" charset="-122"/>
                <a:cs typeface="Calibri" pitchFamily="34" charset="-120"/>
              </a:rPr>
              <a:t>Confirm source access and freshness.</a:t>
            </a:r>
            <a:endParaRPr lang="en-US" sz="2000" dirty="0"/>
          </a:p>
          <a:p>
            <a:pPr indent="0" marL="0">
              <a:buNone/>
            </a:pPr>
            <a:r>
              <a:rPr lang="en-US" sz="2000" dirty="0">
                <a:solidFill>
                  <a:srgbClr val="FAF6EF"/>
                </a:solidFill>
                <a:latin typeface="Calibri" pitchFamily="34" charset="0"/>
                <a:ea typeface="Calibri" pitchFamily="34" charset="-122"/>
                <a:cs typeface="Calibri" pitchFamily="34" charset="-120"/>
              </a:rPr>
              <a:t>Agree success criteria before testing.</a:t>
            </a:r>
            <a:endParaRPr lang="en-US" sz="2000" dirty="0"/>
          </a:p>
        </p:txBody>
      </p:sp>
      <p:sp>
        <p:nvSpPr>
          <p:cNvPr id="8" name="Shape 6"/>
          <p:cNvSpPr/>
          <p:nvPr/>
        </p:nvSpPr>
        <p:spPr>
          <a:xfrm>
            <a:off x="7333488" y="1024128"/>
            <a:ext cx="4279392" cy="978408"/>
          </a:xfrm>
          <a:prstGeom prst="roundRect">
            <a:avLst>
              <a:gd name="adj" fmla="val 11215"/>
            </a:avLst>
          </a:prstGeom>
          <a:solidFill>
            <a:srgbClr val="502737"/>
          </a:solidFill>
          <a:ln w="12700">
            <a:solidFill>
              <a:srgbClr val="502737">
                <a:alpha val="0"/>
              </a:srgbClr>
            </a:solidFill>
            <a:prstDash val="solid"/>
          </a:ln>
        </p:spPr>
      </p:sp>
      <p:sp>
        <p:nvSpPr>
          <p:cNvPr id="9" name="Shape 7"/>
          <p:cNvSpPr/>
          <p:nvPr/>
        </p:nvSpPr>
        <p:spPr>
          <a:xfrm>
            <a:off x="7534656" y="1252728"/>
            <a:ext cx="393192" cy="393192"/>
          </a:xfrm>
          <a:prstGeom prst="ellipse">
            <a:avLst/>
          </a:prstGeom>
          <a:solidFill>
            <a:srgbClr val="E6BFCA"/>
          </a:solidFill>
          <a:ln w="12700">
            <a:solidFill>
              <a:srgbClr val="E6BFCA">
                <a:alpha val="0"/>
              </a:srgbClr>
            </a:solidFill>
            <a:prstDash val="solid"/>
          </a:ln>
        </p:spPr>
      </p:sp>
      <p:sp>
        <p:nvSpPr>
          <p:cNvPr id="10" name="Text 8"/>
          <p:cNvSpPr/>
          <p:nvPr/>
        </p:nvSpPr>
        <p:spPr>
          <a:xfrm>
            <a:off x="7534656" y="1252728"/>
            <a:ext cx="393192" cy="393192"/>
          </a:xfrm>
          <a:prstGeom prst="rect">
            <a:avLst/>
          </a:prstGeom>
          <a:noFill/>
          <a:ln/>
        </p:spPr>
        <p:txBody>
          <a:bodyPr wrap="square" lIns="0" tIns="0" rIns="0" bIns="0" rtlCol="0" anchor="ctr"/>
          <a:lstStyle/>
          <a:p>
            <a:pPr algn="ctr" indent="0" marL="0">
              <a:buNone/>
            </a:pPr>
            <a:r>
              <a:rPr lang="en-US" sz="1700" b="1" dirty="0">
                <a:solidFill>
                  <a:srgbClr val="6D2E46"/>
                </a:solidFill>
                <a:latin typeface="Calibri" pitchFamily="34" charset="0"/>
                <a:ea typeface="Calibri" pitchFamily="34" charset="-122"/>
                <a:cs typeface="Calibri" pitchFamily="34" charset="-120"/>
              </a:rPr>
              <a:t>1</a:t>
            </a:r>
            <a:endParaRPr lang="en-US" sz="1700" dirty="0"/>
          </a:p>
        </p:txBody>
      </p:sp>
      <p:sp>
        <p:nvSpPr>
          <p:cNvPr id="11" name="Text 9"/>
          <p:cNvSpPr/>
          <p:nvPr/>
        </p:nvSpPr>
        <p:spPr>
          <a:xfrm>
            <a:off x="8119872" y="1143000"/>
            <a:ext cx="3273552" cy="292608"/>
          </a:xfrm>
          <a:prstGeom prst="rect">
            <a:avLst/>
          </a:prstGeom>
          <a:noFill/>
          <a:ln/>
        </p:spPr>
        <p:txBody>
          <a:bodyPr wrap="square" lIns="0" tIns="0" rIns="0" bIns="0" rtlCol="0" anchor="ctr"/>
          <a:lstStyle/>
          <a:p>
            <a:pPr indent="0" marL="0">
              <a:buNone/>
            </a:pPr>
            <a:r>
              <a:rPr lang="en-US" sz="2000" b="1" dirty="0">
                <a:solidFill>
                  <a:srgbClr val="FAF6EF"/>
                </a:solidFill>
                <a:latin typeface="Calibri" pitchFamily="34" charset="0"/>
                <a:ea typeface="Calibri" pitchFamily="34" charset="-122"/>
                <a:cs typeface="Calibri" pitchFamily="34" charset="-120"/>
              </a:rPr>
              <a:t>Define</a:t>
            </a:r>
            <a:endParaRPr lang="en-US" sz="2000" dirty="0"/>
          </a:p>
        </p:txBody>
      </p:sp>
      <p:sp>
        <p:nvSpPr>
          <p:cNvPr id="12" name="Text 10"/>
          <p:cNvSpPr/>
          <p:nvPr/>
        </p:nvSpPr>
        <p:spPr>
          <a:xfrm>
            <a:off x="8119872" y="1508760"/>
            <a:ext cx="3246120" cy="292608"/>
          </a:xfrm>
          <a:prstGeom prst="rect">
            <a:avLst/>
          </a:prstGeom>
          <a:noFill/>
          <a:ln/>
        </p:spPr>
        <p:txBody>
          <a:bodyPr wrap="square" lIns="0" tIns="0" rIns="0" bIns="0" rtlCol="0" anchor="ctr"/>
          <a:lstStyle/>
          <a:p>
            <a:pPr indent="0" marL="0">
              <a:buNone/>
            </a:pPr>
            <a:r>
              <a:rPr lang="en-US" sz="1600" dirty="0">
                <a:solidFill>
                  <a:srgbClr val="D1BFC6"/>
                </a:solidFill>
                <a:latin typeface="Calibri" pitchFamily="34" charset="0"/>
                <a:ea typeface="Calibri" pitchFamily="34" charset="-122"/>
                <a:cs typeface="Calibri" pitchFamily="34" charset="-120"/>
              </a:rPr>
              <a:t>Owners + agreed data definitions</a:t>
            </a:r>
            <a:endParaRPr lang="en-US" sz="1600" dirty="0"/>
          </a:p>
        </p:txBody>
      </p:sp>
      <p:sp>
        <p:nvSpPr>
          <p:cNvPr id="13" name="Shape 11"/>
          <p:cNvSpPr/>
          <p:nvPr/>
        </p:nvSpPr>
        <p:spPr>
          <a:xfrm>
            <a:off x="7333488" y="2148840"/>
            <a:ext cx="4279392" cy="978408"/>
          </a:xfrm>
          <a:prstGeom prst="roundRect">
            <a:avLst>
              <a:gd name="adj" fmla="val 11215"/>
            </a:avLst>
          </a:prstGeom>
          <a:solidFill>
            <a:srgbClr val="502737"/>
          </a:solidFill>
          <a:ln w="12700">
            <a:solidFill>
              <a:srgbClr val="502737">
                <a:alpha val="0"/>
              </a:srgbClr>
            </a:solidFill>
            <a:prstDash val="solid"/>
          </a:ln>
        </p:spPr>
      </p:sp>
      <p:sp>
        <p:nvSpPr>
          <p:cNvPr id="14" name="Shape 12"/>
          <p:cNvSpPr/>
          <p:nvPr/>
        </p:nvSpPr>
        <p:spPr>
          <a:xfrm>
            <a:off x="7534656" y="2377440"/>
            <a:ext cx="393192" cy="393192"/>
          </a:xfrm>
          <a:prstGeom prst="ellipse">
            <a:avLst/>
          </a:prstGeom>
          <a:solidFill>
            <a:srgbClr val="E6BFCA"/>
          </a:solidFill>
          <a:ln w="12700">
            <a:solidFill>
              <a:srgbClr val="E6BFCA">
                <a:alpha val="0"/>
              </a:srgbClr>
            </a:solidFill>
            <a:prstDash val="solid"/>
          </a:ln>
        </p:spPr>
      </p:sp>
      <p:sp>
        <p:nvSpPr>
          <p:cNvPr id="15" name="Text 13"/>
          <p:cNvSpPr/>
          <p:nvPr/>
        </p:nvSpPr>
        <p:spPr>
          <a:xfrm>
            <a:off x="7534656" y="2377440"/>
            <a:ext cx="393192" cy="393192"/>
          </a:xfrm>
          <a:prstGeom prst="rect">
            <a:avLst/>
          </a:prstGeom>
          <a:noFill/>
          <a:ln/>
        </p:spPr>
        <p:txBody>
          <a:bodyPr wrap="square" lIns="0" tIns="0" rIns="0" bIns="0" rtlCol="0" anchor="ctr"/>
          <a:lstStyle/>
          <a:p>
            <a:pPr algn="ctr" indent="0" marL="0">
              <a:buNone/>
            </a:pPr>
            <a:r>
              <a:rPr lang="en-US" sz="1700" b="1" dirty="0">
                <a:solidFill>
                  <a:srgbClr val="6D2E46"/>
                </a:solidFill>
                <a:latin typeface="Calibri" pitchFamily="34" charset="0"/>
                <a:ea typeface="Calibri" pitchFamily="34" charset="-122"/>
                <a:cs typeface="Calibri" pitchFamily="34" charset="-120"/>
              </a:rPr>
              <a:t>2</a:t>
            </a:r>
            <a:endParaRPr lang="en-US" sz="1700" dirty="0"/>
          </a:p>
        </p:txBody>
      </p:sp>
      <p:sp>
        <p:nvSpPr>
          <p:cNvPr id="16" name="Text 14"/>
          <p:cNvSpPr/>
          <p:nvPr/>
        </p:nvSpPr>
        <p:spPr>
          <a:xfrm>
            <a:off x="8119872" y="2267712"/>
            <a:ext cx="3273552" cy="292608"/>
          </a:xfrm>
          <a:prstGeom prst="rect">
            <a:avLst/>
          </a:prstGeom>
          <a:noFill/>
          <a:ln/>
        </p:spPr>
        <p:txBody>
          <a:bodyPr wrap="square" lIns="0" tIns="0" rIns="0" bIns="0" rtlCol="0" anchor="ctr"/>
          <a:lstStyle/>
          <a:p>
            <a:pPr indent="0" marL="0">
              <a:buNone/>
            </a:pPr>
            <a:r>
              <a:rPr lang="en-US" sz="2000" b="1" dirty="0">
                <a:solidFill>
                  <a:srgbClr val="FAF6EF"/>
                </a:solidFill>
                <a:latin typeface="Calibri" pitchFamily="34" charset="0"/>
                <a:ea typeface="Calibri" pitchFamily="34" charset="-122"/>
                <a:cs typeface="Calibri" pitchFamily="34" charset="-120"/>
              </a:rPr>
              <a:t>Validate</a:t>
            </a:r>
            <a:endParaRPr lang="en-US" sz="2000" dirty="0"/>
          </a:p>
        </p:txBody>
      </p:sp>
      <p:sp>
        <p:nvSpPr>
          <p:cNvPr id="17" name="Text 15"/>
          <p:cNvSpPr/>
          <p:nvPr/>
        </p:nvSpPr>
        <p:spPr>
          <a:xfrm>
            <a:off x="8119872" y="2633472"/>
            <a:ext cx="3246120" cy="292608"/>
          </a:xfrm>
          <a:prstGeom prst="rect">
            <a:avLst/>
          </a:prstGeom>
          <a:noFill/>
          <a:ln/>
        </p:spPr>
        <p:txBody>
          <a:bodyPr wrap="square" lIns="0" tIns="0" rIns="0" bIns="0" rtlCol="0" anchor="ctr"/>
          <a:lstStyle/>
          <a:p>
            <a:pPr indent="0" marL="0">
              <a:buNone/>
            </a:pPr>
            <a:r>
              <a:rPr lang="en-US" sz="1600" dirty="0">
                <a:solidFill>
                  <a:srgbClr val="D1BFC6"/>
                </a:solidFill>
                <a:latin typeface="Calibri" pitchFamily="34" charset="0"/>
                <a:ea typeface="Calibri" pitchFamily="34" charset="-122"/>
                <a:cs typeface="Calibri" pitchFamily="34" charset="-120"/>
              </a:rPr>
              <a:t>Supply, listing and range checks</a:t>
            </a:r>
            <a:endParaRPr lang="en-US" sz="1600" dirty="0"/>
          </a:p>
        </p:txBody>
      </p:sp>
      <p:sp>
        <p:nvSpPr>
          <p:cNvPr id="18" name="Shape 16"/>
          <p:cNvSpPr/>
          <p:nvPr/>
        </p:nvSpPr>
        <p:spPr>
          <a:xfrm>
            <a:off x="7333488" y="3273552"/>
            <a:ext cx="4279392" cy="978408"/>
          </a:xfrm>
          <a:prstGeom prst="roundRect">
            <a:avLst>
              <a:gd name="adj" fmla="val 11215"/>
            </a:avLst>
          </a:prstGeom>
          <a:solidFill>
            <a:srgbClr val="502737"/>
          </a:solidFill>
          <a:ln w="12700">
            <a:solidFill>
              <a:srgbClr val="502737">
                <a:alpha val="0"/>
              </a:srgbClr>
            </a:solidFill>
            <a:prstDash val="solid"/>
          </a:ln>
        </p:spPr>
      </p:sp>
      <p:sp>
        <p:nvSpPr>
          <p:cNvPr id="19" name="Shape 17"/>
          <p:cNvSpPr/>
          <p:nvPr/>
        </p:nvSpPr>
        <p:spPr>
          <a:xfrm>
            <a:off x="7534656" y="3502152"/>
            <a:ext cx="393192" cy="393192"/>
          </a:xfrm>
          <a:prstGeom prst="ellipse">
            <a:avLst/>
          </a:prstGeom>
          <a:solidFill>
            <a:srgbClr val="E6BFCA"/>
          </a:solidFill>
          <a:ln w="12700">
            <a:solidFill>
              <a:srgbClr val="E6BFCA">
                <a:alpha val="0"/>
              </a:srgbClr>
            </a:solidFill>
            <a:prstDash val="solid"/>
          </a:ln>
        </p:spPr>
      </p:sp>
      <p:sp>
        <p:nvSpPr>
          <p:cNvPr id="20" name="Text 18"/>
          <p:cNvSpPr/>
          <p:nvPr/>
        </p:nvSpPr>
        <p:spPr>
          <a:xfrm>
            <a:off x="7534656" y="3502152"/>
            <a:ext cx="393192" cy="393192"/>
          </a:xfrm>
          <a:prstGeom prst="rect">
            <a:avLst/>
          </a:prstGeom>
          <a:noFill/>
          <a:ln/>
        </p:spPr>
        <p:txBody>
          <a:bodyPr wrap="square" lIns="0" tIns="0" rIns="0" bIns="0" rtlCol="0" anchor="ctr"/>
          <a:lstStyle/>
          <a:p>
            <a:pPr algn="ctr" indent="0" marL="0">
              <a:buNone/>
            </a:pPr>
            <a:r>
              <a:rPr lang="en-US" sz="1700" b="1" dirty="0">
                <a:solidFill>
                  <a:srgbClr val="6D2E46"/>
                </a:solidFill>
                <a:latin typeface="Calibri" pitchFamily="34" charset="0"/>
                <a:ea typeface="Calibri" pitchFamily="34" charset="-122"/>
                <a:cs typeface="Calibri" pitchFamily="34" charset="-120"/>
              </a:rPr>
              <a:t>3</a:t>
            </a:r>
            <a:endParaRPr lang="en-US" sz="1700" dirty="0"/>
          </a:p>
        </p:txBody>
      </p:sp>
      <p:sp>
        <p:nvSpPr>
          <p:cNvPr id="21" name="Text 19"/>
          <p:cNvSpPr/>
          <p:nvPr/>
        </p:nvSpPr>
        <p:spPr>
          <a:xfrm>
            <a:off x="8119872" y="3392424"/>
            <a:ext cx="3273552" cy="292608"/>
          </a:xfrm>
          <a:prstGeom prst="rect">
            <a:avLst/>
          </a:prstGeom>
          <a:noFill/>
          <a:ln/>
        </p:spPr>
        <p:txBody>
          <a:bodyPr wrap="square" lIns="0" tIns="0" rIns="0" bIns="0" rtlCol="0" anchor="ctr"/>
          <a:lstStyle/>
          <a:p>
            <a:pPr indent="0" marL="0">
              <a:buNone/>
            </a:pPr>
            <a:r>
              <a:rPr lang="en-US" sz="2000" b="1" dirty="0">
                <a:solidFill>
                  <a:srgbClr val="FAF6EF"/>
                </a:solidFill>
                <a:latin typeface="Calibri" pitchFamily="34" charset="0"/>
                <a:ea typeface="Calibri" pitchFamily="34" charset="-122"/>
                <a:cs typeface="Calibri" pitchFamily="34" charset="-120"/>
              </a:rPr>
              <a:t>Pilot</a:t>
            </a:r>
            <a:endParaRPr lang="en-US" sz="2000" dirty="0"/>
          </a:p>
        </p:txBody>
      </p:sp>
      <p:sp>
        <p:nvSpPr>
          <p:cNvPr id="22" name="Text 20"/>
          <p:cNvSpPr/>
          <p:nvPr/>
        </p:nvSpPr>
        <p:spPr>
          <a:xfrm>
            <a:off x="8119872" y="3758184"/>
            <a:ext cx="3246120" cy="292608"/>
          </a:xfrm>
          <a:prstGeom prst="rect">
            <a:avLst/>
          </a:prstGeom>
          <a:noFill/>
          <a:ln/>
        </p:spPr>
        <p:txBody>
          <a:bodyPr wrap="square" lIns="0" tIns="0" rIns="0" bIns="0" rtlCol="0" anchor="ctr"/>
          <a:lstStyle/>
          <a:p>
            <a:pPr indent="0" marL="0">
              <a:buNone/>
            </a:pPr>
            <a:r>
              <a:rPr lang="en-US" sz="1600" dirty="0">
                <a:solidFill>
                  <a:srgbClr val="D1BFC6"/>
                </a:solidFill>
                <a:latin typeface="Calibri" pitchFamily="34" charset="0"/>
                <a:ea typeface="Calibri" pitchFamily="34" charset="-122"/>
                <a:cs typeface="Calibri" pitchFamily="34" charset="-120"/>
              </a:rPr>
              <a:t>Time-bounded test with a baseline</a:t>
            </a:r>
            <a:endParaRPr lang="en-US" sz="1600" dirty="0"/>
          </a:p>
        </p:txBody>
      </p:sp>
      <p:sp>
        <p:nvSpPr>
          <p:cNvPr id="23" name="Shape 21"/>
          <p:cNvSpPr/>
          <p:nvPr/>
        </p:nvSpPr>
        <p:spPr>
          <a:xfrm>
            <a:off x="7333488" y="4398264"/>
            <a:ext cx="4279392" cy="978408"/>
          </a:xfrm>
          <a:prstGeom prst="roundRect">
            <a:avLst>
              <a:gd name="adj" fmla="val 11215"/>
            </a:avLst>
          </a:prstGeom>
          <a:solidFill>
            <a:srgbClr val="6D2E46"/>
          </a:solidFill>
          <a:ln w="12700">
            <a:solidFill>
              <a:srgbClr val="6D2E46">
                <a:alpha val="0"/>
              </a:srgbClr>
            </a:solidFill>
            <a:prstDash val="solid"/>
          </a:ln>
        </p:spPr>
      </p:sp>
      <p:sp>
        <p:nvSpPr>
          <p:cNvPr id="24" name="Shape 22"/>
          <p:cNvSpPr/>
          <p:nvPr/>
        </p:nvSpPr>
        <p:spPr>
          <a:xfrm>
            <a:off x="7534656" y="4626864"/>
            <a:ext cx="393192" cy="393192"/>
          </a:xfrm>
          <a:prstGeom prst="ellipse">
            <a:avLst/>
          </a:prstGeom>
          <a:solidFill>
            <a:srgbClr val="E6BFCA"/>
          </a:solidFill>
          <a:ln w="12700">
            <a:solidFill>
              <a:srgbClr val="E6BFCA">
                <a:alpha val="0"/>
              </a:srgbClr>
            </a:solidFill>
            <a:prstDash val="solid"/>
          </a:ln>
        </p:spPr>
      </p:sp>
      <p:sp>
        <p:nvSpPr>
          <p:cNvPr id="25" name="Text 23"/>
          <p:cNvSpPr/>
          <p:nvPr/>
        </p:nvSpPr>
        <p:spPr>
          <a:xfrm>
            <a:off x="7534656" y="4626864"/>
            <a:ext cx="393192" cy="393192"/>
          </a:xfrm>
          <a:prstGeom prst="rect">
            <a:avLst/>
          </a:prstGeom>
          <a:noFill/>
          <a:ln/>
        </p:spPr>
        <p:txBody>
          <a:bodyPr wrap="square" lIns="0" tIns="0" rIns="0" bIns="0" rtlCol="0" anchor="ctr"/>
          <a:lstStyle/>
          <a:p>
            <a:pPr algn="ctr" indent="0" marL="0">
              <a:buNone/>
            </a:pPr>
            <a:r>
              <a:rPr lang="en-US" sz="1700" b="1" dirty="0">
                <a:solidFill>
                  <a:srgbClr val="6D2E46"/>
                </a:solidFill>
                <a:latin typeface="Calibri" pitchFamily="34" charset="0"/>
                <a:ea typeface="Calibri" pitchFamily="34" charset="-122"/>
                <a:cs typeface="Calibri" pitchFamily="34" charset="-120"/>
              </a:rPr>
              <a:t>4</a:t>
            </a:r>
            <a:endParaRPr lang="en-US" sz="1700" dirty="0"/>
          </a:p>
        </p:txBody>
      </p:sp>
      <p:sp>
        <p:nvSpPr>
          <p:cNvPr id="26" name="Text 24"/>
          <p:cNvSpPr/>
          <p:nvPr/>
        </p:nvSpPr>
        <p:spPr>
          <a:xfrm>
            <a:off x="8119872" y="4517136"/>
            <a:ext cx="3273552" cy="292608"/>
          </a:xfrm>
          <a:prstGeom prst="rect">
            <a:avLst/>
          </a:prstGeom>
          <a:noFill/>
          <a:ln/>
        </p:spPr>
        <p:txBody>
          <a:bodyPr wrap="square" lIns="0" tIns="0" rIns="0" bIns="0" rtlCol="0" anchor="ctr"/>
          <a:lstStyle/>
          <a:p>
            <a:pPr indent="0" marL="0">
              <a:buNone/>
            </a:pPr>
            <a:r>
              <a:rPr lang="en-US" sz="2000" b="1" dirty="0">
                <a:solidFill>
                  <a:srgbClr val="FAF6EF"/>
                </a:solidFill>
                <a:latin typeface="Calibri" pitchFamily="34" charset="0"/>
                <a:ea typeface="Calibri" pitchFamily="34" charset="-122"/>
                <a:cs typeface="Calibri" pitchFamily="34" charset="-120"/>
              </a:rPr>
              <a:t>Only then scale</a:t>
            </a:r>
            <a:endParaRPr lang="en-US" sz="2000" dirty="0"/>
          </a:p>
        </p:txBody>
      </p:sp>
      <p:sp>
        <p:nvSpPr>
          <p:cNvPr id="27" name="Text 25"/>
          <p:cNvSpPr/>
          <p:nvPr/>
        </p:nvSpPr>
        <p:spPr>
          <a:xfrm>
            <a:off x="8119872" y="4882896"/>
            <a:ext cx="3246120" cy="292608"/>
          </a:xfrm>
          <a:prstGeom prst="rect">
            <a:avLst/>
          </a:prstGeom>
          <a:noFill/>
          <a:ln/>
        </p:spPr>
        <p:txBody>
          <a:bodyPr wrap="square" lIns="0" tIns="0" rIns="0" bIns="0" rtlCol="0" anchor="ctr"/>
          <a:lstStyle/>
          <a:p>
            <a:pPr indent="0" marL="0">
              <a:buNone/>
            </a:pPr>
            <a:r>
              <a:rPr lang="en-US" sz="1600" dirty="0">
                <a:solidFill>
                  <a:srgbClr val="D1BFC6"/>
                </a:solidFill>
                <a:latin typeface="Calibri" pitchFamily="34" charset="0"/>
                <a:ea typeface="Calibri" pitchFamily="34" charset="-122"/>
                <a:cs typeface="Calibri" pitchFamily="34" charset="-120"/>
              </a:rPr>
              <a:t>Shared Azure workflow, if justified</a:t>
            </a:r>
            <a:endParaRPr lang="en-US" sz="1600" dirty="0"/>
          </a:p>
        </p:txBody>
      </p:sp>
      <p:sp>
        <p:nvSpPr>
          <p:cNvPr id="28" name="Text 26">
            <a:hlinkClick r:id="rId1" tooltip="https://glejdis.github.io/zenline-category-opportunity-review/"/>
          </p:cNvPr>
          <p:cNvSpPr/>
          <p:nvPr/>
        </p:nvSpPr>
        <p:spPr>
          <a:xfrm>
            <a:off x="594360" y="5532120"/>
            <a:ext cx="2651760" cy="283464"/>
          </a:xfrm>
          <a:prstGeom prst="rect">
            <a:avLst/>
          </a:prstGeom>
          <a:noFill/>
          <a:ln/>
        </p:spPr>
        <p:txBody>
          <a:bodyPr wrap="square" lIns="0" tIns="0" rIns="0" bIns="0" rtlCol="0" anchor="ctr"/>
          <a:lstStyle/>
          <a:p>
            <a:pPr indent="0" marL="0">
              <a:buNone/>
            </a:pPr>
            <a:r>
              <a:rPr lang="en-US" sz="1800" b="1" u="sng" dirty="0">
                <a:solidFill>
                  <a:srgbClr val="E6BFCA"/>
                </a:solidFill>
                <a:latin typeface="Calibri" pitchFamily="34" charset="0"/>
                <a:ea typeface="Calibri" pitchFamily="34" charset="-122"/>
                <a:cs typeface="Calibri" pitchFamily="34" charset="-120"/>
                <a:hlinkClick r:id="rId1" invalidUrl="" action="" tgtFrame="" tooltip="https://glejdis.github.io/zenline-category-opportunity-review/" history="1" highlightClick="0" endSnd="0">
                  <a:extLst>
                    <a:ext uri="{A12FA001-AC4F-418D-AE19-62706E023703}">
                      <ahyp:hlinkClr xmlns:ahyp="http://schemas.microsoft.com/office/drawing/2018/hyperlinkcolor" val="tx"/>
                    </a:ext>
                  </a:extLst>
                </a:hlinkClick>
              </a:rPr>
              <a:t>Open the live demo</a:t>
            </a:r>
            <a:endParaRPr lang="en-US" sz="1800" dirty="0"/>
          </a:p>
        </p:txBody>
      </p:sp>
      <p:sp>
        <p:nvSpPr>
          <p:cNvPr id="29" name="Text 27">
            <a:hlinkClick r:id="rId2" tooltip="https://github.com/glejdis/zenline-category-opportunity-review"/>
          </p:cNvPr>
          <p:cNvSpPr/>
          <p:nvPr/>
        </p:nvSpPr>
        <p:spPr>
          <a:xfrm>
            <a:off x="3456432" y="5532120"/>
            <a:ext cx="3145536" cy="283464"/>
          </a:xfrm>
          <a:prstGeom prst="rect">
            <a:avLst/>
          </a:prstGeom>
          <a:noFill/>
          <a:ln/>
        </p:spPr>
        <p:txBody>
          <a:bodyPr wrap="square" lIns="0" tIns="0" rIns="0" bIns="0" rtlCol="0" anchor="ctr"/>
          <a:lstStyle/>
          <a:p>
            <a:pPr indent="0" marL="0">
              <a:buNone/>
            </a:pPr>
            <a:r>
              <a:rPr lang="en-US" sz="1800" b="1" u="sng" dirty="0">
                <a:solidFill>
                  <a:srgbClr val="E6BFCA"/>
                </a:solidFill>
                <a:latin typeface="Calibri" pitchFamily="34" charset="0"/>
                <a:ea typeface="Calibri" pitchFamily="34" charset="-122"/>
                <a:cs typeface="Calibri" pitchFamily="34" charset="-120"/>
                <a:hlinkClick r:id="rId2" invalidUrl="" action="" tgtFrame="" tooltip="https://github.com/glejdis/zenline-category-opportunity-review" history="1" highlightClick="0" endSnd="0">
                  <a:extLst>
                    <a:ext uri="{A12FA001-AC4F-418D-AE19-62706E023703}">
                      <ahyp:hlinkClr xmlns:ahyp="http://schemas.microsoft.com/office/drawing/2018/hyperlinkcolor" val="tx"/>
                    </a:ext>
                  </a:extLst>
                </a:hlinkClick>
              </a:rPr>
              <a:t>Explore the repository</a:t>
            </a:r>
            <a:endParaRPr lang="en-US" sz="1800" dirty="0"/>
          </a:p>
        </p:txBody>
      </p:sp>
      <p:sp>
        <p:nvSpPr>
          <p:cNvPr id="30" name="Text 28"/>
          <p:cNvSpPr/>
          <p:nvPr/>
        </p:nvSpPr>
        <p:spPr>
          <a:xfrm>
            <a:off x="594360" y="5925312"/>
            <a:ext cx="10908792" cy="182880"/>
          </a:xfrm>
          <a:prstGeom prst="rect">
            <a:avLst/>
          </a:prstGeom>
          <a:noFill/>
          <a:ln/>
        </p:spPr>
        <p:txBody>
          <a:bodyPr wrap="square" lIns="0" tIns="0" rIns="0" bIns="0" rtlCol="0" anchor="ctr"/>
          <a:lstStyle/>
          <a:p>
            <a:pPr indent="0" marL="0">
              <a:buNone/>
            </a:pPr>
            <a:r>
              <a:rPr lang="en-US" sz="1150" dirty="0">
                <a:solidFill>
                  <a:srgbClr val="D1BFC6"/>
                </a:solidFill>
                <a:latin typeface="Calibri" pitchFamily="34" charset="0"/>
                <a:ea typeface="Calibri" pitchFamily="34" charset="-122"/>
                <a:cs typeface="Calibri" pitchFamily="34" charset="-120"/>
              </a:rPr>
              <a:t>Public links reflect the last deployed commit; local changes are not automatically live.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ZenBeauty Retail — fictional 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 product snapshot to five decisions</dc:title>
  <dc:subject>Synthetic-data business walkthrough: evidence, decisions and a proposed pilot</dc:subject>
  <dc:creator>ZenBeauty Retail category opportunity review</dc:creator>
  <cp:lastModifiedBy>ZenBeauty Retail category opportunity review</cp:lastModifiedBy>
  <cp:revision>1</cp:revision>
  <dcterms:created xsi:type="dcterms:W3CDTF">2026-09-20T16:13:18Z</dcterms:created>
  <dcterms:modified xsi:type="dcterms:W3CDTF">2026-09-20T16:13:18Z</dcterms:modified>
</cp:coreProperties>
</file>