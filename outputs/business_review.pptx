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Validate the five decisions before committing to commercial scale
Suggested speaking time: 35 seconds. Main discussion: approximately 8–9 minutes; two appendix slides support questions.
TALK TRACK
The recommendation is to validate five concrete decisions, not to approve a category-wide rollout or a financial target. Start with prerequisites—availability and listing—then settle lifecycle questions and test commercial changes with a baseline. The review is based on synthetic data, and no business benefit has yet been measured.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
  "facts": {
    "action_counts": {
      "Confirm exit": 19,
      "Fix availability": 33,
      "Investigate zero sales": 2,
      "Review delist / markdown": 7,
      "Review margin": 11,
      "Review price benchmark": 23,
      "Review reactivation": 19,
      "Review seasonal range": 3,
      "Test promotion": 17
    },
    "availability_low_stock": 24,
    "availability_out_of_stock": 9,
    "channel_rev": 1387129.76,
    "channel_to_market_ratio_pct": 6.291360581808698,
    "gross_profit_scenario_eur": 24923.66,
    "market_rev": 22048168.15,
    "n_flagged": 134,
    "n_skus": 235,
    "reactivation_count": 19,
    "revenue_scenario_eur": 93026.53,
    "zero_sales_count": 2
  },
  "selected_ids": [
    "HC0070",
    "HC0002",
    "HC0101",
    "HC0024",
    "HC0083"
  ],
  "proposal": "A focused validation and test sequence, not an approved programme."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Approve a focused pilot—not a category-wide rollout
Suggested speaking time: 60 seconds. Main discussion: approximately 8–9 minutes; two appendix slides support questions.
TALK TRACK
This is the governing answer. We recommend a limited, evidence-led pilot, not a broad promotional programme or automated range change. The immediate agenda is operational validation, lifecycle context and explicit economics. Leadership should endorse the initial five checks, nominate owners and require agreed success criteria before any test or production investment. The recommendation is managerial judgment informed by the snapshot, not an observed customer mandate.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
  "source": {
    "action_counts": {
      "Confirm exit": 19,
      "Fix availability": 33,
      "Investigate zero sales": 2,
      "Review delist / markdown": 7,
      "Review margin": 11,
      "Review price benchmark": 23,
      "Review reactivation": 19,
      "Review seasonal range": 3,
      "Test promotion": 17
    },
    "availability_low_stock": 24,
    "availability_out_of_stock": 9,
    "channel_rev": 1387129.76,
    "channel_to_market_ratio_pct": 6.291360581808698,
    "gross_profit_scenario_eur": 24923.66,
    "market_rev": 22048168.15,
    "n_flagged": 134,
    "n_skus": 235,
    "reactivation_count": 19,
    "revenue_scenario_eur": 93026.53,
    "zero_sales_count": 2
  },
  "selected_ids": [
    "HC0070",
    "HC0002",
    "HC0101",
    "HC0024",
    "HC0083"
  ],
  "proposed_leadership_ask": [
    "Endorse five checks",
    "Nominate category and functional owners",
    "Agree baseline and success criteria"
  ],
  "outcome_limit": "No realised commercial or productivity effect measured."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134 flagged products require three distinct management responses
Suggested speaking time: 65 seconds. Main discussion: approximately 8–9 minutes; two appendix slides support questions.
TALK TRACK
The 134 rule-matched products form a complete, mutually exclusive decomposition using each SKU's primary action: 35 operational validation, 48 range decisions, 51 commercial review / testing. They require different responses rather than one generic opportunity score. Secondary flags are not extra products. 101 products matched no rule; they have not been certified healthy. The 18 assortment cells are a separate unit of analysis.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
  "response_groups": [
    {
      "key": "operations",
      "name": "Operational validation",
      "actions": [
        "Fix availability",
        "Investigate zero sales"
      ],
      "count": 35,
      "share_of_flagged_pct": 26.119402985074625,
      "case_ids": [
        "HC0070",
        "HC0006",
        "HC0053",
        "HC0043",
        "HC0229",
        "HC0111",
        "HC0135",
        "HC0119",
        "HC0165",
        "HC0143",
        "HC0004",
        "HC0089",
        "HC0029",
        "HC0216",
        "HC0188",
        "HC0022",
        "HC0137",
        "HC0035",
        "HC0117",
        "HC0194",
        "HC0221",
        "HC0072",
        "HC0073",
        "HC0108",
        "HC0021",
        "HC0164",
        "HC0151",
        "HC0220",
        "HC0118",
        "HC0027",
        "HC0104",
        "HC0065",
        "HC0125",
        "HC0002",
        "HC0193"
      ]
    },
    {
      "key": "range",
      "name": "Range decisions",
      "actions": [
        "Review reactivation",
        "Confirm exit",
        "Review seasonal range",
        "Review delist / markdown"
      ],
      "count": 48,
      "share_of_flagged_pct": 35.82089552238806,
      "case_ids": [
        "HC0101",
        "HC0007",
        "HC0034",
        "HC0079",
        "HC0134",
        "HC0085",
        "HC0124",
        "HC0003",
        "HC0010",
        "HC0166",
        "HC0109",
        "HC0114",
        "HC0036",
        "HC0140",
        "HC0023",
        "HC0033",
        "HC0223",
        "HC0098",
        "HC0067",
        "HC0153",
        "HC0082",
        "HC0038",
        "HC0086",
        "HC0093",
        "HC0224",
        "HC0148",
        "HC0160",
        "HC0045",
        "HC0062",
        "HC0063",
        "HC0012",
        "HC0014",
        "HC0100",
        "HC0168",
        "HC0169",
        "HC0130",
        "HC0092",
        "HC0069",
        "HC0198",
        "HC0039",
        "HC0026",
        "HC0103",
        "HC0214",
        "HC0183",
        "HC0087",
        "HC0141",
        "HC0173",
        "HC0009"
      ]
    },
    {
      "key": "commercial",
      "name": "Commercial review / testing",
      "actions": [
        "Review margin",
        "Test promotion",
        "Review price benchmark"
      ],
      "count": 51,
      "share_of_flagged_pct": 38.059701492537314,
      "case_ids": [
        "HC0024",
        "HC0015",
        "HC0096",
        "HC0184",
        "HC0123",
        "HC0016",
        "HC0174",
        "HC0157",
        "HC0076",
        "HC0203",
        "HC0161",
        "HC0083",
        "HC0064",
        "HC0051",
        "HC0120",
        "HC0110",
        "HC0099",
        "HC0212",
        "HC0179",
        "HC0178",
        "HC0159",
        "HC0056",
        "HC0090",
        "HC0013",
        "HC0050",
        "HC0211",
        "HC0001",
        "HC0154",
        "HC0126",
        "HC0152",
        "HC0142",
        "HC0205",
        "HC0201",
        "HC0147",
        "HC0219",
        "HC0189",
        "HC0170",
        "HC0088",
        "HC0078",
        "HC0186",
        "HC0057",
        "HC0028",
        "HC0196",
        "HC0200",
        "HC0197",
        "HC0040",
        "HC0095",
        "HC0102",
        "HC0052",
        "HC0202",
        "HC0049"
      ]
    }
  ],
  "source_action_counts": {
    "Confirm exit": 19,
    "Fix availability": 33,
    "Investigate zero sales": 2,
    "Review delist / markdown": 7,
    "Review margin": 11,
    "Review price benchmark": 23,
    "Review reactivation": 19,
    "Review seasonal range": 3,
    "Test promotion": 17
  },
  "no_rule_match": 101,
  "denominator": "134 primary-action SKUs; 235 total SKUs",
  "assortment_cells": 18,
  "coverage_assertion": "35 + 48 + 51 = 134; no overlap; no omitted primary actions."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Assign these five checks before changing spend or range
Suggested speaking time: 85 seconds. Main discussion: approximately 8–9 minutes; two appendix slides support questions.
TALK TRACK
These are the exact five decisions shown in the current dashboard, not five new consulting recommendations layered over the model. Selection follows operational checks, lifecycle context and commercial tests, taking one per primary action before repeats. It is not revenue maximisation. Assign the checks, not automatic commercial actions. Herbatint also needs a supply check, and Sunlit Peach requires seasonal context.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HC0070 — Wella Blondor Light Blonde
Primary action: Fix availability; also flagged: Review margin
Proposed owner: Supply planner
Next step: Confirm physical and online availability, stock-feed accuracy and supplier lead time; replenish if feasible before considering promotion.
Success measure: Availability, units sold and gross profit after the supply check.
Status: aktiv; stock: out_of_stock; seasonality: Evergreen
12-week revenue €14,892.82; units 1,172; margin 19.6%
Market proxy €269,228.58; trend +26.3%
Channel/proxy ratio 5.53166384%; peer ratio 7.21665887%; peer margin 39.100%
Peers (50; subject excluded): HC0001, HC0008, HC0011, HC0013, HC0015, HC0017, HC0018, HC0025, HC0028, HC0032, HC0037, HC0040, HC0041, HC0048, HC0049, HC0051, HC0064, HC0083, HC0094, HC0096, HC0099, HC0105, HC0106, HC0110, HC0112, HC0120, HC0123, HC0131, HC0132, HC0142, HC0146, HC0159, HC0167, HC0170, HC0172, HC0176, HC0177, HC0179, HC0182, HC0184, HC0190, HC0191, HC0195, HC0201, HC0206, HC0207, HC0211, HC0212, HC0222, HC0231
Scenario: {"assumptions":["Benchmark: median channel / market-demand-proxy ratio of 50 other active, in-stock, selling SKUs in this subcategory.","Assumes the peer ratio is a relevant comparison; it does not prove stock or promotion caused the distance.","Snapshot benchmark distance, not forecast, guaranteed gain or upper bound; stock duration and distribution coverage are unknown.","No annualisation, elasticity, promotional cost or cannibalisation is modelled."],"formula":"max(0, €269,228.58 x 0.07216658873886855 - €14,892.82) = €4,536.49","period":"12 weeks","value_eur":4536.49,"value_type":"Revenue"}
Caveats: One 12-week aggregate and current status/stock fields; the period end and stock duration are not supplied. Market revenue is a demand proxy, not a verified addressable sales pool.
Source records:
sku_performance.csv: HC0070, CSV row 71
product_metadata.csv: HC0070, CSV row 71
competitor_market_signals.csv: CM009, CSV row 10
competitor_market_signals.csv: CM054, CSV row 55
competitor_market_signals.csv: CM056, CSV row 57
competitor_market_signals.csv: CM058, CSV row 59
HC0002 — ZenBeauty Private Label Color Studio Sunlit Peach
Primary action: Investigate zero sales; also flagged: none
Proposed owner: E-commerce / category operations
Next step: Check listing visibility, barcode mapping, distribution and sales-feed completeness. Check the selling season before allocating promotional spend.
Success measure: Validated listing and sales feed; first confirmed sales, units and gross profit.
Status: aktiv; stock: in_stock; seasonality: Summer
12-week revenue €0.00; units 0; margin 57.0%
Market proxy €64,200.00; trend +31.0%
Channel/proxy ratio 0.00000000%; peer ratio 4.21597294%; peer margin 36.300%
Peers (27; subject excluded): HC0038, HC0055, HC0057, HC0059, HC0061, HC0068, HC0074, HC0077, HC0078, HC0080, HC0088, HC0102, HC0113, HC0115, HC0133, HC0149, HC0154, HC0171, HC0180, HC0186, HC0197, HC0208, HC0209, HC0215, HC0219, HC0224, HC0228
Scenario: {"assumptions":["An investigation is recommended; financial impact is not established."],"formula":"No defensible monetary estimate from the supplied data.","period":"12 weeks","value_eur":null,"value_type":"Not estimated"}
Caveats: One 12-week aggregate and current status/stock fields; the period end and stock duration are not supplied. Market revenue is a demand proxy, not a verified addressable sales pool. Summer item: verify the selling calendar before promotion, reactivation or clearance; the performance-window end is unknown.
Source records:
sku_performance.csv: HC0002, CSV row 3
product_metadata.csv: HC0002, CSV row 3
competitor_market_signals.csv: CM023, CSV row 24
HC0101 — Bleach London White Toner Cool Ash Blonde
Primary action: Review reactivation; also flagged: none
Proposed owner: Category manager
Next step: Establish why the item is inactive and whether the demand signal is relevant. Check supply, product role and commercial terms before a reactivation trial.
Success measure: Documented range decision; if trialled, units and gross profit against an agreed baseline.
Status: inaktiv; stock: in_stock; seasonality: Evergreen
12-week revenue €33,543.34; units 2,024; margin 36.0%
Market proxy €332,008.70; trend +17.8%
Channel/proxy ratio 10.10315091%; peer ratio 7.21665887%; peer margin 39.100%
Peers (50; subject excluded): HC0001, HC0008, HC0011, HC0013, HC0015, HC0017, HC0018, HC0025, HC0028, HC0032, HC0037, HC0040, HC0041, HC0048, HC0049, HC0051, HC0064, HC0083, HC0094, HC0096, HC0099, HC0105, HC0106, HC0110, HC0112, HC0120, HC0123, HC0131, HC0132, HC0142, HC0146, HC0159, HC0167, HC0170, HC0172, HC0176, HC0177, HC0179, HC0182, HC0184, HC0190, HC0191, HC0195, HC0201, HC0206, HC0207, HC0211, HC0212, HC0222, HC0231
Scenario: {"assumptions":["An investigation is recommended; financial impact is not established."],"formula":"No defensible monetary estimate from the supplied data.","period":"12 weeks","value_eur":null,"value_type":"Not estimated"}
Caveats: One 12-week aggregate and current status/stock fields; the period end and stock duration are not supplied. Market revenue is a demand proxy, not a verified addressable sales pool.
Source records:
sku_performance.csv: HC0101, CSV row 102
product_metadata.csv: HC0101, CSV row 102
competitor_market_signals.csv: CM053, CSV row 54
HC0024 — Herbatint Permanent Herbal Color Natural Black
Primary action: Review margin; also flagged: none
Proposed owner: Buyer / commercial finance
Next step: Also verify current availability before making a volume-dependent commercial change. Validate cost and margin definitions and discuss supplier terms. Assess volume risk before any price change; the peer median is not a price target.
Success measure: Gross profit and units sold, not margin percentage alone.
Status: aktiv; stock: out_of_stock; seasonality: Evergreen
12-week revenue €30,499.52; units 5,462; margin 24.6%
Market proxy €522,888.84; trend -11.1%
Channel/proxy ratio 5.83288792%; peer ratio 7.21665887%; peer margin 39.100%
Peers (50; subject excluded): HC0001, HC0008, HC0011, HC0013, HC0015, HC0017, HC0018, HC0025, HC0028, HC0032, HC0037, HC0040, HC0041, HC0048, HC0049, HC0051, HC0064, HC0083, HC0094, HC0096, HC0099, HC0105, HC0106, HC0110, HC0112, HC0120, HC0123, HC0131, HC0132, HC0142, HC0146, HC0159, HC0167, HC0170, HC0172, HC0176, HC0177, HC0179, HC0182, HC0184, HC0190, HC0191, HC0195, HC0201, HC0206, HC0207, HC0211, HC0212, HC0222, HC0231
Scenario: {"assumptions":["Benchmark: margin median of 50 other active, in-stock, selling SKUs in the subcategory.","Holds current revenue constant; changing price may alter demand. A peer margin is not an achievable supplier concession.","Additional gross profit, not additional revenue or net profit; costs of implementing the action are not supplied."],"formula":"max(0, €30,499.52 x (0.391 - 0.246)) = €4,422.43","period":"12 weeks","value_eur":4422.43,"value_type":"Gross profit"}
Caveats: One 12-week aggregate and current status/stock fields; the period end and stock duration are not supplied. Market revenue is a demand proxy, not a verified addressable sales pool. Current stock is out of stock. Verify supply before assuming the historical sales volume can continue.
Source records:
sku_performance.csv: HC0024, CSV row 25
product_metadata.csv: HC0024, CSV row 25
competitor_market_signals.csv: CM043, CSV row 44
HC0083 — Madison Reed Root Touch Up Pearl Blonde
Primary action: Test promotion; also flagged: none
Proposed owner: Category / merchandising manager
Next step: Verify availability, product visibility and promotional economics. Run a small, time-bounded merchandising test with a baseline or control.
Success measure: Incremental units and gross profit net of promotional costs and cannibalisation.
Status: aktiv; stock: in_stock; seasonality: Evergreen
12-week revenue €11,148.18; units 468; margin 36.8%
Market proxy €226,316.30; trend +14.7%
Channel/proxy ratio 4.92592889%; peer ratio 7.33387023%; peer margin 39.400%
Peers (49; subject excluded): HC0001, HC0008, HC0011, HC0013, HC0015, HC0017, HC0018, HC0025, HC0028, HC0032, HC0037, HC0040, HC0041, HC0048, HC0049, HC0051, HC0064, HC0094, HC0096, HC0099, HC0105, HC0106, HC0110, HC0112, HC0120, HC0123, HC0131, HC0132, HC0142, HC0146, HC0159, HC0167, HC0170, HC0172, HC0176, HC0177, HC0179, HC0182, HC0184, HC0190, HC0191, HC0195, HC0201, HC0206, HC0207, HC0211, HC0212, HC0222, HC0231
Scenario: {"assumptions":["Benchmark: median channel / market-demand-proxy ratio of 49 other active, in-stock, selling SKUs in this subcategory.","Assumes the peer ratio is a relevant comparison; it does not prove stock or promotion caused the distance.","Snapshot benchmark distance, not forecast, guaranteed gain or upper bound; stock duration and distribution coverage are unknown.","No annualisation, elasticity, promotional cost or cannibalisation is modelled."],"formula":"max(0, €226,316.30 x 0.07333870233961558 - €11,148.18) = €5,449.56","period":"12 weeks","value_eur":5449.56,"value_type":"Revenue"}
Caveats: One 12-week aggregate and current status/stock fields; the period end and stock duration are not supplied. Market revenue is a demand proxy, not a verified addressable sales pool.
Source records:
sku_performance.csv: HC0083, CSV row 84
product_metadata.csv: HC0083, CSV row 84
competitor_market_signals.csv: CM053, CSV row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Validate supply and listings before deploying promotion
Suggested speaking time: 65 seconds. Main discussion: approximately 8–9 minutes; two appendix slides support questions.
TALK TRACK
The supply and listing cases are different operational hypotheses. The 9 out-of-stock primary cases have €61,646.14 historical channel sales across the supplied 12-week window. That number is neither lost sales nor recoverable revenue; the stock-snapshot date and stock duration are unknown. The proposed first checks are operational, not an automatic spend decision.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
  "count": 9,
  "historical_channel_revenue_eur": 61646.14,
  "case_ids": [
    "HC0070",
    "HC0006",
    "HC0053",
    "HC0043",
    "HC0229",
    "HC0111",
    "HC0135",
    "HC0119",
    "HC0165"
  ]
}
Historical-sales calculation: sum(channel_revenue_eur_12w) where primary_action = Fix availability and stock_status = out_of_stock.
HC0070 — Wella Blondor Light Blonde
Primary action: Fix availability; also flagged: Review margin
Proposed owner: Supply planner
Next step: Confirm physical and online availability, stock-feed accuracy and supplier lead time; replenish if feasible before considering promotion.
Success measure: Availability, units sold and gross profit after the supply check.
Status: aktiv; stock: out_of_stock; seasonality: Evergreen
12-week revenue €14,892.82; units 1,172; margin 19.6%
Market proxy €269,228.58; trend +26.3%
Channel/proxy ratio 5.53166384%; peer ratio 7.21665887%; peer margin 39.100%
Peers (50; subject excluded): HC0001, HC0008, HC0011, HC0013, HC0015, HC0017, HC0018, HC0025, HC0028, HC0032, HC0037, HC0040, HC0041, HC0048, HC0049, HC0051, HC0064, HC0083, HC0094, HC0096, HC0099, HC0105, HC0106, HC0110, HC0112, HC0120, HC0123, HC0131, HC0132, HC0142, HC0146, HC0159, HC0167, HC0170, HC0172, HC0176, HC0177, HC0179, HC0182, HC0184, HC0190, HC0191, HC0195, HC0201, HC0206, HC0207, HC0211, HC0212, HC0222, HC0231
Scenario: {"assumptions":["Benchmark: median channel / market-demand-proxy ratio of 50 other active, in-stock, selling SKUs in this subcategory.","Assumes the peer ratio is a relevant comparison; it does not prove stock or promotion caused the distance.","Snapshot benchmark distance, not forecast, guaranteed gain or upper bound; stock duration and distribution coverage are unknown.","No annualisation, elasticity, promotional cost or cannibalisation is modelled."],"formula":"max(0, €269,228.58 x 0.07216658873886855 - €14,892.82) = €4,536.49","period":"12 weeks","value_eur":4536.49,"value_type":"Revenue"}
Caveats: One 12-week aggregate and current status/stock fields; the period end and stock duration are not supplied. Market revenue is a demand proxy, not a verified addressable sales pool.
Source records:
sku_performance.csv: HC0070, CSV row 71
product_metadata.csv: HC0070, CSV row 71
competitor_market_signals.csv: CM009, CSV row 10
competitor_market_signals.csv: CM054, CSV row 55
competitor_market_signals.csv: CM056, CSV row 57
competitor_market_signals.csv: CM058, CSV row 59
HC0002 — ZenBeauty Private Label Color Studio Sunlit Peach
Primary action: Investigate zero sales; also flagged: none
Proposed owner: E-commerce / category operations
Next step: Check listing visibility, barcode mapping, distribution and sales-feed completeness. Check the selling season before allocating promotional spend.
Success measure: Validated listing and sales feed; first confirmed sales, units and gross profit.
Status: aktiv; stock: in_stock; seasonality: Summer
12-week revenue €0.00; units 0; margin 57.0%
Market proxy €64,200.00; trend +31.0%
Channel/proxy ratio 0.00000000%; peer ratio 4.21597294%; peer margin 36.300%
Peers (27; subject excluded): HC0038, HC0055, HC0057, HC0059, HC0061, HC0068, HC0074, HC0077, HC0078, HC0080, HC0088, HC0102, HC0113, HC0115, HC0133, HC0149, HC0154, HC0171, HC0180, HC0186, HC0197, HC0208, HC0209, HC0215, HC0219, HC0224, HC0228
Scenario: {"assumptions":["An investigation is recommended; financial impact is not established."],"formula":"No defensible monetary estimate from the supplied data.","period":"12 weeks","value_eur":null,"value_type":"Not estimated"}
Caveats: One 12-week aggregate and current status/stock fields; the period end and stock duration are not supplied. Market revenue is a demand proxy, not a verified addressable sales pool. Summer item: verify the selling calendar before promotion, reactivation or clearance; the performance-window end is unknown.
Source records:
sku_performance.csv: HC0002, CSV row 3
product_metadata.csv: HC0002, CSV row 3
competitor_market_signals.csv: CM023, CSV row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Shortlist economics are much smaller than the full scenario pool
Suggested speaking time: 80 seconds. Main discussion: approximately 8–9 minutes; two appendix slides support questions.
TALK TRACK
The earlier headline totals refer to the full rule-matched queue. The selected five contain only €9,986.05 of revenue benchmark-distance scenarios across 2 cases, and €4,422.43 of gross-profit scenarios in 1 case. These must never be added, and the 2 unquantified decisions are not zero-value opportunities. The peer distances are not causal forecasts. Gross profit holds current revenue constant, not volume or net profit. Costs, elasticity and cannibalisation are not modeled, the performance-window end is unknown, and annualisation is not justified.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Exact revenue scenario: €93,026.53.
Exact gross-profit scenario: €24,923.66.
Exact shortlisted revenue scenario: €9,986.05.
Exact shortlisted gross-profit scenario: €4,422.43.
Revenue formula: max(0, market proxy x subcategory peer median ratio - current channel revenue).
Gross-profit formula: max(0, current channel revenue x (peer median margin - current margin)).
Each secondary flag is excluded from these totals. Selected records are a subset of primary-action records.
[
  {
    "value_type": "Revenue",
    "full_queue": {
      "value_type": "Revenue",
      "value_eur": 93026.53,
      "case_count": 50,
      "case_ids": [
        "HC0070",
        "HC0006",
        "HC0053",
        "HC0043",
        "HC0229",
        "HC0111",
        "HC0135",
        "HC0119",
        "HC0165",
        "HC0143",
        "HC0004",
        "HC0089",
        "HC0029",
        "HC0216",
        "HC0188",
        "HC0022",
        "HC0137",
        "HC0035",
        "HC0117",
        "HC0194",
        "HC0221",
        "HC0072",
        "HC0073",
        "HC0108",
        "HC0021",
        "HC0164",
        "HC0151",
        "HC0220",
        "HC0118",
        "HC0027",
        "HC0104",
        "HC0065",
        "HC0125",
        "HC0083",
        "HC0064",
        "HC0051",
        "HC0120",
        "HC0110",
        "HC0099",
        "HC0212",
        "HC0179",
        "HC0178",
        "HC0159",
        "HC0056",
        "HC0090",
        "HC0013",
        "HC0050",
        "HC0211",
        "HC0001",
        "HC0154"
      ]
    },
    "shortlist": {
      "value_type": "Revenue",
      "value_eur": 9986.05,
      "case_count": 2,
      "case_ids": [
        "HC0070",
        "HC0083"
      ]
    }
  },
  {
    "value_type": "Gross profit",
    "full_queue": {
      "value_type": "Gross profit",
      "value_eur": 24923.66,
      "case_count": 11,
      "case_ids": [
        "HC0024",
        "HC0015",
        "HC0096",
        "HC0184",
        "HC0123",
        "HC0016",
        "HC0174",
        "HC0157",
        "HC0076",
        "HC0203",
        "HC0161"
      ]
    },
    "shortlist": {
      "value_type": "Gross profit",
      "value_eur": 4422.43,
      "case_count": 1,
      "case_ids": [
        "HC0024"
      ]
    }
  }
]
Revenue scenarios are distances to a subcategory peer ratio; gross-profit scenarios hold current revenue constant and change margin to a peer median. Neither is a forecast, guaranteed gain or statistical upper bound. Do not add revenue to gross profit. No annualisation; promotion cost, elasticity and cannibalisation are not modelled.
HC0070 | Revenue | max(0, €269,228.58 x 0.07216658873886855 - €14,892.82) = €4,536.49 | sku_performance.csv: HC0070, CSV row 71; product_metadata.csv: HC0070, CSV row 71; competitor_market_signals.csv: CM009, CSV row 10; competitor_market_signals.csv: CM054, CSV row 55; competitor_market_signals.csv: CM056, CSV row 57; competitor_market_signals.csv: CM058, CSV row 59
HC0006 | Revenue | max(0, €238,000.00 x 0.07216658873886855 - €16,400.00) = €775.65 | sku_performance.csv: HC0006, CSV row 7; product_metadata.csv: HC0006, CSV row 7; competitor_market_signals.csv: CM003, CSV row 4; competitor_market_signals.csv: CM019, CSV row 20; competitor_market_signals.csv: CM073, CSV row 74
HC0053 | Revenue | max(0, €132,930.60 x 0.07216658873886855 - €16,742.67) = €0.00 | sku_performance.csv: HC0053, CSV row 54; product_metadata.csv: HC0053, CSV row 54; competitor_market_signals.csv: CM029, CSV row 30
HC0043 | Revenue | max(0, €109,929.08 x 0.07216658873886855 - €7,330.80) = €602.41 | sku_performance.csv: HC0043, CSV row 44; product_metadata.csv: HC0043, CSV row 44; competitor_market_signals.csv: CM043, CSV row 44
HC0229 | Revenue | max(0, €49,019.36 x 0.05143053591957583 - €2,370.67) = €150.42 | sku_performance.csv: HC0229, CSV row 230; product_metadata.csv: HC0229, CSV row 230; competitor_market_signals.csv: CM041, CSV row 42
HC0111 | Revenue | max(0, €34,818.64 x 0.04158778905071245 - €846.66) = €601.37 | sku_performance.csv: HC0111, CSV row 112; product_metadata.csv: HC0111, CSV row 112
HC0135 | Revenue | max(0, €23,935.84 x 0.07216658873886855 - €189.30) = €1,538.07 | sku_performance.csv: HC0135, CSV row 136; product_metadata.csv: HC0135, CSV row 136
HC0119 | Revenue | max(0, €23,358.69 x 0.05440241102241644 - €2,434.79) = €0.00 | sku_performance.csv: HC0119, CSV row 120; product_metadata.csv: HC0119, CSV row 120; competitor_market_signals.csv: CM011, CSV row 12
HC0165 | Revenue | max(0, €17,403.48 x 0.05143053591957583 - €438.43) = €456.64 | sku_performance.csv: HC0165, CSV row 166; product_metadata.csv: HC0165, CSV row 166; competitor_market_signals.csv: CM002, CSV row 3
HC0143 | Revenue | max(0, €761,015.38 x 0.07216658873886855 - €32,316.38) = €22,603.50 | sku_performance.csv: HC0143, CSV row 144; product_metadata.csv: HC0143, CSV row 144; competitor_market_signals.csv: CM029, CSV row 30
HC0004 | Revenue | max(0, €134,000.00 x 0.05143053591957583 - €220.00) = €6,671.69 | sku_performance.csv: HC0004, CSV row 5; product_metadata.csv: HC0004, CSV row 5; competitor_market_signals.csv: CM002, CSV row 3
HC0089 | Revenue | max(0, €433,515.65 x 0.05440241102241644 - €18,055.52) = €5,528.78 | sku_performance.csv: HC0089, CSV row 90; product_metadata.csv: HC0089, CSV row 90; competitor_market_signals.csv: CM070, CSV row 71
HC0029 | Revenue | max(0, €197,544.64 x 0.07216658873886855 - €8,747.53) = €5,508.59 | sku_performance.csv: HC0029, CSV row 30; product_metadata.csv: HC0029, CSV row 30; competitor_market_signals.csv: CM065, CSV row 66
HC0216 | Revenue | max(0, €82,945.82 x 0.07216658873886855 - €3,954.45) = €2,031.47 | sku_performance.csv: HC0216, CSV row 217; product_metadata.csv: HC0216, CSV row 217; competitor_market_signals.csv: CM053, CSV row 54
HC0188 | Revenue | max(0, €18,876.69 x 0.07216658873886855 - €65.61) = €1,296.66 | sku_performance.csv: HC0188, CSV row 189; product_metadata.csv: HC0188, CSV row 189
HC0022 | Revenue | max(0, €54,053.15 x 0.05143053591957583 - €2,148.67) = €631.31 | sku_performance.csv: HC0022, CSV row 23; product_metadata.csv: HC0022, CSV row 23; competitor_market_signals.csv: CM041, CSV row 42
HC0137 | Revenue | max(0, €6,763.58 x 0.07216658873886855 - €0.00) = €488.10 | sku_performance.csv: HC0137, CSV row 138; product_metadata.csv: HC0137, CSV row 138; competitor_market_signals.csv: CM053, CSV row 54
HC0035 | Revenue | max(0, €81,023.35 x 0.04215972941094782 - €2,935.23) = €480.69 | sku_performance.csv: HC0035, CSV row 36; product_metadata.csv: HC0035, CSV row 36
HC0117 | Revenue | max(0, €7,064.76 x 0.04215972941094782 - €0.00) = €297.85 | sku_performance.csv: HC0117, CSV row 118; product_metadata.csv: HC0117, CSV row 118; competitor_market_signals.csv: CM001, CSV row 2; competitor_market_signals.csv: CM034, CSV row 35
HC0194 | Revenue | max(0, €7,499.71 x 0.05440241102241644 - €198.60) = €209.40 | sku_performance.csv: HC0194, CSV row 195; product_metadata.csv: HC0194, CSV row 195; competitor_market_signals.csv: CM070, CSV row 71
HC0221 | Revenue | max(0, €46,925.04 x 0.04158778905071245 - €1,816.15) = €135.36 | sku_performance.csv: HC0221, CSV row 222; product_metadata.csv: HC0221, CSV row 222
HC0072 | Revenue | max(0, €29,560.44 x 0.05143053591957583 - €1,464.44) = €55.87 | sku_performance.csv: HC0072, CSV row 73; product_metadata.csv: HC0072, CSV row 73
HC0073 | Revenue | max(0, €33,157.81 x 0.04158778905071245 - €1,356.22) = €22.74 | sku_performance.csv: HC0073, CSV row 74; product_metadata.csv: HC0073, CSV row 74
HC0108 | Revenue | max(0, €213,564.79 x 0.05143053591957583 - €15,242.84) = €0.00 | sku_performance.csv: HC0108, CSV row 109; product_metadata.csv: HC0108, CSV row 109; competitor_market_signals.csv: CM042, CSV row 43
HC0021 | Revenue | max(0, €164,441.87 x 0.07216658873886855 - €12,414.74) = €0.00 | sku_performance.csv: HC0021, CSV row 22; product_metadata.csv: HC0021, CSV row 22; competitor_market_signals.csv: CM010, CSV row 11; competitor_market_signals.csv: CM028, CSV row 29; competitor_market_signals.csv: CM044, CSV row 45
HC0164 | Revenue | max(0, €122,995.98 x 0.05440241102241644 - €10,451.07) = €0.00 | sku_performance.csv: HC0164, CSV row 165; product_metadata.csv: HC0164, CSV row 165; competitor_market_signals.csv: CM070, CSV row 71
HC0151 | Revenue | max(0, €68,945.20 x 0.04215972941094782 - €3,109.46) = €0.00 | sku_performance.csv: HC0151, CSV row 152; product_metadata.csv: HC0151, CSV row 152; competitor_market_signals.csv: CM039, CSV row 40
HC0220 | Revenue | max(0, €48,860.17 x 0.04215972941094782 - €3,094.81) = €0.00 | sku_performance.csv: HC0220, CSV row 221; product_metadata.csv: HC0220, CSV row 221; competitor_market_signals.csv: CM001, CSV row 2; competitor_market_signals.csv: CM034, CSV row 35
HC0118 | Revenue | max(0, €33,382.50 x 0.05143053591957583 - €2,236.93) = €0.00 | sku_performance.csv: HC0118, CSV row 119; product_metadata.csv: HC0118, CSV row 119; competitor_market_signals.csv: CM002, CSV row 3
HC0027 | Revenue | max(0, €30,682.39 x 0.02624143922628283 - €1,822.41) = €0.00 | sku_performance.csv: HC0027, CSV row 28; product_metadata.csv: HC0027, CSV row 28
HC0104 | Revenue | max(0, €30,171.15 x 0.05440241102241644 - €3,206.65) = €0.00 | sku_performance.csv: HC0104, CSV row 105; product_metadata.csv: HC0104, CSV row 105
HC0065 | Revenue | max(0, €29,452.42 x 0.04215972941094782 - €1,518.45) = €0.00 | sku_performance.csv: HC0065, CSV row 66; product_metadata.csv: HC0065, CSV row 66; competitor_market_signals.csv: CM001, CSV row 2; competitor_market_signals.csv: CM034, CSV row 35
HC0125 | Revenue | max(0, €18,136.39 x 0.02624143922628283 - €890.53) = €0.00 | sku_performance.csv: HC0125, CSV row 126; product_metadata.csv: HC0125, CSV row 126
HC0024 | Gross profit | max(0, €30,499.52 x (0.391 - 0.246)) = €4,422.43 | sku_performance.csv: HC0024, CSV row 25; product_metadata.csv: HC0024, CSV row 25; competitor_market_signals.csv: CM043, CSV row 44
HC0015 | Gross profit | max(0, €22,999.65 x (0.394 - 0.208)) = €4,277.93 | sku_performance.csv: HC0015, CSV row 16; product_metadata.csv: HC0015, CSV row 16; competitor_market_signals.csv: CM053, CSV row 54
HC0096 | Gross profit | max(0, €17,170.56 x (0.394 - 0.211)) = €3,142.21 | sku_performance.csv: HC0096, CSV row 97; product_metadata.csv: HC0096, CSV row 97; competitor_market_signals.csv: CM029, CSV row 30
HC0184 | Gross profit | max(0, €14,346.47 x (0.394 - 0.22)) = €2,496.29 | sku_performance.csv: HC0184, CSV row 185; product_metadata.csv: HC0184, CSV row 185; competitor_market_signals.csv: CM026, CSV row 27; competitor_market_signals.csv: CM063, CSV row 64
HC0123 | Gross profit | max(0, €16,572.29 x (0.394 - 0.25)) = €2,386.41 | sku_performance.csv: HC0123, CSV row 124; product_metadata.csv: HC0123, CSV row 124; competitor_market_signals.csv: CM046, CSV row 47
HC0016 | Gross profit | max(0, €11,161.19 x (0.391 - 0.198)) = €2,154.11 | sku_performance.csv: HC0016, CSV row 17; product_metadata.csv: HC0016, CSV row 17; competitor_market_signals.csv: CM026, CSV row 27; competitor_market_signals.csv: CM063, CSV row 64
HC0174 | Gross profit | max(0, €12,704.24 x (0.37 - 0.217)) = €1,943.75 | sku_performance.csv: HC0174, CSV row 175; product_metadata.csv: HC0174, CSV row 175; competitor_market_signals.csv: CM011, CSV row 12
HC0157 | Gross profit | max(0, €12,113.83 x (0.37 - 0.26)) = €1,332.52 | sku_performance.csv: HC0157, CSV row 158; product_metadata.csv: HC0157, CSV row 158; competitor_market_signals.csv: CM070, CSV row 71
HC0076 | Gross profit | max(0, €6,232.48 x (0.37 - 0.188)) = €1,134.31 | sku_performance.csv: HC0076, CSV row 77; product_metadata.csv: HC0076, CSV row 77; competitor_market_signals.csv: CM074, CSV row 75
HC0203 | Gross profit | max(0, €6,627.42 x (0.37 - 0.233)) = €907.96 | sku_performance.csv: HC0203, CSV row 204; product_metadata.csv: HC0203, CSV row 204; competitor_market_signals.csv: CM070, CSV row 71
HC0161 | Gross profit | max(0, €6,256.35 x (0.37 - 0.254)) = €725.74 | sku_performance.csv: HC0161, CSV row 162; product_metadata.csv: HC0161, CSV row 162
HC0083 | Revenue | max(0, €226,316.30 x 0.07333870233961558 - €11,148.18) = €5,449.56 | sku_performance.csv: HC0083, CSV row 84; product_metadata.csv: HC0083, CSV row 84; competitor_market_signals.csv: CM053, CSV row 54
HC0064 | Revenue | max(0, €147,997.37 x 0.07333870233961558 - €6,802.52) = €4,051.42 | sku_performance.csv: HC0064, CSV row 65; product_metadata.csv: HC0064, CSV row 65; competitor_market_signals.csv: CM053, CSV row 54
HC0051 | Revenue | max(0, €687,963.60 x 0.07333870233961558 - €47,004.95) = €3,449.41 | sku_performance.csv: HC0051, CSV row 52; product_metadata.csv: HC0051, CSV row 52; competitor_market_signals.csv: CM053, CSV row 54
HC0120 | Revenue | max(0, €112,782.18 x 0.07333870233961558 - €4,968.10) = €3,303.20 | sku_performance.csv: HC0120, CSV row 121; product_metadata.csv: HC0120, CSV row 121; competitor_market_signals.csv: CM009, CSV row 10; competitor_market_signals.csv: CM054, CSV row 55; competitor_market_signals.csv: CM056, CSV row 57; competitor_market_signals.csv: CM058, CSV row 59
HC0110 | Revenue | max(0, €111,971.10 x 0.07333870233961558 - €5,060.58) = €3,151.24 | sku_performance.csv: HC0110, CSV row 111; product_metadata.csv: HC0110, CSV row 111; competitor_market_signals.csv: CM022, CSV row 23; competitor_market_signals.csv: CM024, CSV row 25
HC0099 | Revenue | max(0, €160,101.52 x 0.07333870233961558 - €8,778.58) = €2,963.06 | sku_performance.csv: HC0099, CSV row 100; product_metadata.csv: HC0099, CSV row 100; competitor_market_signals.csv: CM022, CSV row 23; competitor_market_signals.csv: CM024, CSV row 25
HC0212 | Revenue | max(0, €112,885.61 x 0.07333870233961558 - €5,613.49) = €2,665.39 | sku_performance.csv: HC0212, CSV row 213; product_metadata.csv: HC0212, CSV row 213; competitor_market_signals.csv: CM065, CSV row 66
HC0179 | Revenue | max(0, €121,579.47 x 0.07333870233961558 - €6,316.36) = €2,600.12 | sku_performance.csv: HC0179, CSV row 180; product_metadata.csv: HC0179, CSV row 180; competitor_market_signals.csv: CM043, CSV row 44
HC0178 | Revenue | max(0, €139,919.73 x 0.05535199317993758 - €5,376.00) = €2,368.84 | sku_performance.csv: HC0178, CSV row 179; product_metadata.csv: HC0178, CSV row 179; competitor_market_signals.csv: CM025, CSV row 26; competitor_market_signals.csv: CM075, CSV row 76
HC0159 | Revenue | max(0, €118,517.33 x 0.07333870233961558 - €6,461.99) = €2,229.92 | sku_performance.csv: HC0159, CSV row 160; product_metadata.csv: HC0159, CSV row 160; competitor_market_signals.csv: CM045, CSV row 46; competitor_market_signals.csv: CM052, CSV row 53
HC0056 | Revenue | max(0, €138,925.59 x 0.05535199317993758 - €5,464.98) = €2,224.83 | sku_performance.csv: HC0056, CSV row 57; product_metadata.csv: HC0056, CSV row 57; competitor_market_signals.csv: CM070, CSV row 71
HC0090 | Revenue | max(0, €104,387.62 x 0.05535199317993758 - €4,480.97) = €1,297.09 | sku_performance.csv: HC0090, CSV row 91; product_metadata.csv: HC0090, CSV row 91
HC0013 | Revenue | max(0, €105,354.34 x 0.07333870233961558 - €6,807.24) = €919.31 | sku_performance.csv: HC0013, CSV row 14; product_metadata.csv: HC0013, CSV row 14; competitor_market_signals.csv: CM029, CSV row 30
HC0050 | Revenue | max(0, €210,625.26 x 0.05384400272156941 - €10,832.57) = €508.34 | sku_performance.csv: HC0050, CSV row 51; product_metadata.csv: HC0050, CSV row 51; competitor_market_signals.csv: CM002, CSV row 3
HC0211 | Revenue | max(0, €114,109.68 x 0.07333870233961558 - €7,903.02) = €465.64 | sku_performance.csv: HC0211, CSV row 212; product_metadata.csv: HC0211, CSV row 212; competitor_market_signals.csv: CM053, CSV row 54
HC0001 | Revenue | max(0, €181,000.00 x 0.07333870233961558 - €12,850.00) = €424.31 | sku_performance.csv: HC0001, CSV row 2; product_metadata.csv: HC0001, CSV row 2; competitor_market_signals.csv: CM065, CSV row 66
HC0154 | Revenue | max(0, €97,657.25 x 0.0436976984691773 - €3,935.61) = €331.79 | sku_performance.csv: HC0154, CSV row 155; product_metadata.csv: HC0154, CSV row 155; competitor_market_signals.csv: CM001, CSV row 2; competitor_market_signals.csv: CM034, CSV row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 review record makes each decision owned and measurable
Suggested speaking time: 60 seconds. Main discussion: approximately 8–9 minutes; two appendix slides support questions.
TALK TRACK
This is where the prototype becomes a usable product slice rather than only an analysis. Its four-step loop keeps evidence, decision, proposed ownership and a checkpoint together. The role scorecard is a proposed management cadence, not observed adoption. We have not measured time saved or business uplift. Local storage does not make this a shared workflow tool, and accepting a plan item changes no stock, prices or assortment.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
  "implementation_sources": [
    "dashboard_template.html",
    "README.md"
  ],
  "proposed_checkpoint_basis": [
    {
      "id": "HC0070",
      "owner": "Supply planner",
      "measure": "Availability, units sold and gross profit after the supply check."
    },
    {
      "id": "HC0002",
      "owner": "E-commerce / category operations",
      "measure": "Validated listing and sales feed; first confirmed sales, units and gross profit."
    },
    {
      "id": "HC0101",
      "owner": "Category manager",
      "measure": "Documented range decision; if trialled, units and gross profit against an agreed baseline."
    },
    {
      "id": "HC0024",
      "owner": "Buyer / commercial finance",
      "measure": "Gross profit and units sold, not margin percentage alone."
    },
    {
      "id": "HC0083",
      "owner": "Category / merchandising manager",
      "measure": "Incremental units and gross profit net of promotional costs and cannibalisation."
    }
  ],
  "current_limits": "Browser-local state; export for handoff; not shared assignment, ERP write-back or measured outcomes."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Scale only after validation and a controlled pilot demonstrate value
Suggested speaking time: 65 seconds. Main discussion: approximately 8–9 minutes; two appendix slides support questions.
TALK TRACK
Leadership can approve a focused validation agenda without committing to a rollout or a quantified savings claim. Gate one settles data and business context. Gate two defines the treatment, costs, baseline or control and the success threshold before testing. Gate three reviews actual outcomes and adoption before considering production tooling. Owners and gates here are proposed, not assignments or a delivery promise. If evidence does not support a test or expansion, defer or stop. No dates or budgets have been invented.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
  "proposed_gates": [
    [
      "1",
      "VALIDATE",
      "Category lead + data owners",
      "Freshness, listing and lifecycle\nquestions are resolved."
    ],
    [
      "2",
      "TEST",
      "Buyer + finance",
      "Scope, costs, baseline/control and\nsuccess criteria are agreed first."
    ],
    [
      "3",
      "SCALE",
      "Sponsor + technology owner",
      "Review results and adoption;\nfund tooling only if justified."
    ]
  ],
  "explicit_decisions": [
    "Endorse the five product checks",
    "Nominate accountable owners",
    "Agree scope, baseline and success criteria"
  ],
  "no_commitments": "No approved costs, timeline, business target or Azure deployment.",
  "prototype_links": [
    "https://glejdis.github.io/zenline-category-opportunity-review/",
    "https://github.com/glejdis/zenline-category-opportunity-review"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Appendix: source controls keep the interpretation defensible
Suggested speaking time: 45 seconds. Main discussion: approximately 8–9 minutes; two appendix slides support questions.
TALK TRACK
This appendix is the method, not the main recommendation. It joins the three source types, validates data structure and applies explicit business guardrails. Ranking thresholds are transparent heuristics—not learned causal effects. The same product IDs and evidence appear in the dashboard, exports and this deck. Competitor scores outside 0–100 are excluded from popularity calculations but preserved as raw evidence. Dates, role ambiguity and product comparability constrain how far a stakeholder can act.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
  "methodology": {
    "evidence": "Snapshot only = direct fields support an investigation, not a causal conclusion. Needs context = lifecycle, zero-sales or seasonal reasons are unknown. Limited comparison = category/shade matches with unverified product comparability. These labels describe evidence, not probability of success.",
    "scenario": "Revenue scenarios are distances to a subcategory peer ratio; gross-profit scenarios hold current revenue constant and change margin to a peer median. Neither is a forecast, guaranteed gain or statistical upper bound. Do not add revenue to gross profit. No annualisation; promotion cost, elasticity and cannibalisation are not modelled.",
    "selection": "Operational checks come first, then lifecycle validation and commercial tests. Select up to five concrete items, taking the first item per primary action before adding repeats only when fewer than three decisions are available. No empty cards or mandatory one-per-lever recommendations.",
    "thresholds": {
      "chan_rev_low": 1395.96,
      "margin_low": 0.2666,
      "mkt_rev_strong": 95238.13720000004,
      "volume_seller": 5554.085999999998
    }
  },
  "quality": {
    "competitor_age_days": 81,
    "competitor_observed_from": "2026-07-01",
    "competitor_observed_to": "2026-07-01",
    "exclusions": [
      {
        "field": "signal_score_0_100",
        "file": "competitor_market_signals.csv",
        "reason": "Outside 0-100; excluded from popularity averages and popularity ranking. Price and trend retained as separate, unverified observations.",
        "record_id": "CM014",
        "row_number": 15,
        "value": 100.1
      },
      {
        "field": "signal_score_0_100",
        "file": "competitor_market_signals.csv",
        "reason": "Outside 0-100; excluded from popularity averages and popularity ranking. Price and trend retained as separate, unverified observations.",
        "record_id": "CM044",
        "row_number": 45,
        "value": 104.8
      },
      {
        "field": "signal_score_0_100",
        "file": "competitor_market_signals.csv",
        "reason": "Outside 0-100; excluded from popularity averages and popularity ranking. Price and trend retained as separate, unverified observations.",
        "record_id": "CM051",
        "row_number": 52,
        "value": 100.6
      },
      {
        "field": "signal_score_0_100",
        "file": "competitor_market_signals.csv",
        "reason": "Outside 0-100; excluded from popularity averages and popularity ranking. Price and trend retained as separate, unverified observations.",
        "record_id": "CM056",
        "row_number": 57,
        "value": 103
      }
    ],
    "invalid_signal_count": 4,
    "warnings": [
      "Synthetic dataset: product names, classifications and suppliers need validation before real commercial use.",
      "The performance window is 12 weeks, but its end date and the date of the stock snapshot are not supplied.",
      "Market revenue is a demand proxy. Channel / market is a descriptive ratio, not verified market share or proof of poor execution.",
      "4 popularity scores are outside 0-100 and excluded from popularity calculations; raw values remain visible.",
      "Oldest competitor observations are 81 days old as of 2026-09-20. The 60-day refresh threshold is an explicit review assumption, not a freshness guarantee.",
      "Revenue/units zero-state mismatch; validate the sales feed for: HC0202."
    ]
  },
  "source_files": [
    "sku_performance.csv",
    "product_metadata.csv",
    "competitor_market_signals.csv"
  ],
  "implementation": "Deterministic Python standard-library analysis; no learned forecast or production cloud runtime."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Appendix: shared Azure workflow is a scale option—not a pilot prerequisite
Suggested speaking time: 40 seconds. Main discussion: approximately 8–9 minutes; two appendix slides support questions.
TALK TRACK
This is the same proposed architecture available from the dashboard's Architecture icon. It is intentionally in the appendix: the pilot does not require building a production platform first. App Service and Entra would support authenticated access; batch jobs and private Blob containers would version the evidence; PostgreSQL would support shared decisions and audit. This needs customer-specific requirements, security implementation and operational ownership. Nothing shown is provisioned by the prototype, and there is no retail-system write-back.
SOURCE AND REPRODUCIBILITY
Authoritative build input: outputs\review.json (local file; public main may lag).
Snapshot ID: a772921f8ac4c1194db8
Review generated/as-of date: 2026-09-20
review.json SHA-256: 7b1e7ce25d06107be412f1709b91e75443dcfd0cfd4976ada2f92e5cbce7d9a2
Inputs are synthetic. No result, task assignment or commercial action is approved or executed by this deck.
Public repository: https://github.com/glejdis/zenline-category-opportunity-review
Public dashboard (last deployed commit): https://glejdis.github.io/zenline-category-opportunity-review/
EVIDENCE, DEFINITIONS AND LIMITS
Architecture specification SHA-256: 8b0b0cdb55bd7858c22283a64e281a43706bcb4e1abb7d6793cdf256a6d05a54
Shared architecture image SHA-256: 8db457d15dd9c44a94fbbb9b3693967b7ae3ca9bf91c5bfb69d191845ae95f0c
Shared renderer and source/output hashes: {"text_hash_normalization":"utf8-lf","source_sha256":"1abf37b2befec5216fe2851d18fa2a8b193269d6ed3f6ab51cd867bee6b9ef25","svg_sha256":"2627e177410c83485d9026633ca531cf8c3fe8ca118e0c563e2b3059b8ef131f","png_sha256":"8db457d15dd9c44a94fbbb9b3693967b7ae3ca9bf91c5bfb69d191845ae95f0c","config_sha256":"8c69d157c7a7397b4b774902c2df4d02c696f3afeeddcae783461fae8ca4de11","renderer":"@mermaid-js/mermaid-cli 11.17.0"}
{
  "title": "A production path for shared, governed category decisions",
  "status": "Proposed architecture - not deployed",
  "scope": "One internal retail organisation; scheduled batch refresh; authenticated browser access; a shared review-plan API. Service choice and capacity require customer validation.",
  "today": "The shipped prototype is a deterministic Python pipeline and standalone HTML. Plans are stored in this browser. There is no hosted API, sign-in, shared database, ERP write-back or Azure deployment.",
  "flow": [
    "Land retailer exports in a private raw Blob container, using an agreed ingestion contract and workload identity.",
    "Run the containerised analysis on an agreed UTC schedule with Azure Container Apps Jobs. Validate inputs before publication and use snapshot IDs to make retries idempotent.",
    "Publish complete, versioned evidence and review artifacts to a private review container. On failure, retain the last successful snapshot and show a stale-data warning; alert the operator.",
    "Serve the dashboard and authorised evidence through a Python API on Azure App Service. Microsoft Entra ID signs users in; the API must enforce app roles and retailer/category scope on every request.",
    "Replace browser-only plan storage with PostgreSQL-backed plans, version checks, audit events and evidence-snapshot references. Browser storage may remain only an explicitly labelled draft cache."
  ],
  "services": [
    {
      "name": "Azure App Service",
      "purpose": "Host the dashboard and a new Python API together, with built-in Entra authentication.",
      "change_needed": "Implement API endpoints, tenant/category authorisation, anti-CSRF protection for cookie-authenticated writes, concurrency control and controlled evidence downloads."
    },
    {
      "name": "Azure Container Apps Jobs",
      "purpose": "Run the existing deterministic analysis as a finite, scheduled batch workload.",
      "change_needed": "Package the Python job and input/output adapters, configure schedule/retries/timeouts, and publish only fully validated snapshots."
    },
    {
      "name": "Azure Blob Storage",
      "purpose": "Store raw inputs and versioned review artifacts in separate private containers of a storage account.",
      "change_needed": "Define retention, versioning, encryption/access policies and an atomic current-successful-review pointer. Do not expose raw or review containers anonymously."
    },
    {
      "name": "Azure Database for PostgreSQL Flexible Server",
      "purpose": "Persist shared action plans, owners, due dates, decisions, row versions and audit history.",
      "change_needed": "Create a scoped schema and least-privilege application role; configure Entra-based managed-identity access, backups and a tested restore process."
    },
    {
      "name": "Microsoft Entra ID and managed identities",
      "purpose": "Separate user sign-in from service-to-service access without hardcoded cloud credentials.",
      "change_needed": "Configure app roles and identity lifecycle. Grant the job Blob read/write permissions and the API only the Blob/database permissions it needs; authentication alone is not business authorisation."
    },
    {
      "name": "Azure Monitor, Application Insights and Log Analytics",
      "purpose": "Make failed refreshes, validation errors, stale snapshots and API health visible to an accountable operator.",
      "change_needed": "Instrument the new API and job, correlate logs with snapshot IDs, set retention/alerts and avoid sending raw commercial data or user notes to telemetry."
    },
    {
      "name": "Azure Container Registry and GitHub Actions",
      "purpose": "Version the analysis image and deploy tested releases through workload identity federation (OIDC).",
      "change_needed": "Create CI build/deploy stages and environment approval gates; pin released image digests. This does not imply a production deployment workflow exists today."
    },
    {
      "name": "Azure Key Vault - only if required",
      "purpose": "Store external-source credentials that cannot use federated or managed identity.",
      "change_needed": "Use managed identity to retrieve only required secrets. Omit this service if all connections can be passwordless."
    }
  ],
  "controls": [
    "Private data tier: App Service VNet integration, a VNet-integrated Container Apps environment, private Blob endpoints and private PostgreSQL connectivity with private DNS. Network access paths and subnet capacity must be designed before deployment.",
    "Authenticated HTTPS application ingress, with access restricted to the agreed workforce audience. A WAF or fully private ingress can be added if the customer's security standard requires it.",
    "Separate managed identities and least-privilege data-plane permissions for the API and batch job; enforce app roles and category/retailer scope in API code.",
    "Immutable logical review versions, evidence-linked decisions, optimistic concurrency, explicit retention and audit policies, and tested backup/restore.",
    "Human approval remains mandatory before any replenishment, pricing or range change. This design does not write to operational retail systems."
  ],
  "rollout": [
    "Agree source contracts, ownership, data classification, review cadence, success metrics, RPO/RTO and an Azure region with the customer.",
    "Build the authenticated API/shared-plan schema and batch adapters; test authorisation, simultaneous edits, failed refreshes and restored backups.",
    "Pilot one category with a small user group and measure decision follow-through and commercial outcomes before expanding."
  ],
  "not_required": "No Azure OpenAI/Foundry runtime, vector database, AKS cluster, event bus or data lake platform is needed for this batch rules-based scope. No costs, capacities or production SLAs are asserted without workload requirements.",
  "references": [
    {
      "label": "App Service built-in authentication and its authorisation responsibilities",
      "url": "https://learn.microsoft.com/en-us/azure/app-service/overview-authentication-authorization"
    },
    {
      "label": "Container Apps Jobs and scheduled finite workloads",
      "url": "https://learn.microsoft.com/en-us/azure/container-apps/jobs"
    },
    {
      "label": "Blob data access with Entra ID, RBAC and managed identity",
      "url": "https://learn.microsoft.com/en-us/azure/storage/blobs/authorize-access-azure-active-directory"
    },
    {
      "label": "PostgreSQL Flexible Server Entra authentication",
      "url": "https://learn.microsoft.com/en-us/azure/postgresql/security/security-entra-concepts"
    },
    {
      "label": "Managed identities for Container Apps and registry access",
      "url": "https://learn.microsoft.com/en-us/azure/container-apps/managed-identity"
    }
  ]
}
App Service built-in authentication and its authorisation responsibilities: https://learn.microsoft.com/en-us/azure/app-service/overview-authentication-authorization
Container Apps Jobs and scheduled finite workloads: https://learn.microsoft.com/en-us/azure/container-apps/jobs
Blob data access with Entra ID, RBAC and managed identity: https://learn.microsoft.com/en-us/azure/storage/blobs/authorize-access-azure-active-directory
PostgreSQL Flexible Server Entra authentication: https://learn.microsoft.com/en-us/azure/postgresql/security/security-entra-concepts
Managed identities for Container Apps and registry access: https://learn.microsoft.com/en-us/azure/container-apps/managed-identity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lejdis.github.io/zenline-category-opportunity-review/" TargetMode="External"/><Relationship Id="rId2" Type="http://schemas.openxmlformats.org/officeDocument/2006/relationships/hyperlink" Target="https://github.com/glejdis/zenline-category-opportunity-review"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glejdis/zenline-category-opportunity-review/blob/main/architecture/production.svg" TargetMode="Externa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52B"/>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D1BFC6"/>
                </a:solidFill>
                <a:latin typeface="Calibri" pitchFamily="34" charset="0"/>
                <a:ea typeface="Calibri" pitchFamily="34" charset="-122"/>
                <a:cs typeface="Calibri" pitchFamily="34" charset="-120"/>
              </a:rPr>
              <a:t>Executive recommendation · synthetic case study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D1BFC6"/>
                </a:solidFill>
                <a:latin typeface="Calibri" pitchFamily="34" charset="0"/>
                <a:ea typeface="Calibri" pitchFamily="34" charset="-122"/>
                <a:cs typeface="Calibri" pitchFamily="34" charset="-120"/>
              </a:rPr>
              <a:t>01 / 10</a:t>
            </a:r>
            <a:endParaRPr lang="en-US" sz="1050" dirty="0"/>
          </a:p>
        </p:txBody>
      </p:sp>
      <p:sp>
        <p:nvSpPr>
          <p:cNvPr id="4" name="Shape 2"/>
          <p:cNvSpPr/>
          <p:nvPr/>
        </p:nvSpPr>
        <p:spPr>
          <a:xfrm>
            <a:off x="7571232" y="0"/>
            <a:ext cx="4620768" cy="6089904"/>
          </a:xfrm>
          <a:prstGeom prst="rect">
            <a:avLst/>
          </a:prstGeom>
          <a:solidFill>
            <a:srgbClr val="502737"/>
          </a:solidFill>
          <a:ln w="12700">
            <a:solidFill>
              <a:srgbClr val="502737">
                <a:alpha val="0"/>
              </a:srgbClr>
            </a:solidFill>
            <a:prstDash val="solid"/>
          </a:ln>
        </p:spPr>
      </p:sp>
      <p:sp>
        <p:nvSpPr>
          <p:cNvPr id="5" name="Text 3"/>
          <p:cNvSpPr/>
          <p:nvPr/>
        </p:nvSpPr>
        <p:spPr>
          <a:xfrm>
            <a:off x="594360" y="585216"/>
            <a:ext cx="6400800" cy="237744"/>
          </a:xfrm>
          <a:prstGeom prst="rect">
            <a:avLst/>
          </a:prstGeom>
          <a:noFill/>
          <a:ln/>
        </p:spPr>
        <p:txBody>
          <a:bodyPr wrap="square" lIns="0" tIns="0" rIns="0" bIns="0" rtlCol="0" anchor="ctr"/>
          <a:lstStyle/>
          <a:p>
            <a:pPr indent="0" marL="0">
              <a:buNone/>
            </a:pPr>
            <a:r>
              <a:rPr lang="en-US" sz="1200" b="1" spc="160" kern="0" dirty="0">
                <a:solidFill>
                  <a:srgbClr val="E6BFCA"/>
                </a:solidFill>
                <a:latin typeface="Calibri" pitchFamily="34" charset="0"/>
                <a:ea typeface="Calibri" pitchFamily="34" charset="-122"/>
                <a:cs typeface="Calibri" pitchFamily="34" charset="-120"/>
              </a:rPr>
              <a:t>ZENBEAUTY RETAIL  /  HAIR COLOURATION</a:t>
            </a:r>
            <a:endParaRPr lang="en-US" sz="1200" dirty="0"/>
          </a:p>
        </p:txBody>
      </p:sp>
      <p:sp>
        <p:nvSpPr>
          <p:cNvPr id="6" name="Text 4"/>
          <p:cNvSpPr/>
          <p:nvPr/>
        </p:nvSpPr>
        <p:spPr>
          <a:xfrm>
            <a:off x="594360" y="1261872"/>
            <a:ext cx="6675120" cy="1965960"/>
          </a:xfrm>
          <a:prstGeom prst="rect">
            <a:avLst/>
          </a:prstGeom>
          <a:noFill/>
          <a:ln/>
        </p:spPr>
        <p:txBody>
          <a:bodyPr wrap="square" lIns="0" tIns="0" rIns="0" bIns="0" rtlCol="0" anchor="t"/>
          <a:lstStyle/>
          <a:p>
            <a:pPr indent="0" marL="0">
              <a:buNone/>
            </a:pPr>
            <a:r>
              <a:rPr lang="en-US" sz="4200" dirty="0">
                <a:solidFill>
                  <a:srgbClr val="FAF6EF"/>
                </a:solidFill>
                <a:latin typeface="Georgia" pitchFamily="34" charset="0"/>
                <a:ea typeface="Georgia" pitchFamily="34" charset="-122"/>
                <a:cs typeface="Georgia" pitchFamily="34" charset="-120"/>
              </a:rPr>
              <a:t>Validate first.</a:t>
            </a:r>
            <a:endParaRPr lang="en-US" sz="4200" dirty="0"/>
          </a:p>
          <a:p>
            <a:pPr indent="0" marL="0">
              <a:buNone/>
            </a:pPr>
            <a:r>
              <a:rPr lang="en-US" sz="4200" dirty="0">
                <a:solidFill>
                  <a:srgbClr val="FAF6EF"/>
                </a:solidFill>
                <a:latin typeface="Georgia" pitchFamily="34" charset="0"/>
                <a:ea typeface="Georgia" pitchFamily="34" charset="-122"/>
                <a:cs typeface="Georgia" pitchFamily="34" charset="-120"/>
              </a:rPr>
              <a:t>Pilot selectively.</a:t>
            </a:r>
            <a:endParaRPr lang="en-US" sz="4200" dirty="0"/>
          </a:p>
          <a:p>
            <a:pPr indent="0" marL="0">
              <a:buNone/>
            </a:pPr>
            <a:r>
              <a:rPr lang="en-US" sz="4200" dirty="0">
                <a:solidFill>
                  <a:srgbClr val="FAF6EF"/>
                </a:solidFill>
                <a:latin typeface="Georgia" pitchFamily="34" charset="0"/>
                <a:ea typeface="Georgia" pitchFamily="34" charset="-122"/>
                <a:cs typeface="Georgia" pitchFamily="34" charset="-120"/>
              </a:rPr>
              <a:t>Scale on evidence.</a:t>
            </a:r>
            <a:endParaRPr lang="en-US" sz="4200" dirty="0"/>
          </a:p>
        </p:txBody>
      </p:sp>
      <p:sp>
        <p:nvSpPr>
          <p:cNvPr id="7" name="Text 5"/>
          <p:cNvSpPr/>
          <p:nvPr/>
        </p:nvSpPr>
        <p:spPr>
          <a:xfrm>
            <a:off x="594360" y="3602736"/>
            <a:ext cx="6446520" cy="384048"/>
          </a:xfrm>
          <a:prstGeom prst="rect">
            <a:avLst/>
          </a:prstGeom>
          <a:noFill/>
          <a:ln/>
        </p:spPr>
        <p:txBody>
          <a:bodyPr wrap="square" lIns="0" tIns="0" rIns="0" bIns="0" rtlCol="0" anchor="ctr"/>
          <a:lstStyle/>
          <a:p>
            <a:pPr indent="0" marL="0">
              <a:buNone/>
            </a:pPr>
            <a:r>
              <a:rPr lang="en-US" sz="2300" b="1" dirty="0">
                <a:solidFill>
                  <a:srgbClr val="FAF6EF"/>
                </a:solidFill>
                <a:latin typeface="Calibri" pitchFamily="34" charset="0"/>
                <a:ea typeface="Calibri" pitchFamily="34" charset="-122"/>
                <a:cs typeface="Calibri" pitchFamily="34" charset="-120"/>
              </a:rPr>
              <a:t>A decision agenda for the next category review</a:t>
            </a:r>
            <a:endParaRPr lang="en-US" sz="2300" dirty="0"/>
          </a:p>
        </p:txBody>
      </p:sp>
      <p:sp>
        <p:nvSpPr>
          <p:cNvPr id="8" name="Text 6"/>
          <p:cNvSpPr/>
          <p:nvPr/>
        </p:nvSpPr>
        <p:spPr>
          <a:xfrm>
            <a:off x="594360" y="4251960"/>
            <a:ext cx="6446520" cy="841248"/>
          </a:xfrm>
          <a:prstGeom prst="rect">
            <a:avLst/>
          </a:prstGeom>
          <a:noFill/>
          <a:ln/>
        </p:spPr>
        <p:txBody>
          <a:bodyPr wrap="square" lIns="0" tIns="0" rIns="0" bIns="0" rtlCol="0" anchor="ctr"/>
          <a:lstStyle/>
          <a:p>
            <a:pPr indent="0" marL="0">
              <a:buNone/>
            </a:pPr>
            <a:r>
              <a:rPr lang="en-US" sz="2200" dirty="0">
                <a:solidFill>
                  <a:srgbClr val="D1BFC6"/>
                </a:solidFill>
                <a:latin typeface="Calibri" pitchFamily="34" charset="0"/>
                <a:ea typeface="Calibri" pitchFamily="34" charset="-122"/>
                <a:cs typeface="Calibri" pitchFamily="34" charset="-120"/>
              </a:rPr>
              <a:t>Start with supply and listing checks.</a:t>
            </a:r>
            <a:endParaRPr lang="en-US" sz="2200" dirty="0"/>
          </a:p>
          <a:p>
            <a:pPr indent="0" marL="0">
              <a:buNone/>
            </a:pPr>
            <a:r>
              <a:rPr lang="en-US" sz="2200" dirty="0">
                <a:solidFill>
                  <a:srgbClr val="D1BFC6"/>
                </a:solidFill>
                <a:latin typeface="Calibri" pitchFamily="34" charset="0"/>
                <a:ea typeface="Calibri" pitchFamily="34" charset="-122"/>
                <a:cs typeface="Calibri" pitchFamily="34" charset="-120"/>
              </a:rPr>
              <a:t>Resolve range questions before testing spend.</a:t>
            </a:r>
            <a:endParaRPr lang="en-US" sz="2200" dirty="0"/>
          </a:p>
        </p:txBody>
      </p:sp>
      <p:sp>
        <p:nvSpPr>
          <p:cNvPr id="9" name="Text 7"/>
          <p:cNvSpPr/>
          <p:nvPr/>
        </p:nvSpPr>
        <p:spPr>
          <a:xfrm>
            <a:off x="594360" y="5650992"/>
            <a:ext cx="6446520" cy="256032"/>
          </a:xfrm>
          <a:prstGeom prst="rect">
            <a:avLst/>
          </a:prstGeom>
          <a:noFill/>
          <a:ln/>
        </p:spPr>
        <p:txBody>
          <a:bodyPr wrap="square" lIns="0" tIns="0" rIns="0" bIns="0" rtlCol="0" anchor="ctr"/>
          <a:lstStyle/>
          <a:p>
            <a:pPr indent="0" marL="0">
              <a:buNone/>
            </a:pPr>
            <a:r>
              <a:rPr lang="en-US" sz="1500" dirty="0">
                <a:solidFill>
                  <a:srgbClr val="E6BFCA"/>
                </a:solidFill>
                <a:latin typeface="Calibri" pitchFamily="34" charset="0"/>
                <a:ea typeface="Calibri" pitchFamily="34" charset="-122"/>
                <a:cs typeface="Calibri" pitchFamily="34" charset="-120"/>
              </a:rPr>
              <a:t>Executive discussion  |  20 September 2026</a:t>
            </a:r>
            <a:endParaRPr lang="en-US" sz="1500" dirty="0"/>
          </a:p>
        </p:txBody>
      </p:sp>
      <p:sp>
        <p:nvSpPr>
          <p:cNvPr id="10" name="Text 8"/>
          <p:cNvSpPr/>
          <p:nvPr/>
        </p:nvSpPr>
        <p:spPr>
          <a:xfrm>
            <a:off x="8001000" y="914400"/>
            <a:ext cx="3566160" cy="676656"/>
          </a:xfrm>
          <a:prstGeom prst="rect">
            <a:avLst/>
          </a:prstGeom>
          <a:noFill/>
          <a:ln/>
        </p:spPr>
        <p:txBody>
          <a:bodyPr wrap="square" lIns="0" tIns="0" rIns="0" bIns="0" rtlCol="0" anchor="ctr"/>
          <a:lstStyle/>
          <a:p>
            <a:pPr indent="0" marL="0">
              <a:buNone/>
            </a:pPr>
            <a:r>
              <a:rPr lang="en-US" sz="5800" dirty="0">
                <a:solidFill>
                  <a:srgbClr val="FAF6EF"/>
                </a:solidFill>
                <a:latin typeface="Georgia" pitchFamily="34" charset="0"/>
                <a:ea typeface="Georgia" pitchFamily="34" charset="-122"/>
                <a:cs typeface="Georgia" pitchFamily="34" charset="-120"/>
              </a:rPr>
              <a:t>235</a:t>
            </a:r>
            <a:endParaRPr lang="en-US" sz="5800" dirty="0"/>
          </a:p>
        </p:txBody>
      </p:sp>
      <p:sp>
        <p:nvSpPr>
          <p:cNvPr id="11" name="Text 9"/>
          <p:cNvSpPr/>
          <p:nvPr/>
        </p:nvSpPr>
        <p:spPr>
          <a:xfrm>
            <a:off x="8001000" y="1728216"/>
            <a:ext cx="3611880" cy="320040"/>
          </a:xfrm>
          <a:prstGeom prst="rect">
            <a:avLst/>
          </a:prstGeom>
          <a:noFill/>
          <a:ln/>
        </p:spPr>
        <p:txBody>
          <a:bodyPr wrap="square" lIns="0" tIns="0" rIns="0" bIns="0" rtlCol="0" anchor="ctr"/>
          <a:lstStyle/>
          <a:p>
            <a:pPr indent="0" marL="0">
              <a:buNone/>
            </a:pPr>
            <a:r>
              <a:rPr lang="en-US" sz="1950" b="1" dirty="0">
                <a:solidFill>
                  <a:srgbClr val="FAF6EF"/>
                </a:solidFill>
                <a:latin typeface="Calibri" pitchFamily="34" charset="0"/>
                <a:ea typeface="Calibri" pitchFamily="34" charset="-122"/>
                <a:cs typeface="Calibri" pitchFamily="34" charset="-120"/>
              </a:rPr>
              <a:t>products assessed</a:t>
            </a:r>
            <a:endParaRPr lang="en-US" sz="1950" dirty="0"/>
          </a:p>
        </p:txBody>
      </p:sp>
      <p:sp>
        <p:nvSpPr>
          <p:cNvPr id="12" name="Text 10"/>
          <p:cNvSpPr/>
          <p:nvPr/>
        </p:nvSpPr>
        <p:spPr>
          <a:xfrm>
            <a:off x="8001000" y="2103120"/>
            <a:ext cx="3611880" cy="246888"/>
          </a:xfrm>
          <a:prstGeom prst="rect">
            <a:avLst/>
          </a:prstGeom>
          <a:noFill/>
          <a:ln/>
        </p:spPr>
        <p:txBody>
          <a:bodyPr wrap="square" lIns="0" tIns="0" rIns="0" bIns="0" rtlCol="0" anchor="ctr"/>
          <a:lstStyle/>
          <a:p>
            <a:pPr indent="0" marL="0">
              <a:buNone/>
            </a:pPr>
            <a:r>
              <a:rPr lang="en-US" sz="1480" dirty="0">
                <a:solidFill>
                  <a:srgbClr val="E6BFCA"/>
                </a:solidFill>
                <a:latin typeface="Calibri" pitchFamily="34" charset="0"/>
                <a:ea typeface="Calibri" pitchFamily="34" charset="-122"/>
                <a:cs typeface="Calibri" pitchFamily="34" charset="-120"/>
              </a:rPr>
              <a:t>Defined scope</a:t>
            </a:r>
            <a:endParaRPr lang="en-US" sz="1480" dirty="0"/>
          </a:p>
        </p:txBody>
      </p:sp>
      <p:sp>
        <p:nvSpPr>
          <p:cNvPr id="13" name="Text 11"/>
          <p:cNvSpPr/>
          <p:nvPr/>
        </p:nvSpPr>
        <p:spPr>
          <a:xfrm>
            <a:off x="8001000" y="2542032"/>
            <a:ext cx="3566160" cy="676656"/>
          </a:xfrm>
          <a:prstGeom prst="rect">
            <a:avLst/>
          </a:prstGeom>
          <a:noFill/>
          <a:ln/>
        </p:spPr>
        <p:txBody>
          <a:bodyPr wrap="square" lIns="0" tIns="0" rIns="0" bIns="0" rtlCol="0" anchor="ctr"/>
          <a:lstStyle/>
          <a:p>
            <a:pPr indent="0" marL="0">
              <a:buNone/>
            </a:pPr>
            <a:r>
              <a:rPr lang="en-US" sz="5800" dirty="0">
                <a:solidFill>
                  <a:srgbClr val="FAF6EF"/>
                </a:solidFill>
                <a:latin typeface="Georgia" pitchFamily="34" charset="0"/>
                <a:ea typeface="Georgia" pitchFamily="34" charset="-122"/>
                <a:cs typeface="Georgia" pitchFamily="34" charset="-120"/>
              </a:rPr>
              <a:t>134</a:t>
            </a:r>
            <a:endParaRPr lang="en-US" sz="5800" dirty="0"/>
          </a:p>
        </p:txBody>
      </p:sp>
      <p:sp>
        <p:nvSpPr>
          <p:cNvPr id="14" name="Text 12"/>
          <p:cNvSpPr/>
          <p:nvPr/>
        </p:nvSpPr>
        <p:spPr>
          <a:xfrm>
            <a:off x="8001000" y="3355848"/>
            <a:ext cx="3611880" cy="320040"/>
          </a:xfrm>
          <a:prstGeom prst="rect">
            <a:avLst/>
          </a:prstGeom>
          <a:noFill/>
          <a:ln/>
        </p:spPr>
        <p:txBody>
          <a:bodyPr wrap="square" lIns="0" tIns="0" rIns="0" bIns="0" rtlCol="0" anchor="ctr"/>
          <a:lstStyle/>
          <a:p>
            <a:pPr indent="0" marL="0">
              <a:buNone/>
            </a:pPr>
            <a:r>
              <a:rPr lang="en-US" sz="1950" b="1" dirty="0">
                <a:solidFill>
                  <a:srgbClr val="FAF6EF"/>
                </a:solidFill>
                <a:latin typeface="Calibri" pitchFamily="34" charset="0"/>
                <a:ea typeface="Calibri" pitchFamily="34" charset="-122"/>
                <a:cs typeface="Calibri" pitchFamily="34" charset="-120"/>
              </a:rPr>
              <a:t>rule-matched review items</a:t>
            </a:r>
            <a:endParaRPr lang="en-US" sz="1950" dirty="0"/>
          </a:p>
        </p:txBody>
      </p:sp>
      <p:sp>
        <p:nvSpPr>
          <p:cNvPr id="15" name="Text 13"/>
          <p:cNvSpPr/>
          <p:nvPr/>
        </p:nvSpPr>
        <p:spPr>
          <a:xfrm>
            <a:off x="8001000" y="3730752"/>
            <a:ext cx="3611880" cy="246888"/>
          </a:xfrm>
          <a:prstGeom prst="rect">
            <a:avLst/>
          </a:prstGeom>
          <a:noFill/>
          <a:ln/>
        </p:spPr>
        <p:txBody>
          <a:bodyPr wrap="square" lIns="0" tIns="0" rIns="0" bIns="0" rtlCol="0" anchor="ctr"/>
          <a:lstStyle/>
          <a:p>
            <a:pPr indent="0" marL="0">
              <a:buNone/>
            </a:pPr>
            <a:r>
              <a:rPr lang="en-US" sz="1480" dirty="0">
                <a:solidFill>
                  <a:srgbClr val="E6BFCA"/>
                </a:solidFill>
                <a:latin typeface="Calibri" pitchFamily="34" charset="0"/>
                <a:ea typeface="Calibri" pitchFamily="34" charset="-122"/>
                <a:cs typeface="Calibri" pitchFamily="34" charset="-120"/>
              </a:rPr>
              <a:t>Not proven problems</a:t>
            </a:r>
            <a:endParaRPr lang="en-US" sz="1480" dirty="0"/>
          </a:p>
        </p:txBody>
      </p:sp>
      <p:sp>
        <p:nvSpPr>
          <p:cNvPr id="16" name="Text 14"/>
          <p:cNvSpPr/>
          <p:nvPr/>
        </p:nvSpPr>
        <p:spPr>
          <a:xfrm>
            <a:off x="8001000" y="4169664"/>
            <a:ext cx="3566160" cy="676656"/>
          </a:xfrm>
          <a:prstGeom prst="rect">
            <a:avLst/>
          </a:prstGeom>
          <a:noFill/>
          <a:ln/>
        </p:spPr>
        <p:txBody>
          <a:bodyPr wrap="square" lIns="0" tIns="0" rIns="0" bIns="0" rtlCol="0" anchor="ctr"/>
          <a:lstStyle/>
          <a:p>
            <a:pPr indent="0" marL="0">
              <a:buNone/>
            </a:pPr>
            <a:r>
              <a:rPr lang="en-US" sz="5800" dirty="0">
                <a:solidFill>
                  <a:srgbClr val="FAF6EF"/>
                </a:solidFill>
                <a:latin typeface="Georgia" pitchFamily="34" charset="0"/>
                <a:ea typeface="Georgia" pitchFamily="34" charset="-122"/>
                <a:cs typeface="Georgia" pitchFamily="34" charset="-120"/>
              </a:rPr>
              <a:t>5</a:t>
            </a:r>
            <a:endParaRPr lang="en-US" sz="5800" dirty="0"/>
          </a:p>
        </p:txBody>
      </p:sp>
      <p:sp>
        <p:nvSpPr>
          <p:cNvPr id="17" name="Text 15"/>
          <p:cNvSpPr/>
          <p:nvPr/>
        </p:nvSpPr>
        <p:spPr>
          <a:xfrm>
            <a:off x="8001000" y="4983480"/>
            <a:ext cx="3611880" cy="320040"/>
          </a:xfrm>
          <a:prstGeom prst="rect">
            <a:avLst/>
          </a:prstGeom>
          <a:noFill/>
          <a:ln/>
        </p:spPr>
        <p:txBody>
          <a:bodyPr wrap="square" lIns="0" tIns="0" rIns="0" bIns="0" rtlCol="0" anchor="ctr"/>
          <a:lstStyle/>
          <a:p>
            <a:pPr indent="0" marL="0">
              <a:buNone/>
            </a:pPr>
            <a:r>
              <a:rPr lang="en-US" sz="1950" b="1" dirty="0">
                <a:solidFill>
                  <a:srgbClr val="FAF6EF"/>
                </a:solidFill>
                <a:latin typeface="Calibri" pitchFamily="34" charset="0"/>
                <a:ea typeface="Calibri" pitchFamily="34" charset="-122"/>
                <a:cs typeface="Calibri" pitchFamily="34" charset="-120"/>
              </a:rPr>
              <a:t>initial product decisions</a:t>
            </a:r>
            <a:endParaRPr lang="en-US" sz="1950" dirty="0"/>
          </a:p>
        </p:txBody>
      </p:sp>
      <p:sp>
        <p:nvSpPr>
          <p:cNvPr id="18" name="Text 16"/>
          <p:cNvSpPr/>
          <p:nvPr/>
        </p:nvSpPr>
        <p:spPr>
          <a:xfrm>
            <a:off x="8001000" y="5358384"/>
            <a:ext cx="3611880" cy="246888"/>
          </a:xfrm>
          <a:prstGeom prst="rect">
            <a:avLst/>
          </a:prstGeom>
          <a:noFill/>
          <a:ln/>
        </p:spPr>
        <p:txBody>
          <a:bodyPr wrap="square" lIns="0" tIns="0" rIns="0" bIns="0" rtlCol="0" anchor="ctr"/>
          <a:lstStyle/>
          <a:p>
            <a:pPr indent="0" marL="0">
              <a:buNone/>
            </a:pPr>
            <a:r>
              <a:rPr lang="en-US" sz="1480" dirty="0">
                <a:solidFill>
                  <a:srgbClr val="E6BFCA"/>
                </a:solidFill>
                <a:latin typeface="Calibri" pitchFamily="34" charset="0"/>
                <a:ea typeface="Calibri" pitchFamily="34" charset="-122"/>
                <a:cs typeface="Calibri" pitchFamily="34" charset="-120"/>
              </a:rPr>
              <a:t>Not an automatic rollout</a:t>
            </a:r>
            <a:endParaRPr lang="en-US" sz="14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6F6268"/>
                </a:solidFill>
                <a:latin typeface="Calibri" pitchFamily="34" charset="0"/>
                <a:ea typeface="Calibri" pitchFamily="34" charset="-122"/>
                <a:cs typeface="Calibri" pitchFamily="34" charset="-120"/>
              </a:rPr>
              <a:t>Executive synthesis · source: review.json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6F6268"/>
                </a:solidFill>
                <a:latin typeface="Calibri" pitchFamily="34" charset="0"/>
                <a:ea typeface="Calibri" pitchFamily="34" charset="-122"/>
                <a:cs typeface="Calibri" pitchFamily="34" charset="-120"/>
              </a:rPr>
              <a:t>02 / 10</a:t>
            </a:r>
            <a:endParaRPr lang="en-US" sz="1050" dirty="0"/>
          </a:p>
        </p:txBody>
      </p:sp>
      <p:sp>
        <p:nvSpPr>
          <p:cNvPr id="4" name="Text 2"/>
          <p:cNvSpPr/>
          <p:nvPr/>
        </p:nvSpPr>
        <p:spPr>
          <a:xfrm>
            <a:off x="502920" y="457200"/>
            <a:ext cx="9601200" cy="173736"/>
          </a:xfrm>
          <a:prstGeom prst="rect">
            <a:avLst/>
          </a:prstGeom>
          <a:noFill/>
          <a:ln/>
        </p:spPr>
        <p:txBody>
          <a:bodyPr wrap="square" lIns="0" tIns="0" rIns="0" bIns="0" rtlCol="0" anchor="ctr"/>
          <a:lstStyle/>
          <a:p>
            <a:pPr indent="0" marL="0">
              <a:buNone/>
            </a:pPr>
            <a:r>
              <a:rPr lang="en-US" sz="1050" b="1" spc="130" kern="0" dirty="0">
                <a:solidFill>
                  <a:srgbClr val="6D2E46"/>
                </a:solidFill>
                <a:latin typeface="Calibri" pitchFamily="34" charset="0"/>
                <a:ea typeface="Calibri" pitchFamily="34" charset="-122"/>
                <a:cs typeface="Calibri" pitchFamily="34" charset="-120"/>
              </a:rPr>
              <a:t>ZENBEAUTY RETAIL  /  CATEGORY REVIEW</a:t>
            </a:r>
            <a:endParaRPr lang="en-US" sz="1050" dirty="0"/>
          </a:p>
        </p:txBody>
      </p:sp>
      <p:sp>
        <p:nvSpPr>
          <p:cNvPr id="5" name="Text 3"/>
          <p:cNvSpPr/>
          <p:nvPr/>
        </p:nvSpPr>
        <p:spPr>
          <a:xfrm>
            <a:off x="502920" y="813816"/>
            <a:ext cx="11183112" cy="603504"/>
          </a:xfrm>
          <a:prstGeom prst="rect">
            <a:avLst/>
          </a:prstGeom>
          <a:noFill/>
          <a:ln/>
        </p:spPr>
        <p:txBody>
          <a:bodyPr wrap="square" lIns="0" tIns="0" rIns="0" bIns="0" rtlCol="0" anchor="ctr"/>
          <a:lstStyle/>
          <a:p>
            <a:pPr indent="0" marL="0">
              <a:buNone/>
            </a:pPr>
            <a:r>
              <a:rPr lang="en-US" sz="3200" b="1" dirty="0">
                <a:solidFill>
                  <a:srgbClr val="30282E"/>
                </a:solidFill>
                <a:latin typeface="Calibri" pitchFamily="34" charset="0"/>
                <a:ea typeface="Calibri" pitchFamily="34" charset="-122"/>
                <a:cs typeface="Calibri" pitchFamily="34" charset="-120"/>
              </a:rPr>
              <a:t>Approve a focused pilot—not a category-wide rollout</a:t>
            </a:r>
            <a:endParaRPr lang="en-US" sz="3200" dirty="0"/>
          </a:p>
        </p:txBody>
      </p:sp>
      <p:sp>
        <p:nvSpPr>
          <p:cNvPr id="6" name="Text 4"/>
          <p:cNvSpPr/>
          <p:nvPr/>
        </p:nvSpPr>
        <p:spPr>
          <a:xfrm>
            <a:off x="502920" y="1527048"/>
            <a:ext cx="11091672" cy="365760"/>
          </a:xfrm>
          <a:prstGeom prst="rect">
            <a:avLst/>
          </a:prstGeom>
          <a:noFill/>
          <a:ln/>
        </p:spPr>
        <p:txBody>
          <a:bodyPr wrap="square" lIns="0" tIns="0" rIns="0" bIns="0" rtlCol="0" anchor="ctr"/>
          <a:lstStyle/>
          <a:p>
            <a:pPr indent="0" marL="0">
              <a:buNone/>
            </a:pPr>
            <a:r>
              <a:rPr lang="en-US" sz="1750" dirty="0">
                <a:solidFill>
                  <a:srgbClr val="6F6268"/>
                </a:solidFill>
                <a:latin typeface="Calibri" pitchFamily="34" charset="0"/>
                <a:ea typeface="Calibri" pitchFamily="34" charset="-122"/>
                <a:cs typeface="Calibri" pitchFamily="34" charset="-120"/>
              </a:rPr>
              <a:t>Three conclusions for leadership; one bounded decision to take today.</a:t>
            </a:r>
            <a:endParaRPr lang="en-US" sz="1750" dirty="0"/>
          </a:p>
        </p:txBody>
      </p:sp>
      <p:sp>
        <p:nvSpPr>
          <p:cNvPr id="7" name="Text 5"/>
          <p:cNvSpPr/>
          <p:nvPr/>
        </p:nvSpPr>
        <p:spPr>
          <a:xfrm>
            <a:off x="1033272" y="2066544"/>
            <a:ext cx="5824728"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WHAT THE EVIDENCE SAYS</a:t>
            </a:r>
            <a:endParaRPr lang="en-US" sz="1180" dirty="0"/>
          </a:p>
        </p:txBody>
      </p:sp>
      <p:sp>
        <p:nvSpPr>
          <p:cNvPr id="8" name="Text 6"/>
          <p:cNvSpPr/>
          <p:nvPr/>
        </p:nvSpPr>
        <p:spPr>
          <a:xfrm>
            <a:off x="7562088" y="2066544"/>
            <a:ext cx="3849624"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MANAGEMENT IMPLICATION</a:t>
            </a:r>
            <a:endParaRPr lang="en-US" sz="1180" dirty="0"/>
          </a:p>
        </p:txBody>
      </p:sp>
      <p:sp>
        <p:nvSpPr>
          <p:cNvPr id="9" name="Shape 7"/>
          <p:cNvSpPr/>
          <p:nvPr/>
        </p:nvSpPr>
        <p:spPr>
          <a:xfrm>
            <a:off x="502920" y="2395728"/>
            <a:ext cx="11183112" cy="914400"/>
          </a:xfrm>
          <a:prstGeom prst="rect">
            <a:avLst/>
          </a:prstGeom>
          <a:solidFill>
            <a:srgbClr val="FFFDFA"/>
          </a:solidFill>
          <a:ln w="12700">
            <a:solidFill>
              <a:srgbClr val="FFFDFA">
                <a:alpha val="0"/>
              </a:srgbClr>
            </a:solidFill>
            <a:prstDash val="solid"/>
          </a:ln>
        </p:spPr>
      </p:sp>
      <p:sp>
        <p:nvSpPr>
          <p:cNvPr id="10" name="Shape 8"/>
          <p:cNvSpPr/>
          <p:nvPr/>
        </p:nvSpPr>
        <p:spPr>
          <a:xfrm>
            <a:off x="576072" y="2551176"/>
            <a:ext cx="310896" cy="310896"/>
          </a:xfrm>
          <a:prstGeom prst="ellipse">
            <a:avLst/>
          </a:prstGeom>
          <a:solidFill>
            <a:srgbClr val="6D2E46"/>
          </a:solidFill>
          <a:ln w="12700">
            <a:solidFill>
              <a:srgbClr val="6D2E46">
                <a:alpha val="0"/>
              </a:srgbClr>
            </a:solidFill>
            <a:prstDash val="solid"/>
          </a:ln>
        </p:spPr>
      </p:sp>
      <p:sp>
        <p:nvSpPr>
          <p:cNvPr id="11" name="Text 9"/>
          <p:cNvSpPr/>
          <p:nvPr/>
        </p:nvSpPr>
        <p:spPr>
          <a:xfrm>
            <a:off x="576072" y="2551176"/>
            <a:ext cx="310896" cy="310896"/>
          </a:xfrm>
          <a:prstGeom prst="rect">
            <a:avLst/>
          </a:prstGeom>
          <a:noFill/>
          <a:ln/>
        </p:spPr>
        <p:txBody>
          <a:bodyPr wrap="square" lIns="0" tIns="0" rIns="0" bIns="0" rtlCol="0" anchor="ctr"/>
          <a:lstStyle/>
          <a:p>
            <a:pPr algn="ctr" indent="0" marL="0">
              <a:buNone/>
            </a:pPr>
            <a:r>
              <a:rPr lang="en-US" sz="1700" b="1" dirty="0">
                <a:solidFill>
                  <a:srgbClr val="FFFDFA"/>
                </a:solidFill>
                <a:latin typeface="Calibri" pitchFamily="34" charset="0"/>
                <a:ea typeface="Calibri" pitchFamily="34" charset="-122"/>
                <a:cs typeface="Calibri" pitchFamily="34" charset="-120"/>
              </a:rPr>
              <a:t>1</a:t>
            </a:r>
            <a:endParaRPr lang="en-US" sz="1700" dirty="0"/>
          </a:p>
        </p:txBody>
      </p:sp>
      <p:sp>
        <p:nvSpPr>
          <p:cNvPr id="12" name="Text 10"/>
          <p:cNvSpPr/>
          <p:nvPr/>
        </p:nvSpPr>
        <p:spPr>
          <a:xfrm>
            <a:off x="1033272" y="2468880"/>
            <a:ext cx="6126480" cy="265176"/>
          </a:xfrm>
          <a:prstGeom prst="rect">
            <a:avLst/>
          </a:prstGeom>
          <a:noFill/>
          <a:ln/>
        </p:spPr>
        <p:txBody>
          <a:bodyPr wrap="square" lIns="0" tIns="0" rIns="0" bIns="0" rtlCol="0" anchor="ctr"/>
          <a:lstStyle/>
          <a:p>
            <a:pPr indent="0" marL="0">
              <a:buNone/>
            </a:pPr>
            <a:r>
              <a:rPr lang="en-US" sz="1940" b="1" dirty="0">
                <a:solidFill>
                  <a:srgbClr val="30282E"/>
                </a:solidFill>
                <a:latin typeface="Calibri" pitchFamily="34" charset="0"/>
                <a:ea typeface="Calibri" pitchFamily="34" charset="-122"/>
                <a:cs typeface="Calibri" pitchFamily="34" charset="-120"/>
              </a:rPr>
              <a:t>Validate operational prerequisites first</a:t>
            </a:r>
            <a:endParaRPr lang="en-US" sz="1940" dirty="0"/>
          </a:p>
        </p:txBody>
      </p:sp>
      <p:sp>
        <p:nvSpPr>
          <p:cNvPr id="13" name="Text 11"/>
          <p:cNvSpPr/>
          <p:nvPr/>
        </p:nvSpPr>
        <p:spPr>
          <a:xfrm>
            <a:off x="1033272" y="2816352"/>
            <a:ext cx="6126480" cy="429768"/>
          </a:xfrm>
          <a:prstGeom prst="rect">
            <a:avLst/>
          </a:prstGeom>
          <a:noFill/>
          <a:ln/>
        </p:spPr>
        <p:txBody>
          <a:bodyPr wrap="square" lIns="0" tIns="0" rIns="0" bIns="0" rtlCol="0" anchor="ctr"/>
          <a:lstStyle/>
          <a:p>
            <a:pPr indent="0" marL="0">
              <a:buNone/>
            </a:pPr>
            <a:r>
              <a:rPr lang="en-US" sz="1580" dirty="0">
                <a:solidFill>
                  <a:srgbClr val="6F6268"/>
                </a:solidFill>
                <a:latin typeface="Calibri" pitchFamily="34" charset="0"/>
                <a:ea typeface="Calibri" pitchFamily="34" charset="-122"/>
                <a:cs typeface="Calibri" pitchFamily="34" charset="-120"/>
              </a:rPr>
              <a:t>33 stock flags: 9 out of stock, 24 low stock.</a:t>
            </a:r>
            <a:endParaRPr lang="en-US" sz="1580" dirty="0"/>
          </a:p>
          <a:p>
            <a:pPr indent="0" marL="0">
              <a:buNone/>
            </a:pPr>
            <a:r>
              <a:rPr lang="en-US" sz="1580" dirty="0">
                <a:solidFill>
                  <a:srgbClr val="6F6268"/>
                </a:solidFill>
                <a:latin typeface="Calibri" pitchFamily="34" charset="0"/>
                <a:ea typeface="Calibri" pitchFamily="34" charset="-122"/>
                <a:cs typeface="Calibri" pitchFamily="34" charset="-120"/>
              </a:rPr>
              <a:t>2 in-stock products have zero-sales signals.</a:t>
            </a:r>
            <a:endParaRPr lang="en-US" sz="1580" dirty="0"/>
          </a:p>
        </p:txBody>
      </p:sp>
      <p:sp>
        <p:nvSpPr>
          <p:cNvPr id="14" name="Text 12"/>
          <p:cNvSpPr/>
          <p:nvPr/>
        </p:nvSpPr>
        <p:spPr>
          <a:xfrm>
            <a:off x="7562088" y="2569464"/>
            <a:ext cx="3858768" cy="603504"/>
          </a:xfrm>
          <a:prstGeom prst="rect">
            <a:avLst/>
          </a:prstGeom>
          <a:noFill/>
          <a:ln/>
        </p:spPr>
        <p:txBody>
          <a:bodyPr wrap="square" lIns="0" tIns="0" rIns="0" bIns="0" rtlCol="0" anchor="ctr"/>
          <a:lstStyle/>
          <a:p>
            <a:pPr indent="0" marL="0">
              <a:buNone/>
            </a:pPr>
            <a:r>
              <a:rPr lang="en-US" sz="1750" dirty="0">
                <a:solidFill>
                  <a:srgbClr val="502737"/>
                </a:solidFill>
                <a:latin typeface="Calibri" pitchFamily="34" charset="0"/>
                <a:ea typeface="Calibri" pitchFamily="34" charset="-122"/>
                <a:cs typeface="Calibri" pitchFamily="34" charset="-120"/>
              </a:rPr>
              <a:t>Check supply, listings and feeds</a:t>
            </a:r>
            <a:endParaRPr lang="en-US" sz="1750" dirty="0"/>
          </a:p>
          <a:p>
            <a:pPr indent="0" marL="0">
              <a:buNone/>
            </a:pPr>
            <a:r>
              <a:rPr lang="en-US" sz="1750" dirty="0">
                <a:solidFill>
                  <a:srgbClr val="502737"/>
                </a:solidFill>
                <a:latin typeface="Calibri" pitchFamily="34" charset="0"/>
                <a:ea typeface="Calibri" pitchFamily="34" charset="-122"/>
                <a:cs typeface="Calibri" pitchFamily="34" charset="-120"/>
              </a:rPr>
              <a:t>before promotional spend.</a:t>
            </a:r>
            <a:endParaRPr lang="en-US" sz="1750" dirty="0"/>
          </a:p>
        </p:txBody>
      </p:sp>
      <p:sp>
        <p:nvSpPr>
          <p:cNvPr id="15" name="Shape 13"/>
          <p:cNvSpPr/>
          <p:nvPr/>
        </p:nvSpPr>
        <p:spPr>
          <a:xfrm>
            <a:off x="576072" y="3483864"/>
            <a:ext cx="310896" cy="310896"/>
          </a:xfrm>
          <a:prstGeom prst="ellipse">
            <a:avLst/>
          </a:prstGeom>
          <a:solidFill>
            <a:srgbClr val="6D2E46"/>
          </a:solidFill>
          <a:ln w="12700">
            <a:solidFill>
              <a:srgbClr val="6D2E46">
                <a:alpha val="0"/>
              </a:srgbClr>
            </a:solidFill>
            <a:prstDash val="solid"/>
          </a:ln>
        </p:spPr>
      </p:sp>
      <p:sp>
        <p:nvSpPr>
          <p:cNvPr id="16" name="Text 14"/>
          <p:cNvSpPr/>
          <p:nvPr/>
        </p:nvSpPr>
        <p:spPr>
          <a:xfrm>
            <a:off x="576072" y="3483864"/>
            <a:ext cx="310896" cy="310896"/>
          </a:xfrm>
          <a:prstGeom prst="rect">
            <a:avLst/>
          </a:prstGeom>
          <a:noFill/>
          <a:ln/>
        </p:spPr>
        <p:txBody>
          <a:bodyPr wrap="square" lIns="0" tIns="0" rIns="0" bIns="0" rtlCol="0" anchor="ctr"/>
          <a:lstStyle/>
          <a:p>
            <a:pPr algn="ctr" indent="0" marL="0">
              <a:buNone/>
            </a:pPr>
            <a:r>
              <a:rPr lang="en-US" sz="1700" b="1" dirty="0">
                <a:solidFill>
                  <a:srgbClr val="FFFDFA"/>
                </a:solidFill>
                <a:latin typeface="Calibri" pitchFamily="34" charset="0"/>
                <a:ea typeface="Calibri" pitchFamily="34" charset="-122"/>
                <a:cs typeface="Calibri" pitchFamily="34" charset="-120"/>
              </a:rPr>
              <a:t>2</a:t>
            </a:r>
            <a:endParaRPr lang="en-US" sz="1700" dirty="0"/>
          </a:p>
        </p:txBody>
      </p:sp>
      <p:sp>
        <p:nvSpPr>
          <p:cNvPr id="17" name="Text 15"/>
          <p:cNvSpPr/>
          <p:nvPr/>
        </p:nvSpPr>
        <p:spPr>
          <a:xfrm>
            <a:off x="1033272" y="3401568"/>
            <a:ext cx="6126480" cy="265176"/>
          </a:xfrm>
          <a:prstGeom prst="rect">
            <a:avLst/>
          </a:prstGeom>
          <a:noFill/>
          <a:ln/>
        </p:spPr>
        <p:txBody>
          <a:bodyPr wrap="square" lIns="0" tIns="0" rIns="0" bIns="0" rtlCol="0" anchor="ctr"/>
          <a:lstStyle/>
          <a:p>
            <a:pPr indent="0" marL="0">
              <a:buNone/>
            </a:pPr>
            <a:r>
              <a:rPr lang="en-US" sz="1940" b="1" dirty="0">
                <a:solidFill>
                  <a:srgbClr val="30282E"/>
                </a:solidFill>
                <a:latin typeface="Calibri" pitchFamily="34" charset="0"/>
                <a:ea typeface="Calibri" pitchFamily="34" charset="-122"/>
                <a:cs typeface="Calibri" pitchFamily="34" charset="-120"/>
              </a:rPr>
              <a:t>Reassess range decisions; do not automate them</a:t>
            </a:r>
            <a:endParaRPr lang="en-US" sz="1940" dirty="0"/>
          </a:p>
        </p:txBody>
      </p:sp>
      <p:sp>
        <p:nvSpPr>
          <p:cNvPr id="18" name="Text 16"/>
          <p:cNvSpPr/>
          <p:nvPr/>
        </p:nvSpPr>
        <p:spPr>
          <a:xfrm>
            <a:off x="1033272" y="3749040"/>
            <a:ext cx="6126480" cy="429768"/>
          </a:xfrm>
          <a:prstGeom prst="rect">
            <a:avLst/>
          </a:prstGeom>
          <a:noFill/>
          <a:ln/>
        </p:spPr>
        <p:txBody>
          <a:bodyPr wrap="square" lIns="0" tIns="0" rIns="0" bIns="0" rtlCol="0" anchor="ctr"/>
          <a:lstStyle/>
          <a:p>
            <a:pPr indent="0" marL="0">
              <a:buNone/>
            </a:pPr>
            <a:r>
              <a:rPr lang="en-US" sz="1580" dirty="0">
                <a:solidFill>
                  <a:srgbClr val="6F6268"/>
                </a:solidFill>
                <a:latin typeface="Calibri" pitchFamily="34" charset="0"/>
                <a:ea typeface="Calibri" pitchFamily="34" charset="-122"/>
                <a:cs typeface="Calibri" pitchFamily="34" charset="-120"/>
              </a:rPr>
              <a:t>19 inactive products have growing market proxies.</a:t>
            </a:r>
            <a:endParaRPr lang="en-US" sz="1580" dirty="0"/>
          </a:p>
          <a:p>
            <a:pPr indent="0" marL="0">
              <a:buNone/>
            </a:pPr>
            <a:r>
              <a:rPr lang="en-US" sz="1580" dirty="0">
                <a:solidFill>
                  <a:srgbClr val="6F6268"/>
                </a:solidFill>
                <a:latin typeface="Calibri" pitchFamily="34" charset="0"/>
                <a:ea typeface="Calibri" pitchFamily="34" charset="-122"/>
                <a:cs typeface="Calibri" pitchFamily="34" charset="-120"/>
              </a:rPr>
              <a:t>The reasons for inactivity are not supplied.</a:t>
            </a:r>
            <a:endParaRPr lang="en-US" sz="1580" dirty="0"/>
          </a:p>
        </p:txBody>
      </p:sp>
      <p:sp>
        <p:nvSpPr>
          <p:cNvPr id="19" name="Text 17"/>
          <p:cNvSpPr/>
          <p:nvPr/>
        </p:nvSpPr>
        <p:spPr>
          <a:xfrm>
            <a:off x="7562088" y="3502152"/>
            <a:ext cx="3858768" cy="603504"/>
          </a:xfrm>
          <a:prstGeom prst="rect">
            <a:avLst/>
          </a:prstGeom>
          <a:noFill/>
          <a:ln/>
        </p:spPr>
        <p:txBody>
          <a:bodyPr wrap="square" lIns="0" tIns="0" rIns="0" bIns="0" rtlCol="0" anchor="ctr"/>
          <a:lstStyle/>
          <a:p>
            <a:pPr indent="0" marL="0">
              <a:buNone/>
            </a:pPr>
            <a:r>
              <a:rPr lang="en-US" sz="1750" dirty="0">
                <a:solidFill>
                  <a:srgbClr val="502737"/>
                </a:solidFill>
                <a:latin typeface="Calibri" pitchFamily="34" charset="0"/>
                <a:ea typeface="Calibri" pitchFamily="34" charset="-122"/>
                <a:cs typeface="Calibri" pitchFamily="34" charset="-120"/>
              </a:rPr>
              <a:t>Confirm the reason for inactivity</a:t>
            </a:r>
            <a:endParaRPr lang="en-US" sz="1750" dirty="0"/>
          </a:p>
          <a:p>
            <a:pPr indent="0" marL="0">
              <a:buNone/>
            </a:pPr>
            <a:r>
              <a:rPr lang="en-US" sz="1750" dirty="0">
                <a:solidFill>
                  <a:srgbClr val="502737"/>
                </a:solidFill>
                <a:latin typeface="Calibri" pitchFamily="34" charset="0"/>
                <a:ea typeface="Calibri" pitchFamily="34" charset="-122"/>
                <a:cs typeface="Calibri" pitchFamily="34" charset="-120"/>
              </a:rPr>
              <a:t>before changing the range.</a:t>
            </a:r>
            <a:endParaRPr lang="en-US" sz="1750" dirty="0"/>
          </a:p>
        </p:txBody>
      </p:sp>
      <p:sp>
        <p:nvSpPr>
          <p:cNvPr id="20" name="Shape 18"/>
          <p:cNvSpPr/>
          <p:nvPr/>
        </p:nvSpPr>
        <p:spPr>
          <a:xfrm>
            <a:off x="502920" y="4261104"/>
            <a:ext cx="11183112" cy="914400"/>
          </a:xfrm>
          <a:prstGeom prst="rect">
            <a:avLst/>
          </a:prstGeom>
          <a:solidFill>
            <a:srgbClr val="FFFDFA"/>
          </a:solidFill>
          <a:ln w="12700">
            <a:solidFill>
              <a:srgbClr val="FFFDFA">
                <a:alpha val="0"/>
              </a:srgbClr>
            </a:solidFill>
            <a:prstDash val="solid"/>
          </a:ln>
        </p:spPr>
      </p:sp>
      <p:sp>
        <p:nvSpPr>
          <p:cNvPr id="21" name="Shape 19"/>
          <p:cNvSpPr/>
          <p:nvPr/>
        </p:nvSpPr>
        <p:spPr>
          <a:xfrm>
            <a:off x="576072" y="4416552"/>
            <a:ext cx="310896" cy="310896"/>
          </a:xfrm>
          <a:prstGeom prst="ellipse">
            <a:avLst/>
          </a:prstGeom>
          <a:solidFill>
            <a:srgbClr val="6D2E46"/>
          </a:solidFill>
          <a:ln w="12700">
            <a:solidFill>
              <a:srgbClr val="6D2E46">
                <a:alpha val="0"/>
              </a:srgbClr>
            </a:solidFill>
            <a:prstDash val="solid"/>
          </a:ln>
        </p:spPr>
      </p:sp>
      <p:sp>
        <p:nvSpPr>
          <p:cNvPr id="22" name="Text 20"/>
          <p:cNvSpPr/>
          <p:nvPr/>
        </p:nvSpPr>
        <p:spPr>
          <a:xfrm>
            <a:off x="576072" y="4416552"/>
            <a:ext cx="310896" cy="310896"/>
          </a:xfrm>
          <a:prstGeom prst="rect">
            <a:avLst/>
          </a:prstGeom>
          <a:noFill/>
          <a:ln/>
        </p:spPr>
        <p:txBody>
          <a:bodyPr wrap="square" lIns="0" tIns="0" rIns="0" bIns="0" rtlCol="0" anchor="ctr"/>
          <a:lstStyle/>
          <a:p>
            <a:pPr algn="ctr" indent="0" marL="0">
              <a:buNone/>
            </a:pPr>
            <a:r>
              <a:rPr lang="en-US" sz="1700" b="1" dirty="0">
                <a:solidFill>
                  <a:srgbClr val="FFFDFA"/>
                </a:solidFill>
                <a:latin typeface="Calibri" pitchFamily="34" charset="0"/>
                <a:ea typeface="Calibri" pitchFamily="34" charset="-122"/>
                <a:cs typeface="Calibri" pitchFamily="34" charset="-120"/>
              </a:rPr>
              <a:t>3</a:t>
            </a:r>
            <a:endParaRPr lang="en-US" sz="1700" dirty="0"/>
          </a:p>
        </p:txBody>
      </p:sp>
      <p:sp>
        <p:nvSpPr>
          <p:cNvPr id="23" name="Text 21"/>
          <p:cNvSpPr/>
          <p:nvPr/>
        </p:nvSpPr>
        <p:spPr>
          <a:xfrm>
            <a:off x="1033272" y="4334256"/>
            <a:ext cx="6126480" cy="265176"/>
          </a:xfrm>
          <a:prstGeom prst="rect">
            <a:avLst/>
          </a:prstGeom>
          <a:noFill/>
          <a:ln/>
        </p:spPr>
        <p:txBody>
          <a:bodyPr wrap="square" lIns="0" tIns="0" rIns="0" bIns="0" rtlCol="0" anchor="ctr"/>
          <a:lstStyle/>
          <a:p>
            <a:pPr indent="0" marL="0">
              <a:buNone/>
            </a:pPr>
            <a:r>
              <a:rPr lang="en-US" sz="1940" b="1" dirty="0">
                <a:solidFill>
                  <a:srgbClr val="30282E"/>
                </a:solidFill>
                <a:latin typeface="Calibri" pitchFamily="34" charset="0"/>
                <a:ea typeface="Calibri" pitchFamily="34" charset="-122"/>
                <a:cs typeface="Calibri" pitchFamily="34" charset="-120"/>
              </a:rPr>
              <a:t>Treat modeled value as a test hypothesis</a:t>
            </a:r>
            <a:endParaRPr lang="en-US" sz="1940" dirty="0"/>
          </a:p>
        </p:txBody>
      </p:sp>
      <p:sp>
        <p:nvSpPr>
          <p:cNvPr id="24" name="Text 22"/>
          <p:cNvSpPr/>
          <p:nvPr/>
        </p:nvSpPr>
        <p:spPr>
          <a:xfrm>
            <a:off x="1033272" y="4681728"/>
            <a:ext cx="6126480" cy="429768"/>
          </a:xfrm>
          <a:prstGeom prst="rect">
            <a:avLst/>
          </a:prstGeom>
          <a:noFill/>
          <a:ln/>
        </p:spPr>
        <p:txBody>
          <a:bodyPr wrap="square" lIns="0" tIns="0" rIns="0" bIns="0" rtlCol="0" anchor="ctr"/>
          <a:lstStyle/>
          <a:p>
            <a:pPr indent="0" marL="0">
              <a:buNone/>
            </a:pPr>
            <a:r>
              <a:rPr lang="en-US" sz="1580" dirty="0">
                <a:solidFill>
                  <a:srgbClr val="6F6268"/>
                </a:solidFill>
                <a:latin typeface="Calibri" pitchFamily="34" charset="0"/>
                <a:ea typeface="Calibri" pitchFamily="34" charset="-122"/>
                <a:cs typeface="Calibri" pitchFamily="34" charset="-120"/>
              </a:rPr>
              <a:t>Peer benchmarks provide scenarios—not forecasts.</a:t>
            </a:r>
            <a:endParaRPr lang="en-US" sz="1580" dirty="0"/>
          </a:p>
          <a:p>
            <a:pPr indent="0" marL="0">
              <a:buNone/>
            </a:pPr>
            <a:r>
              <a:rPr lang="en-US" sz="1580" dirty="0">
                <a:solidFill>
                  <a:srgbClr val="6F6268"/>
                </a:solidFill>
                <a:latin typeface="Calibri" pitchFamily="34" charset="0"/>
                <a:ea typeface="Calibri" pitchFamily="34" charset="-122"/>
                <a:cs typeface="Calibri" pitchFamily="34" charset="-120"/>
              </a:rPr>
              <a:t>No realised uplift, ROI or time saving is measured.</a:t>
            </a:r>
            <a:endParaRPr lang="en-US" sz="1580" dirty="0"/>
          </a:p>
        </p:txBody>
      </p:sp>
      <p:sp>
        <p:nvSpPr>
          <p:cNvPr id="25" name="Text 23"/>
          <p:cNvSpPr/>
          <p:nvPr/>
        </p:nvSpPr>
        <p:spPr>
          <a:xfrm>
            <a:off x="7562088" y="4434840"/>
            <a:ext cx="3858768" cy="603504"/>
          </a:xfrm>
          <a:prstGeom prst="rect">
            <a:avLst/>
          </a:prstGeom>
          <a:noFill/>
          <a:ln/>
        </p:spPr>
        <p:txBody>
          <a:bodyPr wrap="square" lIns="0" tIns="0" rIns="0" bIns="0" rtlCol="0" anchor="ctr"/>
          <a:lstStyle/>
          <a:p>
            <a:pPr indent="0" marL="0">
              <a:buNone/>
            </a:pPr>
            <a:r>
              <a:rPr lang="en-US" sz="1750" dirty="0">
                <a:solidFill>
                  <a:srgbClr val="502737"/>
                </a:solidFill>
                <a:latin typeface="Calibri" pitchFamily="34" charset="0"/>
                <a:ea typeface="Calibri" pitchFamily="34" charset="-122"/>
                <a:cs typeface="Calibri" pitchFamily="34" charset="-120"/>
              </a:rPr>
              <a:t>Agree a baseline and test economics;</a:t>
            </a:r>
            <a:endParaRPr lang="en-US" sz="1750" dirty="0"/>
          </a:p>
          <a:p>
            <a:pPr indent="0" marL="0">
              <a:buNone/>
            </a:pPr>
            <a:r>
              <a:rPr lang="en-US" sz="1750" dirty="0">
                <a:solidFill>
                  <a:srgbClr val="502737"/>
                </a:solidFill>
                <a:latin typeface="Calibri" pitchFamily="34" charset="0"/>
                <a:ea typeface="Calibri" pitchFamily="34" charset="-122"/>
                <a:cs typeface="Calibri" pitchFamily="34" charset="-120"/>
              </a:rPr>
              <a:t>expand only after observed results.</a:t>
            </a:r>
            <a:endParaRPr lang="en-US" sz="1750" dirty="0"/>
          </a:p>
        </p:txBody>
      </p:sp>
      <p:sp>
        <p:nvSpPr>
          <p:cNvPr id="26" name="Shape 24"/>
          <p:cNvSpPr/>
          <p:nvPr/>
        </p:nvSpPr>
        <p:spPr>
          <a:xfrm>
            <a:off x="502920" y="5614416"/>
            <a:ext cx="11183112" cy="420624"/>
          </a:xfrm>
          <a:prstGeom prst="rect">
            <a:avLst/>
          </a:prstGeom>
          <a:solidFill>
            <a:srgbClr val="F0DFE3"/>
          </a:solidFill>
          <a:ln w="12700">
            <a:solidFill>
              <a:srgbClr val="F0DFE3">
                <a:alpha val="0"/>
              </a:srgbClr>
            </a:solidFill>
            <a:prstDash val="solid"/>
          </a:ln>
        </p:spPr>
      </p:sp>
      <p:sp>
        <p:nvSpPr>
          <p:cNvPr id="27" name="Text 25"/>
          <p:cNvSpPr/>
          <p:nvPr/>
        </p:nvSpPr>
        <p:spPr>
          <a:xfrm>
            <a:off x="667512" y="5705856"/>
            <a:ext cx="10853928" cy="228600"/>
          </a:xfrm>
          <a:prstGeom prst="rect">
            <a:avLst/>
          </a:prstGeom>
          <a:noFill/>
          <a:ln/>
        </p:spPr>
        <p:txBody>
          <a:bodyPr wrap="square" lIns="0" tIns="0" rIns="0" bIns="0" rtlCol="0" anchor="ctr"/>
          <a:lstStyle/>
          <a:p>
            <a:pPr indent="0" marL="0">
              <a:buNone/>
            </a:pPr>
            <a:r>
              <a:rPr lang="en-US" sz="1540" b="1" dirty="0">
                <a:solidFill>
                  <a:srgbClr val="502737"/>
                </a:solidFill>
                <a:latin typeface="Calibri" pitchFamily="34" charset="0"/>
                <a:ea typeface="Calibri" pitchFamily="34" charset="-122"/>
                <a:cs typeface="Calibri" pitchFamily="34" charset="-120"/>
              </a:rPr>
              <a:t>Decision requested: endorse the five checks, name accountable owners and agree pilot success criteria.</a:t>
            </a:r>
            <a:endParaRPr lang="en-US" sz="15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6F6268"/>
                </a:solidFill>
                <a:latin typeface="Calibri" pitchFamily="34" charset="0"/>
                <a:ea typeface="Calibri" pitchFamily="34" charset="-122"/>
                <a:cs typeface="Calibri" pitchFamily="34" charset="-120"/>
              </a:rPr>
              <a:t>Source: review.json · mutually exclusive primary-action groups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6F6268"/>
                </a:solidFill>
                <a:latin typeface="Calibri" pitchFamily="34" charset="0"/>
                <a:ea typeface="Calibri" pitchFamily="34" charset="-122"/>
                <a:cs typeface="Calibri" pitchFamily="34" charset="-120"/>
              </a:rPr>
              <a:t>03 / 10</a:t>
            </a:r>
            <a:endParaRPr lang="en-US" sz="1050" dirty="0"/>
          </a:p>
        </p:txBody>
      </p:sp>
      <p:sp>
        <p:nvSpPr>
          <p:cNvPr id="4" name="Text 2"/>
          <p:cNvSpPr/>
          <p:nvPr/>
        </p:nvSpPr>
        <p:spPr>
          <a:xfrm>
            <a:off x="502920" y="457200"/>
            <a:ext cx="9601200" cy="173736"/>
          </a:xfrm>
          <a:prstGeom prst="rect">
            <a:avLst/>
          </a:prstGeom>
          <a:noFill/>
          <a:ln/>
        </p:spPr>
        <p:txBody>
          <a:bodyPr wrap="square" lIns="0" tIns="0" rIns="0" bIns="0" rtlCol="0" anchor="ctr"/>
          <a:lstStyle/>
          <a:p>
            <a:pPr indent="0" marL="0">
              <a:buNone/>
            </a:pPr>
            <a:r>
              <a:rPr lang="en-US" sz="1050" b="1" spc="130" kern="0" dirty="0">
                <a:solidFill>
                  <a:srgbClr val="6D2E46"/>
                </a:solidFill>
                <a:latin typeface="Calibri" pitchFamily="34" charset="0"/>
                <a:ea typeface="Calibri" pitchFamily="34" charset="-122"/>
                <a:cs typeface="Calibri" pitchFamily="34" charset="-120"/>
              </a:rPr>
              <a:t>ZENBEAUTY RETAIL  /  CATEGORY REVIEW</a:t>
            </a:r>
            <a:endParaRPr lang="en-US" sz="1050" dirty="0"/>
          </a:p>
        </p:txBody>
      </p:sp>
      <p:sp>
        <p:nvSpPr>
          <p:cNvPr id="5" name="Text 3"/>
          <p:cNvSpPr/>
          <p:nvPr/>
        </p:nvSpPr>
        <p:spPr>
          <a:xfrm>
            <a:off x="502920" y="813816"/>
            <a:ext cx="11183112" cy="603504"/>
          </a:xfrm>
          <a:prstGeom prst="rect">
            <a:avLst/>
          </a:prstGeom>
          <a:noFill/>
          <a:ln/>
        </p:spPr>
        <p:txBody>
          <a:bodyPr wrap="square" lIns="0" tIns="0" rIns="0" bIns="0" rtlCol="0" anchor="ctr"/>
          <a:lstStyle/>
          <a:p>
            <a:pPr indent="0" marL="0">
              <a:buNone/>
            </a:pPr>
            <a:r>
              <a:rPr lang="en-US" sz="3200" b="1" dirty="0">
                <a:solidFill>
                  <a:srgbClr val="30282E"/>
                </a:solidFill>
                <a:latin typeface="Calibri" pitchFamily="34" charset="0"/>
                <a:ea typeface="Calibri" pitchFamily="34" charset="-122"/>
                <a:cs typeface="Calibri" pitchFamily="34" charset="-120"/>
              </a:rPr>
              <a:t>134 flagged products require three distinct responses</a:t>
            </a:r>
            <a:endParaRPr lang="en-US" sz="3200" dirty="0"/>
          </a:p>
        </p:txBody>
      </p:sp>
      <p:sp>
        <p:nvSpPr>
          <p:cNvPr id="6" name="Text 4"/>
          <p:cNvSpPr/>
          <p:nvPr/>
        </p:nvSpPr>
        <p:spPr>
          <a:xfrm>
            <a:off x="502920" y="1527048"/>
            <a:ext cx="11091672" cy="365760"/>
          </a:xfrm>
          <a:prstGeom prst="rect">
            <a:avLst/>
          </a:prstGeom>
          <a:noFill/>
          <a:ln/>
        </p:spPr>
        <p:txBody>
          <a:bodyPr wrap="square" lIns="0" tIns="0" rIns="0" bIns="0" rtlCol="0" anchor="ctr"/>
          <a:lstStyle/>
          <a:p>
            <a:pPr indent="0" marL="0">
              <a:buNone/>
            </a:pPr>
            <a:r>
              <a:rPr lang="en-US" sz="1750" dirty="0">
                <a:solidFill>
                  <a:srgbClr val="6F6268"/>
                </a:solidFill>
                <a:latin typeface="Calibri" pitchFamily="34" charset="0"/>
                <a:ea typeface="Calibri" pitchFamily="34" charset="-122"/>
                <a:cs typeface="Calibri" pitchFamily="34" charset="-120"/>
              </a:rPr>
              <a:t>The complete primary-action queue—grouped by the type of management decision required.</a:t>
            </a:r>
            <a:endParaRPr lang="en-US" sz="1750" dirty="0"/>
          </a:p>
        </p:txBody>
      </p:sp>
      <p:sp>
        <p:nvSpPr>
          <p:cNvPr id="7" name="Text 5"/>
          <p:cNvSpPr/>
          <p:nvPr/>
        </p:nvSpPr>
        <p:spPr>
          <a:xfrm>
            <a:off x="502920" y="2039112"/>
            <a:ext cx="5989320"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RESPONSE / CASES</a:t>
            </a:r>
            <a:endParaRPr lang="en-US" sz="1180" dirty="0"/>
          </a:p>
        </p:txBody>
      </p:sp>
      <p:sp>
        <p:nvSpPr>
          <p:cNvPr id="8" name="Text 6"/>
          <p:cNvSpPr/>
          <p:nvPr/>
        </p:nvSpPr>
        <p:spPr>
          <a:xfrm>
            <a:off x="7452360" y="2039112"/>
            <a:ext cx="4160520"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WHAT THIS MEANS</a:t>
            </a:r>
            <a:endParaRPr lang="en-US" sz="1180" dirty="0"/>
          </a:p>
        </p:txBody>
      </p:sp>
      <p:sp>
        <p:nvSpPr>
          <p:cNvPr id="9" name="Text 7"/>
          <p:cNvSpPr/>
          <p:nvPr/>
        </p:nvSpPr>
        <p:spPr>
          <a:xfrm>
            <a:off x="502920" y="2441448"/>
            <a:ext cx="2907792" cy="292608"/>
          </a:xfrm>
          <a:prstGeom prst="rect">
            <a:avLst/>
          </a:prstGeom>
          <a:noFill/>
          <a:ln/>
        </p:spPr>
        <p:txBody>
          <a:bodyPr wrap="square" lIns="0" tIns="0" rIns="0" bIns="0" rtlCol="0" anchor="ctr"/>
          <a:lstStyle/>
          <a:p>
            <a:pPr indent="0" marL="0">
              <a:buNone/>
            </a:pPr>
            <a:r>
              <a:rPr lang="en-US" sz="1880" b="1" dirty="0">
                <a:solidFill>
                  <a:srgbClr val="30282E"/>
                </a:solidFill>
                <a:latin typeface="Calibri" pitchFamily="34" charset="0"/>
                <a:ea typeface="Calibri" pitchFamily="34" charset="-122"/>
                <a:cs typeface="Calibri" pitchFamily="34" charset="-120"/>
              </a:rPr>
              <a:t>Operational validation</a:t>
            </a:r>
            <a:endParaRPr lang="en-US" sz="1880" dirty="0"/>
          </a:p>
        </p:txBody>
      </p:sp>
      <p:sp>
        <p:nvSpPr>
          <p:cNvPr id="10" name="Shape 8"/>
          <p:cNvSpPr/>
          <p:nvPr/>
        </p:nvSpPr>
        <p:spPr>
          <a:xfrm>
            <a:off x="3621024" y="2478024"/>
            <a:ext cx="2907792" cy="219456"/>
          </a:xfrm>
          <a:prstGeom prst="rect">
            <a:avLst/>
          </a:prstGeom>
          <a:solidFill>
            <a:srgbClr val="E4DAD4"/>
          </a:solidFill>
          <a:ln w="12700">
            <a:solidFill>
              <a:srgbClr val="E4DAD4">
                <a:alpha val="0"/>
              </a:srgbClr>
            </a:solidFill>
            <a:prstDash val="solid"/>
          </a:ln>
        </p:spPr>
      </p:sp>
      <p:sp>
        <p:nvSpPr>
          <p:cNvPr id="11" name="Shape 9"/>
          <p:cNvSpPr/>
          <p:nvPr/>
        </p:nvSpPr>
        <p:spPr>
          <a:xfrm>
            <a:off x="3621024" y="2478024"/>
            <a:ext cx="1995544" cy="219456"/>
          </a:xfrm>
          <a:prstGeom prst="rect">
            <a:avLst/>
          </a:prstGeom>
          <a:solidFill>
            <a:srgbClr val="6D2E46"/>
          </a:solidFill>
          <a:ln w="12700">
            <a:solidFill>
              <a:srgbClr val="6D2E46">
                <a:alpha val="0"/>
              </a:srgbClr>
            </a:solidFill>
            <a:prstDash val="solid"/>
          </a:ln>
        </p:spPr>
      </p:sp>
      <p:sp>
        <p:nvSpPr>
          <p:cNvPr id="12" name="Text 10"/>
          <p:cNvSpPr/>
          <p:nvPr/>
        </p:nvSpPr>
        <p:spPr>
          <a:xfrm>
            <a:off x="6647688" y="2427732"/>
            <a:ext cx="539496" cy="329184"/>
          </a:xfrm>
          <a:prstGeom prst="rect">
            <a:avLst/>
          </a:prstGeom>
          <a:noFill/>
          <a:ln/>
        </p:spPr>
        <p:txBody>
          <a:bodyPr wrap="square" lIns="0" tIns="0" rIns="0" bIns="0" rtlCol="0" anchor="ctr"/>
          <a:lstStyle/>
          <a:p>
            <a:pPr indent="0" marL="0">
              <a:buNone/>
            </a:pPr>
            <a:r>
              <a:rPr lang="en-US" sz="2500" b="1" dirty="0">
                <a:solidFill>
                  <a:srgbClr val="6D2E46"/>
                </a:solidFill>
                <a:latin typeface="Calibri" pitchFamily="34" charset="0"/>
                <a:ea typeface="Calibri" pitchFamily="34" charset="-122"/>
                <a:cs typeface="Calibri" pitchFamily="34" charset="-120"/>
              </a:rPr>
              <a:t>35</a:t>
            </a:r>
            <a:endParaRPr lang="en-US" sz="2500" dirty="0"/>
          </a:p>
        </p:txBody>
      </p:sp>
      <p:sp>
        <p:nvSpPr>
          <p:cNvPr id="13" name="Text 11"/>
          <p:cNvSpPr/>
          <p:nvPr/>
        </p:nvSpPr>
        <p:spPr>
          <a:xfrm>
            <a:off x="502920" y="2825496"/>
            <a:ext cx="6537960" cy="429768"/>
          </a:xfrm>
          <a:prstGeom prst="rect">
            <a:avLst/>
          </a:prstGeom>
          <a:noFill/>
          <a:ln/>
        </p:spPr>
        <p:txBody>
          <a:bodyPr wrap="square" lIns="0" tIns="0" rIns="0" bIns="0" rtlCol="0" anchor="ctr"/>
          <a:lstStyle/>
          <a:p>
            <a:pPr indent="0" marL="0">
              <a:buNone/>
            </a:pPr>
            <a:r>
              <a:rPr lang="en-US" sz="1510" dirty="0">
                <a:solidFill>
                  <a:srgbClr val="6F6268"/>
                </a:solidFill>
                <a:latin typeface="Calibri" pitchFamily="34" charset="0"/>
                <a:ea typeface="Calibri" pitchFamily="34" charset="-122"/>
                <a:cs typeface="Calibri" pitchFamily="34" charset="-120"/>
              </a:rPr>
              <a:t>33 availability + 2 zero-sales checks</a:t>
            </a:r>
            <a:endParaRPr lang="en-US" sz="1510" dirty="0"/>
          </a:p>
        </p:txBody>
      </p:sp>
      <p:sp>
        <p:nvSpPr>
          <p:cNvPr id="14" name="Text 12"/>
          <p:cNvSpPr/>
          <p:nvPr/>
        </p:nvSpPr>
        <p:spPr>
          <a:xfrm>
            <a:off x="7452360" y="2459736"/>
            <a:ext cx="4178808" cy="676656"/>
          </a:xfrm>
          <a:prstGeom prst="rect">
            <a:avLst/>
          </a:prstGeom>
          <a:noFill/>
          <a:ln/>
        </p:spPr>
        <p:txBody>
          <a:bodyPr wrap="square" lIns="0" tIns="0" rIns="0" bIns="0" rtlCol="0" anchor="ctr"/>
          <a:lstStyle/>
          <a:p>
            <a:pPr indent="0" marL="0">
              <a:buNone/>
            </a:pPr>
            <a:r>
              <a:rPr lang="en-US" sz="1900" dirty="0">
                <a:solidFill>
                  <a:srgbClr val="502737"/>
                </a:solidFill>
                <a:latin typeface="Calibri" pitchFamily="34" charset="0"/>
                <a:ea typeface="Calibri" pitchFamily="34" charset="-122"/>
                <a:cs typeface="Calibri" pitchFamily="34" charset="-120"/>
              </a:rPr>
              <a:t>Diagnose the issue before spending</a:t>
            </a:r>
            <a:endParaRPr lang="en-US" sz="1900" dirty="0"/>
          </a:p>
        </p:txBody>
      </p:sp>
      <p:sp>
        <p:nvSpPr>
          <p:cNvPr id="15" name="Text 13"/>
          <p:cNvSpPr/>
          <p:nvPr/>
        </p:nvSpPr>
        <p:spPr>
          <a:xfrm>
            <a:off x="502920" y="3374136"/>
            <a:ext cx="2907792" cy="292608"/>
          </a:xfrm>
          <a:prstGeom prst="rect">
            <a:avLst/>
          </a:prstGeom>
          <a:noFill/>
          <a:ln/>
        </p:spPr>
        <p:txBody>
          <a:bodyPr wrap="square" lIns="0" tIns="0" rIns="0" bIns="0" rtlCol="0" anchor="ctr"/>
          <a:lstStyle/>
          <a:p>
            <a:pPr indent="0" marL="0">
              <a:buNone/>
            </a:pPr>
            <a:r>
              <a:rPr lang="en-US" sz="1880" b="1" dirty="0">
                <a:solidFill>
                  <a:srgbClr val="30282E"/>
                </a:solidFill>
                <a:latin typeface="Calibri" pitchFamily="34" charset="0"/>
                <a:ea typeface="Calibri" pitchFamily="34" charset="-122"/>
                <a:cs typeface="Calibri" pitchFamily="34" charset="-120"/>
              </a:rPr>
              <a:t>Range decisions</a:t>
            </a:r>
            <a:endParaRPr lang="en-US" sz="1880" dirty="0"/>
          </a:p>
        </p:txBody>
      </p:sp>
      <p:sp>
        <p:nvSpPr>
          <p:cNvPr id="16" name="Shape 14"/>
          <p:cNvSpPr/>
          <p:nvPr/>
        </p:nvSpPr>
        <p:spPr>
          <a:xfrm>
            <a:off x="3621024" y="3410712"/>
            <a:ext cx="2907792" cy="219456"/>
          </a:xfrm>
          <a:prstGeom prst="rect">
            <a:avLst/>
          </a:prstGeom>
          <a:solidFill>
            <a:srgbClr val="E4DAD4"/>
          </a:solidFill>
          <a:ln w="12700">
            <a:solidFill>
              <a:srgbClr val="E4DAD4">
                <a:alpha val="0"/>
              </a:srgbClr>
            </a:solidFill>
            <a:prstDash val="solid"/>
          </a:ln>
        </p:spPr>
      </p:sp>
      <p:sp>
        <p:nvSpPr>
          <p:cNvPr id="17" name="Shape 15"/>
          <p:cNvSpPr/>
          <p:nvPr/>
        </p:nvSpPr>
        <p:spPr>
          <a:xfrm>
            <a:off x="3621024" y="3410712"/>
            <a:ext cx="2736745" cy="219456"/>
          </a:xfrm>
          <a:prstGeom prst="rect">
            <a:avLst/>
          </a:prstGeom>
          <a:solidFill>
            <a:srgbClr val="BD8192"/>
          </a:solidFill>
          <a:ln w="12700">
            <a:solidFill>
              <a:srgbClr val="BD8192">
                <a:alpha val="0"/>
              </a:srgbClr>
            </a:solidFill>
            <a:prstDash val="solid"/>
          </a:ln>
        </p:spPr>
      </p:sp>
      <p:sp>
        <p:nvSpPr>
          <p:cNvPr id="18" name="Text 16"/>
          <p:cNvSpPr/>
          <p:nvPr/>
        </p:nvSpPr>
        <p:spPr>
          <a:xfrm>
            <a:off x="6647688" y="3360420"/>
            <a:ext cx="539496" cy="329184"/>
          </a:xfrm>
          <a:prstGeom prst="rect">
            <a:avLst/>
          </a:prstGeom>
          <a:noFill/>
          <a:ln/>
        </p:spPr>
        <p:txBody>
          <a:bodyPr wrap="square" lIns="0" tIns="0" rIns="0" bIns="0" rtlCol="0" anchor="ctr"/>
          <a:lstStyle/>
          <a:p>
            <a:pPr indent="0" marL="0">
              <a:buNone/>
            </a:pPr>
            <a:r>
              <a:rPr lang="en-US" sz="2500" b="1" dirty="0">
                <a:solidFill>
                  <a:srgbClr val="6D2E46"/>
                </a:solidFill>
                <a:latin typeface="Calibri" pitchFamily="34" charset="0"/>
                <a:ea typeface="Calibri" pitchFamily="34" charset="-122"/>
                <a:cs typeface="Calibri" pitchFamily="34" charset="-120"/>
              </a:rPr>
              <a:t>48</a:t>
            </a:r>
            <a:endParaRPr lang="en-US" sz="2500" dirty="0"/>
          </a:p>
        </p:txBody>
      </p:sp>
      <p:sp>
        <p:nvSpPr>
          <p:cNvPr id="19" name="Text 17"/>
          <p:cNvSpPr/>
          <p:nvPr/>
        </p:nvSpPr>
        <p:spPr>
          <a:xfrm>
            <a:off x="502920" y="3758184"/>
            <a:ext cx="6537960" cy="429768"/>
          </a:xfrm>
          <a:prstGeom prst="rect">
            <a:avLst/>
          </a:prstGeom>
          <a:noFill/>
          <a:ln/>
        </p:spPr>
        <p:txBody>
          <a:bodyPr wrap="square" lIns="0" tIns="0" rIns="0" bIns="0" rtlCol="0" anchor="ctr"/>
          <a:lstStyle/>
          <a:p>
            <a:pPr indent="0" marL="0">
              <a:buNone/>
            </a:pPr>
            <a:r>
              <a:rPr lang="en-US" sz="1510" dirty="0">
                <a:solidFill>
                  <a:srgbClr val="6F6268"/>
                </a:solidFill>
                <a:latin typeface="Calibri" pitchFamily="34" charset="0"/>
                <a:ea typeface="Calibri" pitchFamily="34" charset="-122"/>
                <a:cs typeface="Calibri" pitchFamily="34" charset="-120"/>
              </a:rPr>
              <a:t>19 reactivation + 19 exit confirmation</a:t>
            </a:r>
            <a:endParaRPr lang="en-US" sz="1510" dirty="0"/>
          </a:p>
          <a:p>
            <a:pPr indent="0" marL="0">
              <a:buNone/>
            </a:pPr>
            <a:r>
              <a:rPr lang="en-US" sz="1510" dirty="0">
                <a:solidFill>
                  <a:srgbClr val="6F6268"/>
                </a:solidFill>
                <a:latin typeface="Calibri" pitchFamily="34" charset="0"/>
                <a:ea typeface="Calibri" pitchFamily="34" charset="-122"/>
                <a:cs typeface="Calibri" pitchFamily="34" charset="-120"/>
              </a:rPr>
              <a:t>+ 7 range / markdown + 3 seasonal reviews</a:t>
            </a:r>
            <a:endParaRPr lang="en-US" sz="1510" dirty="0"/>
          </a:p>
        </p:txBody>
      </p:sp>
      <p:sp>
        <p:nvSpPr>
          <p:cNvPr id="20" name="Text 18"/>
          <p:cNvSpPr/>
          <p:nvPr/>
        </p:nvSpPr>
        <p:spPr>
          <a:xfrm>
            <a:off x="7452360" y="3392424"/>
            <a:ext cx="4178808" cy="676656"/>
          </a:xfrm>
          <a:prstGeom prst="rect">
            <a:avLst/>
          </a:prstGeom>
          <a:noFill/>
          <a:ln/>
        </p:spPr>
        <p:txBody>
          <a:bodyPr wrap="square" lIns="0" tIns="0" rIns="0" bIns="0" rtlCol="0" anchor="ctr"/>
          <a:lstStyle/>
          <a:p>
            <a:pPr indent="0" marL="0">
              <a:buNone/>
            </a:pPr>
            <a:r>
              <a:rPr lang="en-US" sz="1900" dirty="0">
                <a:solidFill>
                  <a:srgbClr val="502737"/>
                </a:solidFill>
                <a:latin typeface="Calibri" pitchFamily="34" charset="0"/>
                <a:ea typeface="Calibri" pitchFamily="34" charset="-122"/>
                <a:cs typeface="Calibri" pitchFamily="34" charset="-120"/>
              </a:rPr>
              <a:t>Validate product role before changing the range</a:t>
            </a:r>
            <a:endParaRPr lang="en-US" sz="1900" dirty="0"/>
          </a:p>
        </p:txBody>
      </p:sp>
      <p:sp>
        <p:nvSpPr>
          <p:cNvPr id="21" name="Text 19"/>
          <p:cNvSpPr/>
          <p:nvPr/>
        </p:nvSpPr>
        <p:spPr>
          <a:xfrm>
            <a:off x="502920" y="4306824"/>
            <a:ext cx="2907792" cy="292608"/>
          </a:xfrm>
          <a:prstGeom prst="rect">
            <a:avLst/>
          </a:prstGeom>
          <a:noFill/>
          <a:ln/>
        </p:spPr>
        <p:txBody>
          <a:bodyPr wrap="square" lIns="0" tIns="0" rIns="0" bIns="0" rtlCol="0" anchor="ctr"/>
          <a:lstStyle/>
          <a:p>
            <a:pPr indent="0" marL="0">
              <a:buNone/>
            </a:pPr>
            <a:r>
              <a:rPr lang="en-US" sz="1880" b="1" dirty="0">
                <a:solidFill>
                  <a:srgbClr val="30282E"/>
                </a:solidFill>
                <a:latin typeface="Calibri" pitchFamily="34" charset="0"/>
                <a:ea typeface="Calibri" pitchFamily="34" charset="-122"/>
                <a:cs typeface="Calibri" pitchFamily="34" charset="-120"/>
              </a:rPr>
              <a:t>Commercial review / testing</a:t>
            </a:r>
            <a:endParaRPr lang="en-US" sz="1880" dirty="0"/>
          </a:p>
        </p:txBody>
      </p:sp>
      <p:sp>
        <p:nvSpPr>
          <p:cNvPr id="22" name="Shape 20"/>
          <p:cNvSpPr/>
          <p:nvPr/>
        </p:nvSpPr>
        <p:spPr>
          <a:xfrm>
            <a:off x="3621024" y="4343400"/>
            <a:ext cx="2907792" cy="219456"/>
          </a:xfrm>
          <a:prstGeom prst="rect">
            <a:avLst/>
          </a:prstGeom>
          <a:solidFill>
            <a:srgbClr val="E4DAD4"/>
          </a:solidFill>
          <a:ln w="12700">
            <a:solidFill>
              <a:srgbClr val="E4DAD4">
                <a:alpha val="0"/>
              </a:srgbClr>
            </a:solidFill>
            <a:prstDash val="solid"/>
          </a:ln>
        </p:spPr>
      </p:sp>
      <p:sp>
        <p:nvSpPr>
          <p:cNvPr id="23" name="Shape 21"/>
          <p:cNvSpPr/>
          <p:nvPr/>
        </p:nvSpPr>
        <p:spPr>
          <a:xfrm>
            <a:off x="3621024" y="4343400"/>
            <a:ext cx="2907792" cy="219456"/>
          </a:xfrm>
          <a:prstGeom prst="rect">
            <a:avLst/>
          </a:prstGeom>
          <a:solidFill>
            <a:srgbClr val="502737"/>
          </a:solidFill>
          <a:ln w="12700">
            <a:solidFill>
              <a:srgbClr val="502737">
                <a:alpha val="0"/>
              </a:srgbClr>
            </a:solidFill>
            <a:prstDash val="solid"/>
          </a:ln>
        </p:spPr>
      </p:sp>
      <p:sp>
        <p:nvSpPr>
          <p:cNvPr id="24" name="Text 22"/>
          <p:cNvSpPr/>
          <p:nvPr/>
        </p:nvSpPr>
        <p:spPr>
          <a:xfrm>
            <a:off x="6647688" y="4293108"/>
            <a:ext cx="539496" cy="329184"/>
          </a:xfrm>
          <a:prstGeom prst="rect">
            <a:avLst/>
          </a:prstGeom>
          <a:noFill/>
          <a:ln/>
        </p:spPr>
        <p:txBody>
          <a:bodyPr wrap="square" lIns="0" tIns="0" rIns="0" bIns="0" rtlCol="0" anchor="ctr"/>
          <a:lstStyle/>
          <a:p>
            <a:pPr indent="0" marL="0">
              <a:buNone/>
            </a:pPr>
            <a:r>
              <a:rPr lang="en-US" sz="2500" b="1" dirty="0">
                <a:solidFill>
                  <a:srgbClr val="6D2E46"/>
                </a:solidFill>
                <a:latin typeface="Calibri" pitchFamily="34" charset="0"/>
                <a:ea typeface="Calibri" pitchFamily="34" charset="-122"/>
                <a:cs typeface="Calibri" pitchFamily="34" charset="-120"/>
              </a:rPr>
              <a:t>51</a:t>
            </a:r>
            <a:endParaRPr lang="en-US" sz="2500" dirty="0"/>
          </a:p>
        </p:txBody>
      </p:sp>
      <p:sp>
        <p:nvSpPr>
          <p:cNvPr id="25" name="Text 23"/>
          <p:cNvSpPr/>
          <p:nvPr/>
        </p:nvSpPr>
        <p:spPr>
          <a:xfrm>
            <a:off x="502920" y="4690872"/>
            <a:ext cx="6537960" cy="429768"/>
          </a:xfrm>
          <a:prstGeom prst="rect">
            <a:avLst/>
          </a:prstGeom>
          <a:noFill/>
          <a:ln/>
        </p:spPr>
        <p:txBody>
          <a:bodyPr wrap="square" lIns="0" tIns="0" rIns="0" bIns="0" rtlCol="0" anchor="ctr"/>
          <a:lstStyle/>
          <a:p>
            <a:pPr indent="0" marL="0">
              <a:buNone/>
            </a:pPr>
            <a:r>
              <a:rPr lang="en-US" sz="1510" dirty="0">
                <a:solidFill>
                  <a:srgbClr val="6F6268"/>
                </a:solidFill>
                <a:latin typeface="Calibri" pitchFamily="34" charset="0"/>
                <a:ea typeface="Calibri" pitchFamily="34" charset="-122"/>
                <a:cs typeface="Calibri" pitchFamily="34" charset="-120"/>
              </a:rPr>
              <a:t>23 price comparisons + 17 promotion tests</a:t>
            </a:r>
            <a:endParaRPr lang="en-US" sz="1510" dirty="0"/>
          </a:p>
          <a:p>
            <a:pPr indent="0" marL="0">
              <a:buNone/>
            </a:pPr>
            <a:r>
              <a:rPr lang="en-US" sz="1510" dirty="0">
                <a:solidFill>
                  <a:srgbClr val="6F6268"/>
                </a:solidFill>
                <a:latin typeface="Calibri" pitchFamily="34" charset="0"/>
                <a:ea typeface="Calibri" pitchFamily="34" charset="-122"/>
                <a:cs typeface="Calibri" pitchFamily="34" charset="-120"/>
              </a:rPr>
              <a:t>+ 11 margin reviews</a:t>
            </a:r>
            <a:endParaRPr lang="en-US" sz="1510" dirty="0"/>
          </a:p>
        </p:txBody>
      </p:sp>
      <p:sp>
        <p:nvSpPr>
          <p:cNvPr id="26" name="Text 24"/>
          <p:cNvSpPr/>
          <p:nvPr/>
        </p:nvSpPr>
        <p:spPr>
          <a:xfrm>
            <a:off x="7452360" y="4325112"/>
            <a:ext cx="4178808" cy="676656"/>
          </a:xfrm>
          <a:prstGeom prst="rect">
            <a:avLst/>
          </a:prstGeom>
          <a:noFill/>
          <a:ln/>
        </p:spPr>
        <p:txBody>
          <a:bodyPr wrap="square" lIns="0" tIns="0" rIns="0" bIns="0" rtlCol="0" anchor="ctr"/>
          <a:lstStyle/>
          <a:p>
            <a:pPr indent="0" marL="0">
              <a:buNone/>
            </a:pPr>
            <a:r>
              <a:rPr lang="en-US" sz="1900" dirty="0">
                <a:solidFill>
                  <a:srgbClr val="502737"/>
                </a:solidFill>
                <a:latin typeface="Calibri" pitchFamily="34" charset="0"/>
                <a:ea typeface="Calibri" pitchFamily="34" charset="-122"/>
                <a:cs typeface="Calibri" pitchFamily="34" charset="-120"/>
              </a:rPr>
              <a:t>Validate economics before a controlled test</a:t>
            </a:r>
            <a:endParaRPr lang="en-US" sz="1900" dirty="0"/>
          </a:p>
        </p:txBody>
      </p:sp>
      <p:sp>
        <p:nvSpPr>
          <p:cNvPr id="27" name="Text 25"/>
          <p:cNvSpPr/>
          <p:nvPr/>
        </p:nvSpPr>
        <p:spPr>
          <a:xfrm>
            <a:off x="502920" y="5330952"/>
            <a:ext cx="11064240" cy="228600"/>
          </a:xfrm>
          <a:prstGeom prst="rect">
            <a:avLst/>
          </a:prstGeom>
          <a:noFill/>
          <a:ln/>
        </p:spPr>
        <p:txBody>
          <a:bodyPr wrap="square" lIns="0" tIns="0" rIns="0" bIns="0" rtlCol="0" anchor="ctr"/>
          <a:lstStyle/>
          <a:p>
            <a:pPr indent="0" marL="0">
              <a:buNone/>
            </a:pPr>
            <a:r>
              <a:rPr lang="en-US" sz="1480" dirty="0">
                <a:solidFill>
                  <a:srgbClr val="6F6268"/>
                </a:solidFill>
                <a:latin typeface="Calibri" pitchFamily="34" charset="0"/>
                <a:ea typeface="Calibri" pitchFamily="34" charset="-122"/>
                <a:cs typeface="Calibri" pitchFamily="34" charset="-120"/>
              </a:rPr>
              <a:t>101 of 235 products matched no rule—not a validation of product health.</a:t>
            </a:r>
            <a:endParaRPr lang="en-US" sz="1480" dirty="0"/>
          </a:p>
        </p:txBody>
      </p:sp>
      <p:sp>
        <p:nvSpPr>
          <p:cNvPr id="28" name="Shape 26"/>
          <p:cNvSpPr/>
          <p:nvPr/>
        </p:nvSpPr>
        <p:spPr>
          <a:xfrm>
            <a:off x="502920" y="5614416"/>
            <a:ext cx="11183112" cy="420624"/>
          </a:xfrm>
          <a:prstGeom prst="rect">
            <a:avLst/>
          </a:prstGeom>
          <a:solidFill>
            <a:srgbClr val="F0DFE3"/>
          </a:solidFill>
          <a:ln w="12700">
            <a:solidFill>
              <a:srgbClr val="F0DFE3">
                <a:alpha val="0"/>
              </a:srgbClr>
            </a:solidFill>
            <a:prstDash val="solid"/>
          </a:ln>
        </p:spPr>
      </p:sp>
      <p:sp>
        <p:nvSpPr>
          <p:cNvPr id="29" name="Text 27"/>
          <p:cNvSpPr/>
          <p:nvPr/>
        </p:nvSpPr>
        <p:spPr>
          <a:xfrm>
            <a:off x="667512" y="5705856"/>
            <a:ext cx="10853928" cy="228600"/>
          </a:xfrm>
          <a:prstGeom prst="rect">
            <a:avLst/>
          </a:prstGeom>
          <a:noFill/>
          <a:ln/>
        </p:spPr>
        <p:txBody>
          <a:bodyPr wrap="square" lIns="0" tIns="0" rIns="0" bIns="0" rtlCol="0" anchor="ctr"/>
          <a:lstStyle/>
          <a:p>
            <a:pPr indent="0" marL="0">
              <a:buNone/>
            </a:pPr>
            <a:r>
              <a:rPr lang="en-US" sz="1540" b="1" dirty="0">
                <a:solidFill>
                  <a:srgbClr val="502737"/>
                </a:solidFill>
                <a:latin typeface="Calibri" pitchFamily="34" charset="0"/>
                <a:ea typeface="Calibri" pitchFamily="34" charset="-122"/>
                <a:cs typeface="Calibri" pitchFamily="34" charset="-120"/>
              </a:rPr>
              <a:t>18 assortment follow-up cells are a separate analysis—not additional SKU cases.</a:t>
            </a:r>
            <a:endParaRPr lang="en-US" sz="15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6F6268"/>
                </a:solidFill>
                <a:latin typeface="Calibri" pitchFamily="34" charset="0"/>
                <a:ea typeface="Calibri" pitchFamily="34" charset="-122"/>
                <a:cs typeface="Calibri" pitchFamily="34" charset="-120"/>
              </a:rPr>
              <a:t>Source: review.json · selected decisions, owners and raw source IDs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6F6268"/>
                </a:solidFill>
                <a:latin typeface="Calibri" pitchFamily="34" charset="0"/>
                <a:ea typeface="Calibri" pitchFamily="34" charset="-122"/>
                <a:cs typeface="Calibri" pitchFamily="34" charset="-120"/>
              </a:rPr>
              <a:t>04 / 10</a:t>
            </a:r>
            <a:endParaRPr lang="en-US" sz="1050" dirty="0"/>
          </a:p>
        </p:txBody>
      </p:sp>
      <p:sp>
        <p:nvSpPr>
          <p:cNvPr id="4" name="Text 2"/>
          <p:cNvSpPr/>
          <p:nvPr/>
        </p:nvSpPr>
        <p:spPr>
          <a:xfrm>
            <a:off x="502920" y="457200"/>
            <a:ext cx="9601200" cy="173736"/>
          </a:xfrm>
          <a:prstGeom prst="rect">
            <a:avLst/>
          </a:prstGeom>
          <a:noFill/>
          <a:ln/>
        </p:spPr>
        <p:txBody>
          <a:bodyPr wrap="square" lIns="0" tIns="0" rIns="0" bIns="0" rtlCol="0" anchor="ctr"/>
          <a:lstStyle/>
          <a:p>
            <a:pPr indent="0" marL="0">
              <a:buNone/>
            </a:pPr>
            <a:r>
              <a:rPr lang="en-US" sz="1050" b="1" spc="130" kern="0" dirty="0">
                <a:solidFill>
                  <a:srgbClr val="6D2E46"/>
                </a:solidFill>
                <a:latin typeface="Calibri" pitchFamily="34" charset="0"/>
                <a:ea typeface="Calibri" pitchFamily="34" charset="-122"/>
                <a:cs typeface="Calibri" pitchFamily="34" charset="-120"/>
              </a:rPr>
              <a:t>ZENBEAUTY RETAIL  /  CATEGORY REVIEW</a:t>
            </a:r>
            <a:endParaRPr lang="en-US" sz="1050" dirty="0"/>
          </a:p>
        </p:txBody>
      </p:sp>
      <p:sp>
        <p:nvSpPr>
          <p:cNvPr id="5" name="Text 3"/>
          <p:cNvSpPr/>
          <p:nvPr/>
        </p:nvSpPr>
        <p:spPr>
          <a:xfrm>
            <a:off x="502920" y="813816"/>
            <a:ext cx="11183112" cy="603504"/>
          </a:xfrm>
          <a:prstGeom prst="rect">
            <a:avLst/>
          </a:prstGeom>
          <a:noFill/>
          <a:ln/>
        </p:spPr>
        <p:txBody>
          <a:bodyPr wrap="square" lIns="0" tIns="0" rIns="0" bIns="0" rtlCol="0" anchor="ctr"/>
          <a:lstStyle/>
          <a:p>
            <a:pPr indent="0" marL="0">
              <a:buNone/>
            </a:pPr>
            <a:r>
              <a:rPr lang="en-US" sz="3200" b="1" dirty="0">
                <a:solidFill>
                  <a:srgbClr val="30282E"/>
                </a:solidFill>
                <a:latin typeface="Calibri" pitchFamily="34" charset="0"/>
                <a:ea typeface="Calibri" pitchFamily="34" charset="-122"/>
                <a:cs typeface="Calibri" pitchFamily="34" charset="-120"/>
              </a:rPr>
              <a:t>Assign these five checks before changing spend or range</a:t>
            </a:r>
            <a:endParaRPr lang="en-US" sz="3200" dirty="0"/>
          </a:p>
        </p:txBody>
      </p:sp>
      <p:sp>
        <p:nvSpPr>
          <p:cNvPr id="6" name="Text 4"/>
          <p:cNvSpPr/>
          <p:nvPr/>
        </p:nvSpPr>
        <p:spPr>
          <a:xfrm>
            <a:off x="502920" y="1527048"/>
            <a:ext cx="11091672" cy="365760"/>
          </a:xfrm>
          <a:prstGeom prst="rect">
            <a:avLst/>
          </a:prstGeom>
          <a:noFill/>
          <a:ln/>
        </p:spPr>
        <p:txBody>
          <a:bodyPr wrap="square" lIns="0" tIns="0" rIns="0" bIns="0" rtlCol="0" anchor="ctr"/>
          <a:lstStyle/>
          <a:p>
            <a:pPr indent="0" marL="0">
              <a:buNone/>
            </a:pPr>
            <a:r>
              <a:rPr lang="en-US" sz="1750" dirty="0">
                <a:solidFill>
                  <a:srgbClr val="6F6268"/>
                </a:solidFill>
                <a:latin typeface="Calibri" pitchFamily="34" charset="0"/>
                <a:ea typeface="Calibri" pitchFamily="34" charset="-122"/>
                <a:cs typeface="Calibri" pitchFamily="34" charset="-120"/>
              </a:rPr>
              <a:t>Selected for review order and breadth—not to maximise the modeled financial total.</a:t>
            </a:r>
            <a:endParaRPr lang="en-US" sz="1750" dirty="0"/>
          </a:p>
        </p:txBody>
      </p:sp>
      <p:sp>
        <p:nvSpPr>
          <p:cNvPr id="7" name="Text 5"/>
          <p:cNvSpPr/>
          <p:nvPr/>
        </p:nvSpPr>
        <p:spPr>
          <a:xfrm>
            <a:off x="694944" y="1892808"/>
            <a:ext cx="3017520"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PRODUCT / RECORD</a:t>
            </a:r>
            <a:endParaRPr lang="en-US" sz="1180" dirty="0"/>
          </a:p>
        </p:txBody>
      </p:sp>
      <p:sp>
        <p:nvSpPr>
          <p:cNvPr id="8" name="Text 6"/>
          <p:cNvSpPr/>
          <p:nvPr/>
        </p:nvSpPr>
        <p:spPr>
          <a:xfrm>
            <a:off x="3840480" y="1892808"/>
            <a:ext cx="3886200"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WHY THIS DECISION</a:t>
            </a:r>
            <a:endParaRPr lang="en-US" sz="1180" dirty="0"/>
          </a:p>
        </p:txBody>
      </p:sp>
      <p:sp>
        <p:nvSpPr>
          <p:cNvPr id="9" name="Text 7"/>
          <p:cNvSpPr/>
          <p:nvPr/>
        </p:nvSpPr>
        <p:spPr>
          <a:xfrm>
            <a:off x="7973568" y="1892808"/>
            <a:ext cx="3511296"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NEXT CHECK / PROPOSED OWNER</a:t>
            </a:r>
            <a:endParaRPr lang="en-US" sz="1180" dirty="0"/>
          </a:p>
        </p:txBody>
      </p:sp>
      <p:sp>
        <p:nvSpPr>
          <p:cNvPr id="10" name="Shape 8"/>
          <p:cNvSpPr/>
          <p:nvPr/>
        </p:nvSpPr>
        <p:spPr>
          <a:xfrm>
            <a:off x="502920" y="2286000"/>
            <a:ext cx="11183112" cy="630936"/>
          </a:xfrm>
          <a:prstGeom prst="rect">
            <a:avLst/>
          </a:prstGeom>
          <a:solidFill>
            <a:srgbClr val="FFFDFA"/>
          </a:solidFill>
          <a:ln w="12700">
            <a:solidFill>
              <a:srgbClr val="FFFDFA">
                <a:alpha val="0"/>
              </a:srgbClr>
            </a:solidFill>
            <a:prstDash val="solid"/>
          </a:ln>
        </p:spPr>
      </p:sp>
      <p:sp>
        <p:nvSpPr>
          <p:cNvPr id="11" name="Text 9"/>
          <p:cNvSpPr/>
          <p:nvPr/>
        </p:nvSpPr>
        <p:spPr>
          <a:xfrm>
            <a:off x="694944" y="2350008"/>
            <a:ext cx="2953512" cy="256032"/>
          </a:xfrm>
          <a:prstGeom prst="rect">
            <a:avLst/>
          </a:prstGeom>
          <a:noFill/>
          <a:ln/>
        </p:spPr>
        <p:txBody>
          <a:bodyPr wrap="square" lIns="0" tIns="0" rIns="0" bIns="0" rtlCol="0" anchor="ctr"/>
          <a:lstStyle/>
          <a:p>
            <a:pPr indent="0" marL="0">
              <a:buNone/>
            </a:pPr>
            <a:r>
              <a:rPr lang="en-US" sz="1560" b="1" dirty="0">
                <a:solidFill>
                  <a:srgbClr val="30282E"/>
                </a:solidFill>
                <a:latin typeface="Calibri" pitchFamily="34" charset="0"/>
                <a:ea typeface="Calibri" pitchFamily="34" charset="-122"/>
                <a:cs typeface="Calibri" pitchFamily="34" charset="-120"/>
              </a:rPr>
              <a:t>Wella Blondor · Light Blonde</a:t>
            </a:r>
            <a:endParaRPr lang="en-US" sz="1560" dirty="0"/>
          </a:p>
        </p:txBody>
      </p:sp>
      <p:sp>
        <p:nvSpPr>
          <p:cNvPr id="12" name="Text 10"/>
          <p:cNvSpPr/>
          <p:nvPr/>
        </p:nvSpPr>
        <p:spPr>
          <a:xfrm>
            <a:off x="694944" y="2679192"/>
            <a:ext cx="2953512" cy="164592"/>
          </a:xfrm>
          <a:prstGeom prst="rect">
            <a:avLst/>
          </a:prstGeom>
          <a:noFill/>
          <a:ln/>
        </p:spPr>
        <p:txBody>
          <a:bodyPr wrap="square" lIns="0" tIns="0" rIns="0" bIns="0" rtlCol="0" anchor="ctr"/>
          <a:lstStyle/>
          <a:p>
            <a:pPr indent="0" marL="0">
              <a:buNone/>
            </a:pPr>
            <a:r>
              <a:rPr lang="en-US" sz="1210" b="1" spc="60" kern="0" dirty="0">
                <a:solidFill>
                  <a:srgbClr val="6D2E46"/>
                </a:solidFill>
                <a:latin typeface="Calibri" pitchFamily="34" charset="0"/>
                <a:ea typeface="Calibri" pitchFamily="34" charset="-122"/>
                <a:cs typeface="Calibri" pitchFamily="34" charset="-120"/>
              </a:rPr>
              <a:t>HC0070</a:t>
            </a:r>
            <a:endParaRPr lang="en-US" sz="1210" dirty="0"/>
          </a:p>
        </p:txBody>
      </p:sp>
      <p:sp>
        <p:nvSpPr>
          <p:cNvPr id="13" name="Text 11"/>
          <p:cNvSpPr/>
          <p:nvPr/>
        </p:nvSpPr>
        <p:spPr>
          <a:xfrm>
            <a:off x="3840480" y="2354580"/>
            <a:ext cx="3849624" cy="466344"/>
          </a:xfrm>
          <a:prstGeom prst="rect">
            <a:avLst/>
          </a:prstGeom>
          <a:noFill/>
          <a:ln/>
        </p:spPr>
        <p:txBody>
          <a:bodyPr wrap="square" lIns="0" tIns="0" rIns="0" bIns="0" rtlCol="0" anchor="ctr"/>
          <a:lstStyle/>
          <a:p>
            <a:pPr indent="0" marL="0">
              <a:buNone/>
            </a:pPr>
            <a:r>
              <a:rPr lang="en-US" sz="1440" dirty="0">
                <a:solidFill>
                  <a:srgbClr val="30282E"/>
                </a:solidFill>
                <a:latin typeface="Calibri" pitchFamily="34" charset="0"/>
                <a:ea typeface="Calibri" pitchFamily="34" charset="-122"/>
                <a:cs typeface="Calibri" pitchFamily="34" charset="-120"/>
              </a:rPr>
              <a:t>Out of stock · €269.2k market proxy</a:t>
            </a:r>
            <a:endParaRPr lang="en-US" sz="1440" dirty="0"/>
          </a:p>
          <a:p>
            <a:pPr indent="0" marL="0">
              <a:buNone/>
            </a:pPr>
            <a:r>
              <a:rPr lang="en-US" sz="1440" dirty="0">
                <a:solidFill>
                  <a:srgbClr val="30282E"/>
                </a:solidFill>
                <a:latin typeface="Calibri" pitchFamily="34" charset="0"/>
                <a:ea typeface="Calibri" pitchFamily="34" charset="-122"/>
                <a:cs typeface="Calibri" pitchFamily="34" charset="-120"/>
              </a:rPr>
              <a:t>Market trend +26.3%</a:t>
            </a:r>
            <a:endParaRPr lang="en-US" sz="1440" dirty="0"/>
          </a:p>
        </p:txBody>
      </p:sp>
      <p:sp>
        <p:nvSpPr>
          <p:cNvPr id="14" name="Text 12"/>
          <p:cNvSpPr/>
          <p:nvPr/>
        </p:nvSpPr>
        <p:spPr>
          <a:xfrm>
            <a:off x="7973568" y="2345436"/>
            <a:ext cx="3511296" cy="256032"/>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Validate stock and lead time</a:t>
            </a:r>
            <a:endParaRPr lang="en-US" sz="1500" dirty="0"/>
          </a:p>
        </p:txBody>
      </p:sp>
      <p:sp>
        <p:nvSpPr>
          <p:cNvPr id="15" name="Text 13"/>
          <p:cNvSpPr/>
          <p:nvPr/>
        </p:nvSpPr>
        <p:spPr>
          <a:xfrm>
            <a:off x="7973568" y="2642616"/>
            <a:ext cx="3511296" cy="219456"/>
          </a:xfrm>
          <a:prstGeom prst="rect">
            <a:avLst/>
          </a:prstGeom>
          <a:noFill/>
          <a:ln/>
        </p:spPr>
        <p:txBody>
          <a:bodyPr wrap="square" lIns="0" tIns="0" rIns="0" bIns="0" rtlCol="0" anchor="ctr"/>
          <a:lstStyle/>
          <a:p>
            <a:pPr indent="0" marL="0">
              <a:buNone/>
            </a:pPr>
            <a:r>
              <a:rPr lang="en-US" sz="1370" dirty="0">
                <a:solidFill>
                  <a:srgbClr val="6F6268"/>
                </a:solidFill>
                <a:latin typeface="Calibri" pitchFamily="34" charset="0"/>
                <a:ea typeface="Calibri" pitchFamily="34" charset="-122"/>
                <a:cs typeface="Calibri" pitchFamily="34" charset="-120"/>
              </a:rPr>
              <a:t>Supply planner</a:t>
            </a:r>
            <a:endParaRPr lang="en-US" sz="1370" dirty="0"/>
          </a:p>
        </p:txBody>
      </p:sp>
      <p:sp>
        <p:nvSpPr>
          <p:cNvPr id="16" name="Shape 14"/>
          <p:cNvSpPr/>
          <p:nvPr/>
        </p:nvSpPr>
        <p:spPr>
          <a:xfrm>
            <a:off x="502920" y="2916936"/>
            <a:ext cx="11183112" cy="630936"/>
          </a:xfrm>
          <a:prstGeom prst="rect">
            <a:avLst/>
          </a:prstGeom>
          <a:solidFill>
            <a:srgbClr val="F0DFE3"/>
          </a:solidFill>
          <a:ln w="12700">
            <a:solidFill>
              <a:srgbClr val="F0DFE3">
                <a:alpha val="0"/>
              </a:srgbClr>
            </a:solidFill>
            <a:prstDash val="solid"/>
          </a:ln>
        </p:spPr>
      </p:sp>
      <p:sp>
        <p:nvSpPr>
          <p:cNvPr id="17" name="Text 15"/>
          <p:cNvSpPr/>
          <p:nvPr/>
        </p:nvSpPr>
        <p:spPr>
          <a:xfrm>
            <a:off x="694944" y="2980944"/>
            <a:ext cx="2953512" cy="256032"/>
          </a:xfrm>
          <a:prstGeom prst="rect">
            <a:avLst/>
          </a:prstGeom>
          <a:noFill/>
          <a:ln/>
        </p:spPr>
        <p:txBody>
          <a:bodyPr wrap="square" lIns="0" tIns="0" rIns="0" bIns="0" rtlCol="0" anchor="ctr"/>
          <a:lstStyle/>
          <a:p>
            <a:pPr indent="0" marL="0">
              <a:buNone/>
            </a:pPr>
            <a:r>
              <a:rPr lang="en-US" sz="1560" b="1" dirty="0">
                <a:solidFill>
                  <a:srgbClr val="30282E"/>
                </a:solidFill>
                <a:latin typeface="Calibri" pitchFamily="34" charset="0"/>
                <a:ea typeface="Calibri" pitchFamily="34" charset="-122"/>
                <a:cs typeface="Calibri" pitchFamily="34" charset="-120"/>
              </a:rPr>
              <a:t>Private label · Sunlit Peach</a:t>
            </a:r>
            <a:endParaRPr lang="en-US" sz="1560" dirty="0"/>
          </a:p>
        </p:txBody>
      </p:sp>
      <p:sp>
        <p:nvSpPr>
          <p:cNvPr id="18" name="Text 16"/>
          <p:cNvSpPr/>
          <p:nvPr/>
        </p:nvSpPr>
        <p:spPr>
          <a:xfrm>
            <a:off x="694944" y="3310128"/>
            <a:ext cx="2953512" cy="164592"/>
          </a:xfrm>
          <a:prstGeom prst="rect">
            <a:avLst/>
          </a:prstGeom>
          <a:noFill/>
          <a:ln/>
        </p:spPr>
        <p:txBody>
          <a:bodyPr wrap="square" lIns="0" tIns="0" rIns="0" bIns="0" rtlCol="0" anchor="ctr"/>
          <a:lstStyle/>
          <a:p>
            <a:pPr indent="0" marL="0">
              <a:buNone/>
            </a:pPr>
            <a:r>
              <a:rPr lang="en-US" sz="1210" b="1" spc="60" kern="0" dirty="0">
                <a:solidFill>
                  <a:srgbClr val="6D2E46"/>
                </a:solidFill>
                <a:latin typeface="Calibri" pitchFamily="34" charset="0"/>
                <a:ea typeface="Calibri" pitchFamily="34" charset="-122"/>
                <a:cs typeface="Calibri" pitchFamily="34" charset="-120"/>
              </a:rPr>
              <a:t>HC0002</a:t>
            </a:r>
            <a:endParaRPr lang="en-US" sz="1210" dirty="0"/>
          </a:p>
        </p:txBody>
      </p:sp>
      <p:sp>
        <p:nvSpPr>
          <p:cNvPr id="19" name="Text 17"/>
          <p:cNvSpPr/>
          <p:nvPr/>
        </p:nvSpPr>
        <p:spPr>
          <a:xfrm>
            <a:off x="3840480" y="2985516"/>
            <a:ext cx="3849624" cy="466344"/>
          </a:xfrm>
          <a:prstGeom prst="rect">
            <a:avLst/>
          </a:prstGeom>
          <a:noFill/>
          <a:ln/>
        </p:spPr>
        <p:txBody>
          <a:bodyPr wrap="square" lIns="0" tIns="0" rIns="0" bIns="0" rtlCol="0" anchor="ctr"/>
          <a:lstStyle/>
          <a:p>
            <a:pPr indent="0" marL="0">
              <a:buNone/>
            </a:pPr>
            <a:r>
              <a:rPr lang="en-US" sz="1440" dirty="0">
                <a:solidFill>
                  <a:srgbClr val="30282E"/>
                </a:solidFill>
                <a:latin typeface="Calibri" pitchFamily="34" charset="0"/>
                <a:ea typeface="Calibri" pitchFamily="34" charset="-122"/>
                <a:cs typeface="Calibri" pitchFamily="34" charset="-120"/>
              </a:rPr>
              <a:t>In stock · €0 sales / 0 units</a:t>
            </a:r>
            <a:endParaRPr lang="en-US" sz="1440" dirty="0"/>
          </a:p>
          <a:p>
            <a:pPr indent="0" marL="0">
              <a:buNone/>
            </a:pPr>
            <a:r>
              <a:rPr lang="en-US" sz="1440" dirty="0">
                <a:solidFill>
                  <a:srgbClr val="30282E"/>
                </a:solidFill>
                <a:latin typeface="Calibri" pitchFamily="34" charset="0"/>
                <a:ea typeface="Calibri" pitchFamily="34" charset="-122"/>
                <a:cs typeface="Calibri" pitchFamily="34" charset="-120"/>
              </a:rPr>
              <a:t>€64.2k market proxy · +31.0% · Summer</a:t>
            </a:r>
            <a:endParaRPr lang="en-US" sz="1440" dirty="0"/>
          </a:p>
        </p:txBody>
      </p:sp>
      <p:sp>
        <p:nvSpPr>
          <p:cNvPr id="20" name="Text 18"/>
          <p:cNvSpPr/>
          <p:nvPr/>
        </p:nvSpPr>
        <p:spPr>
          <a:xfrm>
            <a:off x="7973568" y="2976372"/>
            <a:ext cx="3511296" cy="256032"/>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Check listing, feed and season</a:t>
            </a:r>
            <a:endParaRPr lang="en-US" sz="1500" dirty="0"/>
          </a:p>
        </p:txBody>
      </p:sp>
      <p:sp>
        <p:nvSpPr>
          <p:cNvPr id="21" name="Text 19"/>
          <p:cNvSpPr/>
          <p:nvPr/>
        </p:nvSpPr>
        <p:spPr>
          <a:xfrm>
            <a:off x="7973568" y="3273552"/>
            <a:ext cx="3511296" cy="219456"/>
          </a:xfrm>
          <a:prstGeom prst="rect">
            <a:avLst/>
          </a:prstGeom>
          <a:noFill/>
          <a:ln/>
        </p:spPr>
        <p:txBody>
          <a:bodyPr wrap="square" lIns="0" tIns="0" rIns="0" bIns="0" rtlCol="0" anchor="ctr"/>
          <a:lstStyle/>
          <a:p>
            <a:pPr indent="0" marL="0">
              <a:buNone/>
            </a:pPr>
            <a:r>
              <a:rPr lang="en-US" sz="1370" dirty="0">
                <a:solidFill>
                  <a:srgbClr val="6F6268"/>
                </a:solidFill>
                <a:latin typeface="Calibri" pitchFamily="34" charset="0"/>
                <a:ea typeface="Calibri" pitchFamily="34" charset="-122"/>
                <a:cs typeface="Calibri" pitchFamily="34" charset="-120"/>
              </a:rPr>
              <a:t>E-commerce / category ops</a:t>
            </a:r>
            <a:endParaRPr lang="en-US" sz="1370" dirty="0"/>
          </a:p>
        </p:txBody>
      </p:sp>
      <p:sp>
        <p:nvSpPr>
          <p:cNvPr id="22" name="Shape 20"/>
          <p:cNvSpPr/>
          <p:nvPr/>
        </p:nvSpPr>
        <p:spPr>
          <a:xfrm>
            <a:off x="502920" y="3547872"/>
            <a:ext cx="11183112" cy="630936"/>
          </a:xfrm>
          <a:prstGeom prst="rect">
            <a:avLst/>
          </a:prstGeom>
          <a:solidFill>
            <a:srgbClr val="FFFDFA"/>
          </a:solidFill>
          <a:ln w="12700">
            <a:solidFill>
              <a:srgbClr val="FFFDFA">
                <a:alpha val="0"/>
              </a:srgbClr>
            </a:solidFill>
            <a:prstDash val="solid"/>
          </a:ln>
        </p:spPr>
      </p:sp>
      <p:sp>
        <p:nvSpPr>
          <p:cNvPr id="23" name="Text 21"/>
          <p:cNvSpPr/>
          <p:nvPr/>
        </p:nvSpPr>
        <p:spPr>
          <a:xfrm>
            <a:off x="694944" y="3611880"/>
            <a:ext cx="2953512" cy="256032"/>
          </a:xfrm>
          <a:prstGeom prst="rect">
            <a:avLst/>
          </a:prstGeom>
          <a:noFill/>
          <a:ln/>
        </p:spPr>
        <p:txBody>
          <a:bodyPr wrap="square" lIns="0" tIns="0" rIns="0" bIns="0" rtlCol="0" anchor="ctr"/>
          <a:lstStyle/>
          <a:p>
            <a:pPr indent="0" marL="0">
              <a:buNone/>
            </a:pPr>
            <a:r>
              <a:rPr lang="en-US" sz="1560" b="1" dirty="0">
                <a:solidFill>
                  <a:srgbClr val="30282E"/>
                </a:solidFill>
                <a:latin typeface="Calibri" pitchFamily="34" charset="0"/>
                <a:ea typeface="Calibri" pitchFamily="34" charset="-122"/>
                <a:cs typeface="Calibri" pitchFamily="34" charset="-120"/>
              </a:rPr>
              <a:t>Bleach London · White Toner</a:t>
            </a:r>
            <a:endParaRPr lang="en-US" sz="1560" dirty="0"/>
          </a:p>
        </p:txBody>
      </p:sp>
      <p:sp>
        <p:nvSpPr>
          <p:cNvPr id="24" name="Text 22"/>
          <p:cNvSpPr/>
          <p:nvPr/>
        </p:nvSpPr>
        <p:spPr>
          <a:xfrm>
            <a:off x="694944" y="3941064"/>
            <a:ext cx="2953512" cy="164592"/>
          </a:xfrm>
          <a:prstGeom prst="rect">
            <a:avLst/>
          </a:prstGeom>
          <a:noFill/>
          <a:ln/>
        </p:spPr>
        <p:txBody>
          <a:bodyPr wrap="square" lIns="0" tIns="0" rIns="0" bIns="0" rtlCol="0" anchor="ctr"/>
          <a:lstStyle/>
          <a:p>
            <a:pPr indent="0" marL="0">
              <a:buNone/>
            </a:pPr>
            <a:r>
              <a:rPr lang="en-US" sz="1210" b="1" spc="60" kern="0" dirty="0">
                <a:solidFill>
                  <a:srgbClr val="6D2E46"/>
                </a:solidFill>
                <a:latin typeface="Calibri" pitchFamily="34" charset="0"/>
                <a:ea typeface="Calibri" pitchFamily="34" charset="-122"/>
                <a:cs typeface="Calibri" pitchFamily="34" charset="-120"/>
              </a:rPr>
              <a:t>HC0101</a:t>
            </a:r>
            <a:endParaRPr lang="en-US" sz="1210" dirty="0"/>
          </a:p>
        </p:txBody>
      </p:sp>
      <p:sp>
        <p:nvSpPr>
          <p:cNvPr id="25" name="Text 23"/>
          <p:cNvSpPr/>
          <p:nvPr/>
        </p:nvSpPr>
        <p:spPr>
          <a:xfrm>
            <a:off x="3840480" y="3616452"/>
            <a:ext cx="3849624" cy="466344"/>
          </a:xfrm>
          <a:prstGeom prst="rect">
            <a:avLst/>
          </a:prstGeom>
          <a:noFill/>
          <a:ln/>
        </p:spPr>
        <p:txBody>
          <a:bodyPr wrap="square" lIns="0" tIns="0" rIns="0" bIns="0" rtlCol="0" anchor="ctr"/>
          <a:lstStyle/>
          <a:p>
            <a:pPr indent="0" marL="0">
              <a:buNone/>
            </a:pPr>
            <a:r>
              <a:rPr lang="en-US" sz="1440" dirty="0">
                <a:solidFill>
                  <a:srgbClr val="30282E"/>
                </a:solidFill>
                <a:latin typeface="Calibri" pitchFamily="34" charset="0"/>
                <a:ea typeface="Calibri" pitchFamily="34" charset="-122"/>
                <a:cs typeface="Calibri" pitchFamily="34" charset="-120"/>
              </a:rPr>
              <a:t>Inactive · €332.0k market proxy</a:t>
            </a:r>
            <a:endParaRPr lang="en-US" sz="1440" dirty="0"/>
          </a:p>
          <a:p>
            <a:pPr indent="0" marL="0">
              <a:buNone/>
            </a:pPr>
            <a:r>
              <a:rPr lang="en-US" sz="1440" dirty="0">
                <a:solidFill>
                  <a:srgbClr val="30282E"/>
                </a:solidFill>
                <a:latin typeface="Calibri" pitchFamily="34" charset="0"/>
                <a:ea typeface="Calibri" pitchFamily="34" charset="-122"/>
                <a:cs typeface="Calibri" pitchFamily="34" charset="-120"/>
              </a:rPr>
              <a:t>Market trend +17.8% · reason unknown</a:t>
            </a:r>
            <a:endParaRPr lang="en-US" sz="1440" dirty="0"/>
          </a:p>
        </p:txBody>
      </p:sp>
      <p:sp>
        <p:nvSpPr>
          <p:cNvPr id="26" name="Text 24"/>
          <p:cNvSpPr/>
          <p:nvPr/>
        </p:nvSpPr>
        <p:spPr>
          <a:xfrm>
            <a:off x="7973568" y="3607308"/>
            <a:ext cx="3511296" cy="256032"/>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Understand inactivity first</a:t>
            </a:r>
            <a:endParaRPr lang="en-US" sz="1500" dirty="0"/>
          </a:p>
        </p:txBody>
      </p:sp>
      <p:sp>
        <p:nvSpPr>
          <p:cNvPr id="27" name="Text 25"/>
          <p:cNvSpPr/>
          <p:nvPr/>
        </p:nvSpPr>
        <p:spPr>
          <a:xfrm>
            <a:off x="7973568" y="3904488"/>
            <a:ext cx="3511296" cy="219456"/>
          </a:xfrm>
          <a:prstGeom prst="rect">
            <a:avLst/>
          </a:prstGeom>
          <a:noFill/>
          <a:ln/>
        </p:spPr>
        <p:txBody>
          <a:bodyPr wrap="square" lIns="0" tIns="0" rIns="0" bIns="0" rtlCol="0" anchor="ctr"/>
          <a:lstStyle/>
          <a:p>
            <a:pPr indent="0" marL="0">
              <a:buNone/>
            </a:pPr>
            <a:r>
              <a:rPr lang="en-US" sz="1370" dirty="0">
                <a:solidFill>
                  <a:srgbClr val="6F6268"/>
                </a:solidFill>
                <a:latin typeface="Calibri" pitchFamily="34" charset="0"/>
                <a:ea typeface="Calibri" pitchFamily="34" charset="-122"/>
                <a:cs typeface="Calibri" pitchFamily="34" charset="-120"/>
              </a:rPr>
              <a:t>Category manager</a:t>
            </a:r>
            <a:endParaRPr lang="en-US" sz="1370" dirty="0"/>
          </a:p>
        </p:txBody>
      </p:sp>
      <p:sp>
        <p:nvSpPr>
          <p:cNvPr id="28" name="Shape 26"/>
          <p:cNvSpPr/>
          <p:nvPr/>
        </p:nvSpPr>
        <p:spPr>
          <a:xfrm>
            <a:off x="502920" y="4178808"/>
            <a:ext cx="11183112" cy="630936"/>
          </a:xfrm>
          <a:prstGeom prst="rect">
            <a:avLst/>
          </a:prstGeom>
          <a:solidFill>
            <a:srgbClr val="F0DFE3"/>
          </a:solidFill>
          <a:ln w="12700">
            <a:solidFill>
              <a:srgbClr val="F0DFE3">
                <a:alpha val="0"/>
              </a:srgbClr>
            </a:solidFill>
            <a:prstDash val="solid"/>
          </a:ln>
        </p:spPr>
      </p:sp>
      <p:sp>
        <p:nvSpPr>
          <p:cNvPr id="29" name="Text 27"/>
          <p:cNvSpPr/>
          <p:nvPr/>
        </p:nvSpPr>
        <p:spPr>
          <a:xfrm>
            <a:off x="694944" y="4242816"/>
            <a:ext cx="2953512" cy="256032"/>
          </a:xfrm>
          <a:prstGeom prst="rect">
            <a:avLst/>
          </a:prstGeom>
          <a:noFill/>
          <a:ln/>
        </p:spPr>
        <p:txBody>
          <a:bodyPr wrap="square" lIns="0" tIns="0" rIns="0" bIns="0" rtlCol="0" anchor="ctr"/>
          <a:lstStyle/>
          <a:p>
            <a:pPr indent="0" marL="0">
              <a:buNone/>
            </a:pPr>
            <a:r>
              <a:rPr lang="en-US" sz="1560" b="1" dirty="0">
                <a:solidFill>
                  <a:srgbClr val="30282E"/>
                </a:solidFill>
                <a:latin typeface="Calibri" pitchFamily="34" charset="0"/>
                <a:ea typeface="Calibri" pitchFamily="34" charset="-122"/>
                <a:cs typeface="Calibri" pitchFamily="34" charset="-120"/>
              </a:rPr>
              <a:t>Herbatint · Natural Black</a:t>
            </a:r>
            <a:endParaRPr lang="en-US" sz="1560" dirty="0"/>
          </a:p>
        </p:txBody>
      </p:sp>
      <p:sp>
        <p:nvSpPr>
          <p:cNvPr id="30" name="Text 28"/>
          <p:cNvSpPr/>
          <p:nvPr/>
        </p:nvSpPr>
        <p:spPr>
          <a:xfrm>
            <a:off x="694944" y="4572000"/>
            <a:ext cx="2953512" cy="164592"/>
          </a:xfrm>
          <a:prstGeom prst="rect">
            <a:avLst/>
          </a:prstGeom>
          <a:noFill/>
          <a:ln/>
        </p:spPr>
        <p:txBody>
          <a:bodyPr wrap="square" lIns="0" tIns="0" rIns="0" bIns="0" rtlCol="0" anchor="ctr"/>
          <a:lstStyle/>
          <a:p>
            <a:pPr indent="0" marL="0">
              <a:buNone/>
            </a:pPr>
            <a:r>
              <a:rPr lang="en-US" sz="1210" b="1" spc="60" kern="0" dirty="0">
                <a:solidFill>
                  <a:srgbClr val="6D2E46"/>
                </a:solidFill>
                <a:latin typeface="Calibri" pitchFamily="34" charset="0"/>
                <a:ea typeface="Calibri" pitchFamily="34" charset="-122"/>
                <a:cs typeface="Calibri" pitchFamily="34" charset="-120"/>
              </a:rPr>
              <a:t>HC0024</a:t>
            </a:r>
            <a:endParaRPr lang="en-US" sz="1210" dirty="0"/>
          </a:p>
        </p:txBody>
      </p:sp>
      <p:sp>
        <p:nvSpPr>
          <p:cNvPr id="31" name="Text 29"/>
          <p:cNvSpPr/>
          <p:nvPr/>
        </p:nvSpPr>
        <p:spPr>
          <a:xfrm>
            <a:off x="3840480" y="4247388"/>
            <a:ext cx="3849624" cy="466344"/>
          </a:xfrm>
          <a:prstGeom prst="rect">
            <a:avLst/>
          </a:prstGeom>
          <a:noFill/>
          <a:ln/>
        </p:spPr>
        <p:txBody>
          <a:bodyPr wrap="square" lIns="0" tIns="0" rIns="0" bIns="0" rtlCol="0" anchor="ctr"/>
          <a:lstStyle/>
          <a:p>
            <a:pPr indent="0" marL="0">
              <a:buNone/>
            </a:pPr>
            <a:r>
              <a:rPr lang="en-US" sz="1440" dirty="0">
                <a:solidFill>
                  <a:srgbClr val="30282E"/>
                </a:solidFill>
                <a:latin typeface="Calibri" pitchFamily="34" charset="0"/>
                <a:ea typeface="Calibri" pitchFamily="34" charset="-122"/>
                <a:cs typeface="Calibri" pitchFamily="34" charset="-120"/>
              </a:rPr>
              <a:t>24.6% margin · €30.5k revenue</a:t>
            </a:r>
            <a:endParaRPr lang="en-US" sz="1440" dirty="0"/>
          </a:p>
          <a:p>
            <a:pPr indent="0" marL="0">
              <a:buNone/>
            </a:pPr>
            <a:r>
              <a:rPr lang="en-US" sz="1440" dirty="0">
                <a:solidFill>
                  <a:srgbClr val="30282E"/>
                </a:solidFill>
                <a:latin typeface="Calibri" pitchFamily="34" charset="0"/>
                <a:ea typeface="Calibri" pitchFamily="34" charset="-122"/>
                <a:cs typeface="Calibri" pitchFamily="34" charset="-120"/>
              </a:rPr>
              <a:t>Also out of stock—check supply first</a:t>
            </a:r>
            <a:endParaRPr lang="en-US" sz="1440" dirty="0"/>
          </a:p>
        </p:txBody>
      </p:sp>
      <p:sp>
        <p:nvSpPr>
          <p:cNvPr id="32" name="Text 30"/>
          <p:cNvSpPr/>
          <p:nvPr/>
        </p:nvSpPr>
        <p:spPr>
          <a:xfrm>
            <a:off x="7973568" y="4238244"/>
            <a:ext cx="3511296" cy="256032"/>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Validate cost / terms and supply</a:t>
            </a:r>
            <a:endParaRPr lang="en-US" sz="1500" dirty="0"/>
          </a:p>
        </p:txBody>
      </p:sp>
      <p:sp>
        <p:nvSpPr>
          <p:cNvPr id="33" name="Text 31"/>
          <p:cNvSpPr/>
          <p:nvPr/>
        </p:nvSpPr>
        <p:spPr>
          <a:xfrm>
            <a:off x="7973568" y="4535424"/>
            <a:ext cx="3511296" cy="219456"/>
          </a:xfrm>
          <a:prstGeom prst="rect">
            <a:avLst/>
          </a:prstGeom>
          <a:noFill/>
          <a:ln/>
        </p:spPr>
        <p:txBody>
          <a:bodyPr wrap="square" lIns="0" tIns="0" rIns="0" bIns="0" rtlCol="0" anchor="ctr"/>
          <a:lstStyle/>
          <a:p>
            <a:pPr indent="0" marL="0">
              <a:buNone/>
            </a:pPr>
            <a:r>
              <a:rPr lang="en-US" sz="1370" dirty="0">
                <a:solidFill>
                  <a:srgbClr val="6F6268"/>
                </a:solidFill>
                <a:latin typeface="Calibri" pitchFamily="34" charset="0"/>
                <a:ea typeface="Calibri" pitchFamily="34" charset="-122"/>
                <a:cs typeface="Calibri" pitchFamily="34" charset="-120"/>
              </a:rPr>
              <a:t>Buyer / commercial finance</a:t>
            </a:r>
            <a:endParaRPr lang="en-US" sz="1370" dirty="0"/>
          </a:p>
        </p:txBody>
      </p:sp>
      <p:sp>
        <p:nvSpPr>
          <p:cNvPr id="34" name="Shape 32"/>
          <p:cNvSpPr/>
          <p:nvPr/>
        </p:nvSpPr>
        <p:spPr>
          <a:xfrm>
            <a:off x="502920" y="4809744"/>
            <a:ext cx="11183112" cy="630936"/>
          </a:xfrm>
          <a:prstGeom prst="rect">
            <a:avLst/>
          </a:prstGeom>
          <a:solidFill>
            <a:srgbClr val="FFFDFA"/>
          </a:solidFill>
          <a:ln w="12700">
            <a:solidFill>
              <a:srgbClr val="FFFDFA">
                <a:alpha val="0"/>
              </a:srgbClr>
            </a:solidFill>
            <a:prstDash val="solid"/>
          </a:ln>
        </p:spPr>
      </p:sp>
      <p:sp>
        <p:nvSpPr>
          <p:cNvPr id="35" name="Text 33"/>
          <p:cNvSpPr/>
          <p:nvPr/>
        </p:nvSpPr>
        <p:spPr>
          <a:xfrm>
            <a:off x="694944" y="4873752"/>
            <a:ext cx="2953512" cy="256032"/>
          </a:xfrm>
          <a:prstGeom prst="rect">
            <a:avLst/>
          </a:prstGeom>
          <a:noFill/>
          <a:ln/>
        </p:spPr>
        <p:txBody>
          <a:bodyPr wrap="square" lIns="0" tIns="0" rIns="0" bIns="0" rtlCol="0" anchor="ctr"/>
          <a:lstStyle/>
          <a:p>
            <a:pPr indent="0" marL="0">
              <a:buNone/>
            </a:pPr>
            <a:r>
              <a:rPr lang="en-US" sz="1560" b="1" dirty="0">
                <a:solidFill>
                  <a:srgbClr val="30282E"/>
                </a:solidFill>
                <a:latin typeface="Calibri" pitchFamily="34" charset="0"/>
                <a:ea typeface="Calibri" pitchFamily="34" charset="-122"/>
                <a:cs typeface="Calibri" pitchFamily="34" charset="-120"/>
              </a:rPr>
              <a:t>Madison Reed · Root Touch Up</a:t>
            </a:r>
            <a:endParaRPr lang="en-US" sz="1560" dirty="0"/>
          </a:p>
        </p:txBody>
      </p:sp>
      <p:sp>
        <p:nvSpPr>
          <p:cNvPr id="36" name="Text 34"/>
          <p:cNvSpPr/>
          <p:nvPr/>
        </p:nvSpPr>
        <p:spPr>
          <a:xfrm>
            <a:off x="694944" y="5202936"/>
            <a:ext cx="2953512" cy="164592"/>
          </a:xfrm>
          <a:prstGeom prst="rect">
            <a:avLst/>
          </a:prstGeom>
          <a:noFill/>
          <a:ln/>
        </p:spPr>
        <p:txBody>
          <a:bodyPr wrap="square" lIns="0" tIns="0" rIns="0" bIns="0" rtlCol="0" anchor="ctr"/>
          <a:lstStyle/>
          <a:p>
            <a:pPr indent="0" marL="0">
              <a:buNone/>
            </a:pPr>
            <a:r>
              <a:rPr lang="en-US" sz="1210" b="1" spc="60" kern="0" dirty="0">
                <a:solidFill>
                  <a:srgbClr val="6D2E46"/>
                </a:solidFill>
                <a:latin typeface="Calibri" pitchFamily="34" charset="0"/>
                <a:ea typeface="Calibri" pitchFamily="34" charset="-122"/>
                <a:cs typeface="Calibri" pitchFamily="34" charset="-120"/>
              </a:rPr>
              <a:t>HC0083</a:t>
            </a:r>
            <a:endParaRPr lang="en-US" sz="1210" dirty="0"/>
          </a:p>
        </p:txBody>
      </p:sp>
      <p:sp>
        <p:nvSpPr>
          <p:cNvPr id="37" name="Text 35"/>
          <p:cNvSpPr/>
          <p:nvPr/>
        </p:nvSpPr>
        <p:spPr>
          <a:xfrm>
            <a:off x="3840480" y="4878324"/>
            <a:ext cx="3849624" cy="466344"/>
          </a:xfrm>
          <a:prstGeom prst="rect">
            <a:avLst/>
          </a:prstGeom>
          <a:noFill/>
          <a:ln/>
        </p:spPr>
        <p:txBody>
          <a:bodyPr wrap="square" lIns="0" tIns="0" rIns="0" bIns="0" rtlCol="0" anchor="ctr"/>
          <a:lstStyle/>
          <a:p>
            <a:pPr indent="0" marL="0">
              <a:buNone/>
            </a:pPr>
            <a:r>
              <a:rPr lang="en-US" sz="1440" dirty="0">
                <a:solidFill>
                  <a:srgbClr val="30282E"/>
                </a:solidFill>
                <a:latin typeface="Calibri" pitchFamily="34" charset="0"/>
                <a:ea typeface="Calibri" pitchFamily="34" charset="-122"/>
                <a:cs typeface="Calibri" pitchFamily="34" charset="-120"/>
              </a:rPr>
              <a:t>In stock · channel / proxy 4.93%</a:t>
            </a:r>
            <a:endParaRPr lang="en-US" sz="1440" dirty="0"/>
          </a:p>
          <a:p>
            <a:pPr indent="0" marL="0">
              <a:buNone/>
            </a:pPr>
            <a:r>
              <a:rPr lang="en-US" sz="1440" dirty="0">
                <a:solidFill>
                  <a:srgbClr val="30282E"/>
                </a:solidFill>
                <a:latin typeface="Calibri" pitchFamily="34" charset="0"/>
                <a:ea typeface="Calibri" pitchFamily="34" charset="-122"/>
                <a:cs typeface="Calibri" pitchFamily="34" charset="-120"/>
              </a:rPr>
              <a:t>Peer ratio 7.33%—comparison, not share</a:t>
            </a:r>
            <a:endParaRPr lang="en-US" sz="1440" dirty="0"/>
          </a:p>
        </p:txBody>
      </p:sp>
      <p:sp>
        <p:nvSpPr>
          <p:cNvPr id="38" name="Text 36"/>
          <p:cNvSpPr/>
          <p:nvPr/>
        </p:nvSpPr>
        <p:spPr>
          <a:xfrm>
            <a:off x="7973568" y="4869180"/>
            <a:ext cx="3511296" cy="256032"/>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Small test with baseline / control</a:t>
            </a:r>
            <a:endParaRPr lang="en-US" sz="1500" dirty="0"/>
          </a:p>
        </p:txBody>
      </p:sp>
      <p:sp>
        <p:nvSpPr>
          <p:cNvPr id="39" name="Text 37"/>
          <p:cNvSpPr/>
          <p:nvPr/>
        </p:nvSpPr>
        <p:spPr>
          <a:xfrm>
            <a:off x="7973568" y="5166360"/>
            <a:ext cx="3511296" cy="219456"/>
          </a:xfrm>
          <a:prstGeom prst="rect">
            <a:avLst/>
          </a:prstGeom>
          <a:noFill/>
          <a:ln/>
        </p:spPr>
        <p:txBody>
          <a:bodyPr wrap="square" lIns="0" tIns="0" rIns="0" bIns="0" rtlCol="0" anchor="ctr"/>
          <a:lstStyle/>
          <a:p>
            <a:pPr indent="0" marL="0">
              <a:buNone/>
            </a:pPr>
            <a:r>
              <a:rPr lang="en-US" sz="1370" dirty="0">
                <a:solidFill>
                  <a:srgbClr val="6F6268"/>
                </a:solidFill>
                <a:latin typeface="Calibri" pitchFamily="34" charset="0"/>
                <a:ea typeface="Calibri" pitchFamily="34" charset="-122"/>
                <a:cs typeface="Calibri" pitchFamily="34" charset="-120"/>
              </a:rPr>
              <a:t>Category / merchandising</a:t>
            </a:r>
            <a:endParaRPr lang="en-US" sz="1370" dirty="0"/>
          </a:p>
        </p:txBody>
      </p:sp>
      <p:sp>
        <p:nvSpPr>
          <p:cNvPr id="40" name="Shape 38"/>
          <p:cNvSpPr/>
          <p:nvPr/>
        </p:nvSpPr>
        <p:spPr>
          <a:xfrm>
            <a:off x="502920" y="5614416"/>
            <a:ext cx="11183112" cy="420624"/>
          </a:xfrm>
          <a:prstGeom prst="rect">
            <a:avLst/>
          </a:prstGeom>
          <a:solidFill>
            <a:srgbClr val="F0DFE3"/>
          </a:solidFill>
          <a:ln w="12700">
            <a:solidFill>
              <a:srgbClr val="F0DFE3">
                <a:alpha val="0"/>
              </a:srgbClr>
            </a:solidFill>
            <a:prstDash val="solid"/>
          </a:ln>
        </p:spPr>
      </p:sp>
      <p:sp>
        <p:nvSpPr>
          <p:cNvPr id="41" name="Text 39"/>
          <p:cNvSpPr/>
          <p:nvPr/>
        </p:nvSpPr>
        <p:spPr>
          <a:xfrm>
            <a:off x="667512" y="5705856"/>
            <a:ext cx="10853928" cy="228600"/>
          </a:xfrm>
          <a:prstGeom prst="rect">
            <a:avLst/>
          </a:prstGeom>
          <a:noFill/>
          <a:ln/>
        </p:spPr>
        <p:txBody>
          <a:bodyPr wrap="square" lIns="0" tIns="0" rIns="0" bIns="0" rtlCol="0" anchor="ctr"/>
          <a:lstStyle/>
          <a:p>
            <a:pPr indent="0" marL="0">
              <a:buNone/>
            </a:pPr>
            <a:r>
              <a:rPr lang="en-US" sz="1540" b="1" dirty="0">
                <a:solidFill>
                  <a:srgbClr val="502737"/>
                </a:solidFill>
                <a:latin typeface="Calibri" pitchFamily="34" charset="0"/>
                <a:ea typeface="Calibri" pitchFamily="34" charset="-122"/>
                <a:cs typeface="Calibri" pitchFamily="34" charset="-120"/>
              </a:rPr>
              <a:t>Keep owner, due date and accept/defer decision together; no stock, pricing or range change is automatic.</a:t>
            </a:r>
            <a:endParaRPr lang="en-US" sz="15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6F6268"/>
                </a:solidFill>
                <a:latin typeface="Calibri" pitchFamily="34" charset="0"/>
                <a:ea typeface="Calibri" pitchFamily="34" charset="-122"/>
                <a:cs typeface="Calibri" pitchFamily="34" charset="-120"/>
              </a:rPr>
              <a:t>Source: review.json · availability cohort and selected product evidence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6F6268"/>
                </a:solidFill>
                <a:latin typeface="Calibri" pitchFamily="34" charset="0"/>
                <a:ea typeface="Calibri" pitchFamily="34" charset="-122"/>
                <a:cs typeface="Calibri" pitchFamily="34" charset="-120"/>
              </a:rPr>
              <a:t>05 / 10</a:t>
            </a:r>
            <a:endParaRPr lang="en-US" sz="1050" dirty="0"/>
          </a:p>
        </p:txBody>
      </p:sp>
      <p:sp>
        <p:nvSpPr>
          <p:cNvPr id="4" name="Text 2"/>
          <p:cNvSpPr/>
          <p:nvPr/>
        </p:nvSpPr>
        <p:spPr>
          <a:xfrm>
            <a:off x="502920" y="457200"/>
            <a:ext cx="9601200" cy="173736"/>
          </a:xfrm>
          <a:prstGeom prst="rect">
            <a:avLst/>
          </a:prstGeom>
          <a:noFill/>
          <a:ln/>
        </p:spPr>
        <p:txBody>
          <a:bodyPr wrap="square" lIns="0" tIns="0" rIns="0" bIns="0" rtlCol="0" anchor="ctr"/>
          <a:lstStyle/>
          <a:p>
            <a:pPr indent="0" marL="0">
              <a:buNone/>
            </a:pPr>
            <a:r>
              <a:rPr lang="en-US" sz="1050" b="1" spc="130" kern="0" dirty="0">
                <a:solidFill>
                  <a:srgbClr val="6D2E46"/>
                </a:solidFill>
                <a:latin typeface="Calibri" pitchFamily="34" charset="0"/>
                <a:ea typeface="Calibri" pitchFamily="34" charset="-122"/>
                <a:cs typeface="Calibri" pitchFamily="34" charset="-120"/>
              </a:rPr>
              <a:t>ZENBEAUTY RETAIL  /  CATEGORY REVIEW</a:t>
            </a:r>
            <a:endParaRPr lang="en-US" sz="1050" dirty="0"/>
          </a:p>
        </p:txBody>
      </p:sp>
      <p:sp>
        <p:nvSpPr>
          <p:cNvPr id="5" name="Text 3"/>
          <p:cNvSpPr/>
          <p:nvPr/>
        </p:nvSpPr>
        <p:spPr>
          <a:xfrm>
            <a:off x="502920" y="813816"/>
            <a:ext cx="11183112" cy="603504"/>
          </a:xfrm>
          <a:prstGeom prst="rect">
            <a:avLst/>
          </a:prstGeom>
          <a:noFill/>
          <a:ln/>
        </p:spPr>
        <p:txBody>
          <a:bodyPr wrap="square" lIns="0" tIns="0" rIns="0" bIns="0" rtlCol="0" anchor="ctr"/>
          <a:lstStyle/>
          <a:p>
            <a:pPr indent="0" marL="0">
              <a:buNone/>
            </a:pPr>
            <a:r>
              <a:rPr lang="en-US" sz="3200" b="1" dirty="0">
                <a:solidFill>
                  <a:srgbClr val="30282E"/>
                </a:solidFill>
                <a:latin typeface="Calibri" pitchFamily="34" charset="0"/>
                <a:ea typeface="Calibri" pitchFamily="34" charset="-122"/>
                <a:cs typeface="Calibri" pitchFamily="34" charset="-120"/>
              </a:rPr>
              <a:t>Validate supply and listings before deploying promotion</a:t>
            </a:r>
            <a:endParaRPr lang="en-US" sz="3200" dirty="0"/>
          </a:p>
        </p:txBody>
      </p:sp>
      <p:sp>
        <p:nvSpPr>
          <p:cNvPr id="6" name="Text 4"/>
          <p:cNvSpPr/>
          <p:nvPr/>
        </p:nvSpPr>
        <p:spPr>
          <a:xfrm>
            <a:off x="502920" y="1527048"/>
            <a:ext cx="11091672" cy="365760"/>
          </a:xfrm>
          <a:prstGeom prst="rect">
            <a:avLst/>
          </a:prstGeom>
          <a:noFill/>
          <a:ln/>
        </p:spPr>
        <p:txBody>
          <a:bodyPr wrap="square" lIns="0" tIns="0" rIns="0" bIns="0" rtlCol="0" anchor="ctr"/>
          <a:lstStyle/>
          <a:p>
            <a:pPr indent="0" marL="0">
              <a:buNone/>
            </a:pPr>
            <a:r>
              <a:rPr lang="en-US" sz="1750" dirty="0">
                <a:solidFill>
                  <a:srgbClr val="6F6268"/>
                </a:solidFill>
                <a:latin typeface="Calibri" pitchFamily="34" charset="0"/>
                <a:ea typeface="Calibri" pitchFamily="34" charset="-122"/>
                <a:cs typeface="Calibri" pitchFamily="34" charset="-120"/>
              </a:rPr>
              <a:t>Two operationally different signals should not receive the same commercial treatment.</a:t>
            </a:r>
            <a:endParaRPr lang="en-US" sz="1750" dirty="0"/>
          </a:p>
        </p:txBody>
      </p:sp>
      <p:sp>
        <p:nvSpPr>
          <p:cNvPr id="7" name="Text 5"/>
          <p:cNvSpPr/>
          <p:nvPr/>
        </p:nvSpPr>
        <p:spPr>
          <a:xfrm>
            <a:off x="502920" y="2029968"/>
            <a:ext cx="5897880"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AVAILABILITY QUEUE: 33 PRIMARY CASES</a:t>
            </a:r>
            <a:endParaRPr lang="en-US" sz="1180" dirty="0"/>
          </a:p>
        </p:txBody>
      </p:sp>
      <p:sp>
        <p:nvSpPr>
          <p:cNvPr id="8" name="Shape 6"/>
          <p:cNvSpPr/>
          <p:nvPr/>
        </p:nvSpPr>
        <p:spPr>
          <a:xfrm>
            <a:off x="502920" y="2478024"/>
            <a:ext cx="5157216" cy="438912"/>
          </a:xfrm>
          <a:prstGeom prst="rect">
            <a:avLst/>
          </a:prstGeom>
          <a:solidFill>
            <a:srgbClr val="F0DFE3"/>
          </a:solidFill>
          <a:ln w="12700">
            <a:solidFill>
              <a:srgbClr val="F0DFE3">
                <a:alpha val="0"/>
              </a:srgbClr>
            </a:solidFill>
            <a:prstDash val="solid"/>
          </a:ln>
        </p:spPr>
      </p:sp>
      <p:sp>
        <p:nvSpPr>
          <p:cNvPr id="9" name="Shape 7"/>
          <p:cNvSpPr/>
          <p:nvPr/>
        </p:nvSpPr>
        <p:spPr>
          <a:xfrm>
            <a:off x="502920" y="2478024"/>
            <a:ext cx="1406513" cy="438912"/>
          </a:xfrm>
          <a:prstGeom prst="rect">
            <a:avLst/>
          </a:prstGeom>
          <a:solidFill>
            <a:srgbClr val="6D2E46"/>
          </a:solidFill>
          <a:ln w="12700">
            <a:solidFill>
              <a:srgbClr val="6D2E46">
                <a:alpha val="0"/>
              </a:srgbClr>
            </a:solidFill>
            <a:prstDash val="solid"/>
          </a:ln>
        </p:spPr>
      </p:sp>
      <p:sp>
        <p:nvSpPr>
          <p:cNvPr id="10" name="Text 8"/>
          <p:cNvSpPr/>
          <p:nvPr/>
        </p:nvSpPr>
        <p:spPr>
          <a:xfrm>
            <a:off x="502920" y="3017520"/>
            <a:ext cx="2231136" cy="256032"/>
          </a:xfrm>
          <a:prstGeom prst="rect">
            <a:avLst/>
          </a:prstGeom>
          <a:noFill/>
          <a:ln/>
        </p:spPr>
        <p:txBody>
          <a:bodyPr wrap="square" lIns="0" tIns="0" rIns="0" bIns="0" rtlCol="0" anchor="ctr"/>
          <a:lstStyle/>
          <a:p>
            <a:pPr indent="0" marL="0">
              <a:buNone/>
            </a:pPr>
            <a:r>
              <a:rPr lang="en-US" sz="1700" b="1" dirty="0">
                <a:solidFill>
                  <a:srgbClr val="6D2E46"/>
                </a:solidFill>
                <a:latin typeface="Calibri" pitchFamily="34" charset="0"/>
                <a:ea typeface="Calibri" pitchFamily="34" charset="-122"/>
                <a:cs typeface="Calibri" pitchFamily="34" charset="-120"/>
              </a:rPr>
              <a:t>9 out of stock</a:t>
            </a:r>
            <a:endParaRPr lang="en-US" sz="1700" dirty="0"/>
          </a:p>
        </p:txBody>
      </p:sp>
      <p:sp>
        <p:nvSpPr>
          <p:cNvPr id="11" name="Text 9"/>
          <p:cNvSpPr/>
          <p:nvPr/>
        </p:nvSpPr>
        <p:spPr>
          <a:xfrm>
            <a:off x="2980944" y="3017520"/>
            <a:ext cx="2560320" cy="256032"/>
          </a:xfrm>
          <a:prstGeom prst="rect">
            <a:avLst/>
          </a:prstGeom>
          <a:noFill/>
          <a:ln/>
        </p:spPr>
        <p:txBody>
          <a:bodyPr wrap="square" lIns="0" tIns="0" rIns="0" bIns="0" rtlCol="0" anchor="ctr"/>
          <a:lstStyle/>
          <a:p>
            <a:pPr indent="0" marL="0">
              <a:buNone/>
            </a:pPr>
            <a:r>
              <a:rPr lang="en-US" sz="1700" dirty="0">
                <a:solidFill>
                  <a:srgbClr val="6F6268"/>
                </a:solidFill>
                <a:latin typeface="Calibri" pitchFamily="34" charset="0"/>
                <a:ea typeface="Calibri" pitchFamily="34" charset="-122"/>
                <a:cs typeface="Calibri" pitchFamily="34" charset="-120"/>
              </a:rPr>
              <a:t>24 low stock</a:t>
            </a:r>
            <a:endParaRPr lang="en-US" sz="1700" dirty="0"/>
          </a:p>
        </p:txBody>
      </p:sp>
      <p:sp>
        <p:nvSpPr>
          <p:cNvPr id="12" name="Text 10"/>
          <p:cNvSpPr/>
          <p:nvPr/>
        </p:nvSpPr>
        <p:spPr>
          <a:xfrm>
            <a:off x="502920" y="3602736"/>
            <a:ext cx="5394960" cy="365760"/>
          </a:xfrm>
          <a:prstGeom prst="rect">
            <a:avLst/>
          </a:prstGeom>
          <a:noFill/>
          <a:ln/>
        </p:spPr>
        <p:txBody>
          <a:bodyPr wrap="square" lIns="0" tIns="0" rIns="0" bIns="0" rtlCol="0" anchor="ctr"/>
          <a:lstStyle/>
          <a:p>
            <a:pPr indent="0" marL="0">
              <a:buNone/>
            </a:pPr>
            <a:r>
              <a:rPr lang="en-US" sz="2600" b="1" dirty="0">
                <a:solidFill>
                  <a:srgbClr val="6D2E46"/>
                </a:solidFill>
                <a:latin typeface="Calibri" pitchFamily="34" charset="0"/>
                <a:ea typeface="Calibri" pitchFamily="34" charset="-122"/>
                <a:cs typeface="Calibri" pitchFamily="34" charset="-120"/>
              </a:rPr>
              <a:t>€61.6k historical channel sales</a:t>
            </a:r>
            <a:endParaRPr lang="en-US" sz="2600" dirty="0"/>
          </a:p>
        </p:txBody>
      </p:sp>
      <p:sp>
        <p:nvSpPr>
          <p:cNvPr id="13" name="Text 11"/>
          <p:cNvSpPr/>
          <p:nvPr/>
        </p:nvSpPr>
        <p:spPr>
          <a:xfrm>
            <a:off x="502920" y="4114800"/>
            <a:ext cx="5349240" cy="886968"/>
          </a:xfrm>
          <a:prstGeom prst="rect">
            <a:avLst/>
          </a:prstGeom>
          <a:noFill/>
          <a:ln/>
        </p:spPr>
        <p:txBody>
          <a:bodyPr wrap="square" lIns="0" tIns="0" rIns="0" bIns="0" rtlCol="0" anchor="ctr"/>
          <a:lstStyle/>
          <a:p>
            <a:pPr indent="0" marL="0">
              <a:buNone/>
            </a:pPr>
            <a:r>
              <a:rPr lang="en-US" sz="1720" dirty="0">
                <a:solidFill>
                  <a:srgbClr val="6F6268"/>
                </a:solidFill>
                <a:latin typeface="Calibri" pitchFamily="34" charset="0"/>
                <a:ea typeface="Calibri" pitchFamily="34" charset="-122"/>
                <a:cs typeface="Calibri" pitchFamily="34" charset="-120"/>
              </a:rPr>
              <a:t>For 9 cases recorded as out of stock.</a:t>
            </a:r>
            <a:endParaRPr lang="en-US" sz="1720" dirty="0"/>
          </a:p>
          <a:p>
            <a:pPr indent="0" marL="0">
              <a:buNone/>
            </a:pPr>
            <a:r>
              <a:rPr lang="en-US" sz="1720" dirty="0">
                <a:solidFill>
                  <a:srgbClr val="6F6268"/>
                </a:solidFill>
                <a:latin typeface="Calibri" pitchFamily="34" charset="0"/>
                <a:ea typeface="Calibri" pitchFamily="34" charset="-122"/>
                <a:cs typeface="Calibri" pitchFamily="34" charset="-120"/>
              </a:rPr>
              <a:t>Sales cover the supplied 12-week window;</a:t>
            </a:r>
            <a:endParaRPr lang="en-US" sz="1720" dirty="0"/>
          </a:p>
          <a:p>
            <a:pPr indent="0" marL="0">
              <a:buNone/>
            </a:pPr>
            <a:r>
              <a:rPr lang="en-US" sz="1720" dirty="0">
                <a:solidFill>
                  <a:srgbClr val="6F6268"/>
                </a:solidFill>
                <a:latin typeface="Calibri" pitchFamily="34" charset="0"/>
                <a:ea typeface="Calibri" pitchFamily="34" charset="-122"/>
                <a:cs typeface="Calibri" pitchFamily="34" charset="-120"/>
              </a:rPr>
              <a:t>stock timing and any lost sales are unknown.</a:t>
            </a:r>
            <a:endParaRPr lang="en-US" sz="1720" dirty="0"/>
          </a:p>
        </p:txBody>
      </p:sp>
      <p:sp>
        <p:nvSpPr>
          <p:cNvPr id="14" name="Shape 12"/>
          <p:cNvSpPr/>
          <p:nvPr/>
        </p:nvSpPr>
        <p:spPr>
          <a:xfrm>
            <a:off x="6245352" y="2066544"/>
            <a:ext cx="5440680" cy="1444752"/>
          </a:xfrm>
          <a:prstGeom prst="roundRect">
            <a:avLst>
              <a:gd name="adj" fmla="val 7595"/>
            </a:avLst>
          </a:prstGeom>
          <a:solidFill>
            <a:srgbClr val="FFFDFA"/>
          </a:solidFill>
          <a:ln w="12700">
            <a:solidFill>
              <a:srgbClr val="FFFDFA">
                <a:alpha val="0"/>
              </a:srgbClr>
            </a:solidFill>
            <a:prstDash val="solid"/>
          </a:ln>
        </p:spPr>
      </p:sp>
      <p:sp>
        <p:nvSpPr>
          <p:cNvPr id="15" name="Shape 13"/>
          <p:cNvSpPr/>
          <p:nvPr/>
        </p:nvSpPr>
        <p:spPr>
          <a:xfrm>
            <a:off x="6455664" y="2304288"/>
            <a:ext cx="329184" cy="329184"/>
          </a:xfrm>
          <a:prstGeom prst="ellipse">
            <a:avLst/>
          </a:prstGeom>
          <a:solidFill>
            <a:srgbClr val="6D2E46"/>
          </a:solidFill>
          <a:ln w="12700">
            <a:solidFill>
              <a:srgbClr val="6D2E46">
                <a:alpha val="0"/>
              </a:srgbClr>
            </a:solidFill>
            <a:prstDash val="solid"/>
          </a:ln>
        </p:spPr>
      </p:sp>
      <p:sp>
        <p:nvSpPr>
          <p:cNvPr id="16" name="Text 14"/>
          <p:cNvSpPr/>
          <p:nvPr/>
        </p:nvSpPr>
        <p:spPr>
          <a:xfrm>
            <a:off x="6455664" y="2304288"/>
            <a:ext cx="329184" cy="329184"/>
          </a:xfrm>
          <a:prstGeom prst="rect">
            <a:avLst/>
          </a:prstGeom>
          <a:noFill/>
          <a:ln/>
        </p:spPr>
        <p:txBody>
          <a:bodyPr wrap="square" lIns="0" tIns="0" rIns="0" bIns="0" rtlCol="0" anchor="ctr"/>
          <a:lstStyle/>
          <a:p>
            <a:pPr algn="ctr" indent="0" marL="0">
              <a:buNone/>
            </a:pPr>
            <a:r>
              <a:rPr lang="en-US" sz="1700" b="1" dirty="0">
                <a:solidFill>
                  <a:srgbClr val="FFFDFA"/>
                </a:solidFill>
                <a:latin typeface="Calibri" pitchFamily="34" charset="0"/>
                <a:ea typeface="Calibri" pitchFamily="34" charset="-122"/>
                <a:cs typeface="Calibri" pitchFamily="34" charset="-120"/>
              </a:rPr>
              <a:t>A</a:t>
            </a:r>
            <a:endParaRPr lang="en-US" sz="1700" dirty="0"/>
          </a:p>
        </p:txBody>
      </p:sp>
      <p:sp>
        <p:nvSpPr>
          <p:cNvPr id="17" name="Text 15"/>
          <p:cNvSpPr/>
          <p:nvPr/>
        </p:nvSpPr>
        <p:spPr>
          <a:xfrm>
            <a:off x="6967728" y="2249424"/>
            <a:ext cx="4434840" cy="292608"/>
          </a:xfrm>
          <a:prstGeom prst="rect">
            <a:avLst/>
          </a:prstGeom>
          <a:noFill/>
          <a:ln/>
        </p:spPr>
        <p:txBody>
          <a:bodyPr wrap="square" lIns="0" tIns="0" rIns="0" bIns="0" rtlCol="0" anchor="ctr"/>
          <a:lstStyle/>
          <a:p>
            <a:pPr indent="0" marL="0">
              <a:buNone/>
            </a:pPr>
            <a:r>
              <a:rPr lang="en-US" sz="2000" b="1" dirty="0">
                <a:solidFill>
                  <a:srgbClr val="30282E"/>
                </a:solidFill>
                <a:latin typeface="Calibri" pitchFamily="34" charset="0"/>
                <a:ea typeface="Calibri" pitchFamily="34" charset="-122"/>
                <a:cs typeface="Calibri" pitchFamily="34" charset="-120"/>
              </a:rPr>
              <a:t>HC0070 | Validate supply</a:t>
            </a:r>
            <a:endParaRPr lang="en-US" sz="2000" dirty="0"/>
          </a:p>
        </p:txBody>
      </p:sp>
      <p:sp>
        <p:nvSpPr>
          <p:cNvPr id="18" name="Text 16"/>
          <p:cNvSpPr/>
          <p:nvPr/>
        </p:nvSpPr>
        <p:spPr>
          <a:xfrm>
            <a:off x="6455664" y="2752344"/>
            <a:ext cx="4727448" cy="530352"/>
          </a:xfrm>
          <a:prstGeom prst="rect">
            <a:avLst/>
          </a:prstGeom>
          <a:noFill/>
          <a:ln/>
        </p:spPr>
        <p:txBody>
          <a:bodyPr wrap="square" lIns="0" tIns="0" rIns="0" bIns="0" rtlCol="0" anchor="ctr"/>
          <a:lstStyle/>
          <a:p>
            <a:pPr indent="0" marL="0">
              <a:buNone/>
            </a:pPr>
            <a:r>
              <a:rPr lang="en-US" sz="1720" dirty="0">
                <a:solidFill>
                  <a:srgbClr val="30282E"/>
                </a:solidFill>
                <a:latin typeface="Calibri" pitchFamily="34" charset="0"/>
                <a:ea typeface="Calibri" pitchFamily="34" charset="-122"/>
                <a:cs typeface="Calibri" pitchFamily="34" charset="-120"/>
              </a:rPr>
              <a:t>Out of stock; market trend +26.3%.</a:t>
            </a:r>
            <a:endParaRPr lang="en-US" sz="1720" dirty="0"/>
          </a:p>
          <a:p>
            <a:pPr indent="0" marL="0">
              <a:buNone/>
            </a:pPr>
            <a:r>
              <a:rPr lang="en-US" sz="1720" dirty="0">
                <a:solidFill>
                  <a:srgbClr val="30282E"/>
                </a:solidFill>
                <a:latin typeface="Calibri" pitchFamily="34" charset="0"/>
                <a:ea typeface="Calibri" pitchFamily="34" charset="-122"/>
                <a:cs typeface="Calibri" pitchFamily="34" charset="-120"/>
              </a:rPr>
              <a:t>Check physical stock, feed accuracy and lead time.</a:t>
            </a:r>
            <a:endParaRPr lang="en-US" sz="1720" dirty="0"/>
          </a:p>
        </p:txBody>
      </p:sp>
      <p:sp>
        <p:nvSpPr>
          <p:cNvPr id="19" name="Shape 17"/>
          <p:cNvSpPr/>
          <p:nvPr/>
        </p:nvSpPr>
        <p:spPr>
          <a:xfrm>
            <a:off x="6245352" y="3749040"/>
            <a:ext cx="5440680" cy="1517904"/>
          </a:xfrm>
          <a:prstGeom prst="roundRect">
            <a:avLst>
              <a:gd name="adj" fmla="val 7229"/>
            </a:avLst>
          </a:prstGeom>
          <a:solidFill>
            <a:srgbClr val="F0DFE3"/>
          </a:solidFill>
          <a:ln w="12700">
            <a:solidFill>
              <a:srgbClr val="F0DFE3">
                <a:alpha val="0"/>
              </a:srgbClr>
            </a:solidFill>
            <a:prstDash val="solid"/>
          </a:ln>
        </p:spPr>
      </p:sp>
      <p:sp>
        <p:nvSpPr>
          <p:cNvPr id="20" name="Shape 18"/>
          <p:cNvSpPr/>
          <p:nvPr/>
        </p:nvSpPr>
        <p:spPr>
          <a:xfrm>
            <a:off x="6455664" y="3986784"/>
            <a:ext cx="329184" cy="329184"/>
          </a:xfrm>
          <a:prstGeom prst="ellipse">
            <a:avLst/>
          </a:prstGeom>
          <a:solidFill>
            <a:srgbClr val="6D2E46"/>
          </a:solidFill>
          <a:ln w="12700">
            <a:solidFill>
              <a:srgbClr val="6D2E46">
                <a:alpha val="0"/>
              </a:srgbClr>
            </a:solidFill>
            <a:prstDash val="solid"/>
          </a:ln>
        </p:spPr>
      </p:sp>
      <p:sp>
        <p:nvSpPr>
          <p:cNvPr id="21" name="Text 19"/>
          <p:cNvSpPr/>
          <p:nvPr/>
        </p:nvSpPr>
        <p:spPr>
          <a:xfrm>
            <a:off x="6455664" y="3986784"/>
            <a:ext cx="329184" cy="329184"/>
          </a:xfrm>
          <a:prstGeom prst="rect">
            <a:avLst/>
          </a:prstGeom>
          <a:noFill/>
          <a:ln/>
        </p:spPr>
        <p:txBody>
          <a:bodyPr wrap="square" lIns="0" tIns="0" rIns="0" bIns="0" rtlCol="0" anchor="ctr"/>
          <a:lstStyle/>
          <a:p>
            <a:pPr algn="ctr" indent="0" marL="0">
              <a:buNone/>
            </a:pPr>
            <a:r>
              <a:rPr lang="en-US" sz="1700" b="1" dirty="0">
                <a:solidFill>
                  <a:srgbClr val="FFFDFA"/>
                </a:solidFill>
                <a:latin typeface="Calibri" pitchFamily="34" charset="0"/>
                <a:ea typeface="Calibri" pitchFamily="34" charset="-122"/>
                <a:cs typeface="Calibri" pitchFamily="34" charset="-120"/>
              </a:rPr>
              <a:t>B</a:t>
            </a:r>
            <a:endParaRPr lang="en-US" sz="1700" dirty="0"/>
          </a:p>
        </p:txBody>
      </p:sp>
      <p:sp>
        <p:nvSpPr>
          <p:cNvPr id="22" name="Text 20"/>
          <p:cNvSpPr/>
          <p:nvPr/>
        </p:nvSpPr>
        <p:spPr>
          <a:xfrm>
            <a:off x="6967728" y="3941064"/>
            <a:ext cx="4443984" cy="301752"/>
          </a:xfrm>
          <a:prstGeom prst="rect">
            <a:avLst/>
          </a:prstGeom>
          <a:noFill/>
          <a:ln/>
        </p:spPr>
        <p:txBody>
          <a:bodyPr wrap="square" lIns="0" tIns="0" rIns="0" bIns="0" rtlCol="0" anchor="ctr"/>
          <a:lstStyle/>
          <a:p>
            <a:pPr indent="0" marL="0">
              <a:buNone/>
            </a:pPr>
            <a:r>
              <a:rPr lang="en-US" sz="2000" b="1" dirty="0">
                <a:solidFill>
                  <a:srgbClr val="30282E"/>
                </a:solidFill>
                <a:latin typeface="Calibri" pitchFamily="34" charset="0"/>
                <a:ea typeface="Calibri" pitchFamily="34" charset="-122"/>
                <a:cs typeface="Calibri" pitchFamily="34" charset="-120"/>
              </a:rPr>
              <a:t>HC0002 | Validate the listing</a:t>
            </a:r>
            <a:endParaRPr lang="en-US" sz="2000" dirty="0"/>
          </a:p>
        </p:txBody>
      </p:sp>
      <p:sp>
        <p:nvSpPr>
          <p:cNvPr id="23" name="Text 21"/>
          <p:cNvSpPr/>
          <p:nvPr/>
        </p:nvSpPr>
        <p:spPr>
          <a:xfrm>
            <a:off x="6455664" y="4462272"/>
            <a:ext cx="4727448" cy="557784"/>
          </a:xfrm>
          <a:prstGeom prst="rect">
            <a:avLst/>
          </a:prstGeom>
          <a:noFill/>
          <a:ln/>
        </p:spPr>
        <p:txBody>
          <a:bodyPr wrap="square" lIns="0" tIns="0" rIns="0" bIns="0" rtlCol="0" anchor="ctr"/>
          <a:lstStyle/>
          <a:p>
            <a:pPr indent="0" marL="0">
              <a:buNone/>
            </a:pPr>
            <a:r>
              <a:rPr lang="en-US" sz="1720" dirty="0">
                <a:solidFill>
                  <a:srgbClr val="30282E"/>
                </a:solidFill>
                <a:latin typeface="Calibri" pitchFamily="34" charset="0"/>
                <a:ea typeface="Calibri" pitchFamily="34" charset="-122"/>
                <a:cs typeface="Calibri" pitchFamily="34" charset="-120"/>
              </a:rPr>
              <a:t>In stock, €0 recorded sales; Summer product.</a:t>
            </a:r>
            <a:endParaRPr lang="en-US" sz="1720" dirty="0"/>
          </a:p>
          <a:p>
            <a:pPr indent="0" marL="0">
              <a:buNone/>
            </a:pPr>
            <a:r>
              <a:rPr lang="en-US" sz="1720" dirty="0">
                <a:solidFill>
                  <a:srgbClr val="30282E"/>
                </a:solidFill>
                <a:latin typeface="Calibri" pitchFamily="34" charset="0"/>
                <a:ea typeface="Calibri" pitchFamily="34" charset="-122"/>
                <a:cs typeface="Calibri" pitchFamily="34" charset="-120"/>
              </a:rPr>
              <a:t>Check the listing, sales feed and selling season.</a:t>
            </a:r>
            <a:endParaRPr lang="en-US" sz="1720" dirty="0"/>
          </a:p>
        </p:txBody>
      </p:sp>
      <p:sp>
        <p:nvSpPr>
          <p:cNvPr id="24" name="Shape 22"/>
          <p:cNvSpPr/>
          <p:nvPr/>
        </p:nvSpPr>
        <p:spPr>
          <a:xfrm>
            <a:off x="502920" y="5614416"/>
            <a:ext cx="11183112" cy="420624"/>
          </a:xfrm>
          <a:prstGeom prst="rect">
            <a:avLst/>
          </a:prstGeom>
          <a:solidFill>
            <a:srgbClr val="F0DFE3"/>
          </a:solidFill>
          <a:ln w="12700">
            <a:solidFill>
              <a:srgbClr val="F0DFE3">
                <a:alpha val="0"/>
              </a:srgbClr>
            </a:solidFill>
            <a:prstDash val="solid"/>
          </a:ln>
        </p:spPr>
      </p:sp>
      <p:sp>
        <p:nvSpPr>
          <p:cNvPr id="25" name="Text 23"/>
          <p:cNvSpPr/>
          <p:nvPr/>
        </p:nvSpPr>
        <p:spPr>
          <a:xfrm>
            <a:off x="667512" y="5705856"/>
            <a:ext cx="10853928" cy="228600"/>
          </a:xfrm>
          <a:prstGeom prst="rect">
            <a:avLst/>
          </a:prstGeom>
          <a:noFill/>
          <a:ln/>
        </p:spPr>
        <p:txBody>
          <a:bodyPr wrap="square" lIns="0" tIns="0" rIns="0" bIns="0" rtlCol="0" anchor="ctr"/>
          <a:lstStyle/>
          <a:p>
            <a:pPr indent="0" marL="0">
              <a:buNone/>
            </a:pPr>
            <a:r>
              <a:rPr lang="en-US" sz="1540" b="1" dirty="0">
                <a:solidFill>
                  <a:srgbClr val="502737"/>
                </a:solidFill>
                <a:latin typeface="Calibri" pitchFamily="34" charset="0"/>
                <a:ea typeface="Calibri" pitchFamily="34" charset="-122"/>
                <a:cs typeface="Calibri" pitchFamily="34" charset="-120"/>
              </a:rPr>
              <a:t>What is missing: stock duration, live listing confirmation and comparable periods—not another promotion rule.</a:t>
            </a:r>
            <a:endParaRPr lang="en-US" sz="15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6F6268"/>
                </a:solidFill>
                <a:latin typeface="Calibri" pitchFamily="34" charset="0"/>
                <a:ea typeface="Calibri" pitchFamily="34" charset="-122"/>
                <a:cs typeface="Calibri" pitchFamily="34" charset="-120"/>
              </a:rPr>
              <a:t>Source: review.json · primary-action and shortlist scenario calculations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6F6268"/>
                </a:solidFill>
                <a:latin typeface="Calibri" pitchFamily="34" charset="0"/>
                <a:ea typeface="Calibri" pitchFamily="34" charset="-122"/>
                <a:cs typeface="Calibri" pitchFamily="34" charset="-120"/>
              </a:rPr>
              <a:t>06 / 10</a:t>
            </a:r>
            <a:endParaRPr lang="en-US" sz="1050" dirty="0"/>
          </a:p>
        </p:txBody>
      </p:sp>
      <p:sp>
        <p:nvSpPr>
          <p:cNvPr id="4" name="Text 2"/>
          <p:cNvSpPr/>
          <p:nvPr/>
        </p:nvSpPr>
        <p:spPr>
          <a:xfrm>
            <a:off x="502920" y="457200"/>
            <a:ext cx="9601200" cy="173736"/>
          </a:xfrm>
          <a:prstGeom prst="rect">
            <a:avLst/>
          </a:prstGeom>
          <a:noFill/>
          <a:ln/>
        </p:spPr>
        <p:txBody>
          <a:bodyPr wrap="square" lIns="0" tIns="0" rIns="0" bIns="0" rtlCol="0" anchor="ctr"/>
          <a:lstStyle/>
          <a:p>
            <a:pPr indent="0" marL="0">
              <a:buNone/>
            </a:pPr>
            <a:r>
              <a:rPr lang="en-US" sz="1050" b="1" spc="130" kern="0" dirty="0">
                <a:solidFill>
                  <a:srgbClr val="6D2E46"/>
                </a:solidFill>
                <a:latin typeface="Calibri" pitchFamily="34" charset="0"/>
                <a:ea typeface="Calibri" pitchFamily="34" charset="-122"/>
                <a:cs typeface="Calibri" pitchFamily="34" charset="-120"/>
              </a:rPr>
              <a:t>ZENBEAUTY RETAIL  /  CATEGORY REVIEW</a:t>
            </a:r>
            <a:endParaRPr lang="en-US" sz="1050" dirty="0"/>
          </a:p>
        </p:txBody>
      </p:sp>
      <p:sp>
        <p:nvSpPr>
          <p:cNvPr id="5" name="Text 3"/>
          <p:cNvSpPr/>
          <p:nvPr/>
        </p:nvSpPr>
        <p:spPr>
          <a:xfrm>
            <a:off x="502920" y="813816"/>
            <a:ext cx="11183112" cy="603504"/>
          </a:xfrm>
          <a:prstGeom prst="rect">
            <a:avLst/>
          </a:prstGeom>
          <a:noFill/>
          <a:ln/>
        </p:spPr>
        <p:txBody>
          <a:bodyPr wrap="square" lIns="0" tIns="0" rIns="0" bIns="0" rtlCol="0" anchor="ctr"/>
          <a:lstStyle/>
          <a:p>
            <a:pPr indent="0" marL="0">
              <a:buNone/>
            </a:pPr>
            <a:r>
              <a:rPr lang="en-US" sz="3200" b="1" dirty="0">
                <a:solidFill>
                  <a:srgbClr val="30282E"/>
                </a:solidFill>
                <a:latin typeface="Calibri" pitchFamily="34" charset="0"/>
                <a:ea typeface="Calibri" pitchFamily="34" charset="-122"/>
                <a:cs typeface="Calibri" pitchFamily="34" charset="-120"/>
              </a:rPr>
              <a:t>Shortlist economics are smaller than the full scenario pool</a:t>
            </a:r>
            <a:endParaRPr lang="en-US" sz="3200" dirty="0"/>
          </a:p>
        </p:txBody>
      </p:sp>
      <p:sp>
        <p:nvSpPr>
          <p:cNvPr id="6" name="Text 4"/>
          <p:cNvSpPr/>
          <p:nvPr/>
        </p:nvSpPr>
        <p:spPr>
          <a:xfrm>
            <a:off x="502920" y="1527048"/>
            <a:ext cx="11091672" cy="365760"/>
          </a:xfrm>
          <a:prstGeom prst="rect">
            <a:avLst/>
          </a:prstGeom>
          <a:noFill/>
          <a:ln/>
        </p:spPr>
        <p:txBody>
          <a:bodyPr wrap="square" lIns="0" tIns="0" rIns="0" bIns="0" rtlCol="0" anchor="ctr"/>
          <a:lstStyle/>
          <a:p>
            <a:pPr indent="0" marL="0">
              <a:buNone/>
            </a:pPr>
            <a:r>
              <a:rPr lang="en-US" sz="1750" dirty="0">
                <a:solidFill>
                  <a:srgbClr val="6F6268"/>
                </a:solidFill>
                <a:latin typeface="Calibri" pitchFamily="34" charset="0"/>
                <a:ea typeface="Calibri" pitchFamily="34" charset="-122"/>
                <a:cs typeface="Calibri" pitchFamily="34" charset="-120"/>
              </a:rPr>
              <a:t>Revenue and gross profit use independent full-queue scales. Neither is an expected return.</a:t>
            </a:r>
            <a:endParaRPr lang="en-US" sz="1750" dirty="0"/>
          </a:p>
        </p:txBody>
      </p:sp>
      <p:sp>
        <p:nvSpPr>
          <p:cNvPr id="7" name="Shape 5"/>
          <p:cNvSpPr/>
          <p:nvPr/>
        </p:nvSpPr>
        <p:spPr>
          <a:xfrm>
            <a:off x="502920" y="2121408"/>
            <a:ext cx="5431536" cy="3182112"/>
          </a:xfrm>
          <a:prstGeom prst="roundRect">
            <a:avLst>
              <a:gd name="adj" fmla="val 3448"/>
            </a:avLst>
          </a:prstGeom>
          <a:solidFill>
            <a:srgbClr val="FFFDFA"/>
          </a:solidFill>
          <a:ln w="12700">
            <a:solidFill>
              <a:srgbClr val="FFFDFA">
                <a:alpha val="0"/>
              </a:srgbClr>
            </a:solidFill>
            <a:prstDash val="solid"/>
          </a:ln>
        </p:spPr>
      </p:sp>
      <p:sp>
        <p:nvSpPr>
          <p:cNvPr id="8" name="Text 6"/>
          <p:cNvSpPr/>
          <p:nvPr/>
        </p:nvSpPr>
        <p:spPr>
          <a:xfrm>
            <a:off x="722376" y="2359152"/>
            <a:ext cx="4992624" cy="329184"/>
          </a:xfrm>
          <a:prstGeom prst="rect">
            <a:avLst/>
          </a:prstGeom>
          <a:noFill/>
          <a:ln/>
        </p:spPr>
        <p:txBody>
          <a:bodyPr wrap="square" lIns="0" tIns="0" rIns="0" bIns="0" rtlCol="0" anchor="ctr"/>
          <a:lstStyle/>
          <a:p>
            <a:pPr indent="0" marL="0">
              <a:buNone/>
            </a:pPr>
            <a:r>
              <a:rPr lang="en-US" sz="2300" b="1" dirty="0">
                <a:solidFill>
                  <a:srgbClr val="6D2E46"/>
                </a:solidFill>
                <a:latin typeface="Calibri" pitchFamily="34" charset="0"/>
                <a:ea typeface="Calibri" pitchFamily="34" charset="-122"/>
                <a:cs typeface="Calibri" pitchFamily="34" charset="-120"/>
              </a:rPr>
              <a:t>Revenue scenario · 12 weeks</a:t>
            </a:r>
            <a:endParaRPr lang="en-US" sz="2300" dirty="0"/>
          </a:p>
        </p:txBody>
      </p:sp>
      <p:sp>
        <p:nvSpPr>
          <p:cNvPr id="9" name="Text 7"/>
          <p:cNvSpPr/>
          <p:nvPr/>
        </p:nvSpPr>
        <p:spPr>
          <a:xfrm>
            <a:off x="722376" y="2852928"/>
            <a:ext cx="3438144" cy="246888"/>
          </a:xfrm>
          <a:prstGeom prst="rect">
            <a:avLst/>
          </a:prstGeom>
          <a:noFill/>
          <a:ln/>
        </p:spPr>
        <p:txBody>
          <a:bodyPr wrap="square" lIns="0" tIns="0" rIns="0" bIns="0" rtlCol="0" anchor="ctr"/>
          <a:lstStyle/>
          <a:p>
            <a:pPr indent="0" marL="0">
              <a:buNone/>
            </a:pPr>
            <a:r>
              <a:rPr lang="en-US" sz="1670" dirty="0">
                <a:solidFill>
                  <a:srgbClr val="30282E"/>
                </a:solidFill>
                <a:latin typeface="Calibri" pitchFamily="34" charset="0"/>
                <a:ea typeface="Calibri" pitchFamily="34" charset="-122"/>
                <a:cs typeface="Calibri" pitchFamily="34" charset="-120"/>
              </a:rPr>
              <a:t>Full queue (50 cases)</a:t>
            </a:r>
            <a:endParaRPr lang="en-US" sz="1670" dirty="0"/>
          </a:p>
        </p:txBody>
      </p:sp>
      <p:sp>
        <p:nvSpPr>
          <p:cNvPr id="10" name="Text 8"/>
          <p:cNvSpPr/>
          <p:nvPr/>
        </p:nvSpPr>
        <p:spPr>
          <a:xfrm>
            <a:off x="4160520" y="2816352"/>
            <a:ext cx="1453896" cy="338328"/>
          </a:xfrm>
          <a:prstGeom prst="rect">
            <a:avLst/>
          </a:prstGeom>
          <a:noFill/>
          <a:ln/>
        </p:spPr>
        <p:txBody>
          <a:bodyPr wrap="square" lIns="0" tIns="0" rIns="0" bIns="0" rtlCol="0" anchor="ctr"/>
          <a:lstStyle/>
          <a:p>
            <a:pPr algn="r" indent="0" marL="0">
              <a:buNone/>
            </a:pPr>
            <a:r>
              <a:rPr lang="en-US" sz="2400" b="1" dirty="0">
                <a:solidFill>
                  <a:srgbClr val="6F6268"/>
                </a:solidFill>
                <a:latin typeface="Calibri" pitchFamily="34" charset="0"/>
                <a:ea typeface="Calibri" pitchFamily="34" charset="-122"/>
                <a:cs typeface="Calibri" pitchFamily="34" charset="-120"/>
              </a:rPr>
              <a:t>€93.0k</a:t>
            </a:r>
            <a:endParaRPr lang="en-US" sz="2400" dirty="0"/>
          </a:p>
        </p:txBody>
      </p:sp>
      <p:sp>
        <p:nvSpPr>
          <p:cNvPr id="11" name="Shape 9"/>
          <p:cNvSpPr/>
          <p:nvPr/>
        </p:nvSpPr>
        <p:spPr>
          <a:xfrm>
            <a:off x="722376" y="3273552"/>
            <a:ext cx="4992624" cy="192024"/>
          </a:xfrm>
          <a:prstGeom prst="rect">
            <a:avLst/>
          </a:prstGeom>
          <a:solidFill>
            <a:srgbClr val="E4DAD4"/>
          </a:solidFill>
          <a:ln w="12700">
            <a:solidFill>
              <a:srgbClr val="E4DAD4">
                <a:alpha val="0"/>
              </a:srgbClr>
            </a:solidFill>
            <a:prstDash val="solid"/>
          </a:ln>
        </p:spPr>
      </p:sp>
      <p:sp>
        <p:nvSpPr>
          <p:cNvPr id="12" name="Text 10"/>
          <p:cNvSpPr/>
          <p:nvPr/>
        </p:nvSpPr>
        <p:spPr>
          <a:xfrm>
            <a:off x="722376" y="3776472"/>
            <a:ext cx="4983480" cy="256032"/>
          </a:xfrm>
          <a:prstGeom prst="rect">
            <a:avLst/>
          </a:prstGeom>
          <a:noFill/>
          <a:ln/>
        </p:spPr>
        <p:txBody>
          <a:bodyPr wrap="square" lIns="0" tIns="0" rIns="0" bIns="0" rtlCol="0" anchor="ctr"/>
          <a:lstStyle/>
          <a:p>
            <a:pPr indent="0" marL="0">
              <a:buNone/>
            </a:pPr>
            <a:r>
              <a:rPr lang="en-US" sz="1700" b="1" dirty="0">
                <a:solidFill>
                  <a:srgbClr val="30282E"/>
                </a:solidFill>
                <a:latin typeface="Calibri" pitchFamily="34" charset="0"/>
                <a:ea typeface="Calibri" pitchFamily="34" charset="-122"/>
                <a:cs typeface="Calibri" pitchFamily="34" charset="-120"/>
              </a:rPr>
              <a:t>Within the five-product shortlist</a:t>
            </a:r>
            <a:endParaRPr lang="en-US" sz="1700" dirty="0"/>
          </a:p>
        </p:txBody>
      </p:sp>
      <p:sp>
        <p:nvSpPr>
          <p:cNvPr id="13" name="Text 11"/>
          <p:cNvSpPr/>
          <p:nvPr/>
        </p:nvSpPr>
        <p:spPr>
          <a:xfrm>
            <a:off x="722376" y="4187952"/>
            <a:ext cx="2788920" cy="557784"/>
          </a:xfrm>
          <a:prstGeom prst="rect">
            <a:avLst/>
          </a:prstGeom>
          <a:noFill/>
          <a:ln/>
        </p:spPr>
        <p:txBody>
          <a:bodyPr wrap="square" lIns="0" tIns="0" rIns="0" bIns="0" rtlCol="0" anchor="ctr"/>
          <a:lstStyle/>
          <a:p>
            <a:pPr indent="0" marL="0">
              <a:buNone/>
            </a:pPr>
            <a:r>
              <a:rPr lang="en-US" sz="4200" b="1" dirty="0">
                <a:solidFill>
                  <a:srgbClr val="6D2E46"/>
                </a:solidFill>
                <a:latin typeface="Calibri" pitchFamily="34" charset="0"/>
                <a:ea typeface="Calibri" pitchFamily="34" charset="-122"/>
                <a:cs typeface="Calibri" pitchFamily="34" charset="-120"/>
              </a:rPr>
              <a:t>€10.0k</a:t>
            </a:r>
            <a:endParaRPr lang="en-US" sz="4200" dirty="0"/>
          </a:p>
        </p:txBody>
      </p:sp>
      <p:sp>
        <p:nvSpPr>
          <p:cNvPr id="14" name="Text 12"/>
          <p:cNvSpPr/>
          <p:nvPr/>
        </p:nvSpPr>
        <p:spPr>
          <a:xfrm>
            <a:off x="3584448" y="4306824"/>
            <a:ext cx="1938528" cy="274320"/>
          </a:xfrm>
          <a:prstGeom prst="rect">
            <a:avLst/>
          </a:prstGeom>
          <a:noFill/>
          <a:ln/>
        </p:spPr>
        <p:txBody>
          <a:bodyPr wrap="square" lIns="0" tIns="0" rIns="0" bIns="0" rtlCol="0" anchor="ctr"/>
          <a:lstStyle/>
          <a:p>
            <a:pPr algn="r" indent="0" marL="0">
              <a:buNone/>
            </a:pPr>
            <a:r>
              <a:rPr lang="en-US" sz="1720" dirty="0">
                <a:solidFill>
                  <a:srgbClr val="6F6268"/>
                </a:solidFill>
                <a:latin typeface="Calibri" pitchFamily="34" charset="0"/>
                <a:ea typeface="Calibri" pitchFamily="34" charset="-122"/>
                <a:cs typeface="Calibri" pitchFamily="34" charset="-120"/>
              </a:rPr>
              <a:t>2 quantified cases</a:t>
            </a:r>
            <a:endParaRPr lang="en-US" sz="1720" dirty="0"/>
          </a:p>
        </p:txBody>
      </p:sp>
      <p:sp>
        <p:nvSpPr>
          <p:cNvPr id="15" name="Shape 13"/>
          <p:cNvSpPr/>
          <p:nvPr/>
        </p:nvSpPr>
        <p:spPr>
          <a:xfrm>
            <a:off x="722376" y="4965192"/>
            <a:ext cx="4992624" cy="146304"/>
          </a:xfrm>
          <a:prstGeom prst="rect">
            <a:avLst/>
          </a:prstGeom>
          <a:solidFill>
            <a:srgbClr val="E4DAD4"/>
          </a:solidFill>
          <a:ln w="12700">
            <a:solidFill>
              <a:srgbClr val="E4DAD4">
                <a:alpha val="0"/>
              </a:srgbClr>
            </a:solidFill>
            <a:prstDash val="solid"/>
          </a:ln>
        </p:spPr>
      </p:sp>
      <p:sp>
        <p:nvSpPr>
          <p:cNvPr id="16" name="Shape 14"/>
          <p:cNvSpPr/>
          <p:nvPr/>
        </p:nvSpPr>
        <p:spPr>
          <a:xfrm>
            <a:off x="722376" y="4965192"/>
            <a:ext cx="535940" cy="146304"/>
          </a:xfrm>
          <a:prstGeom prst="rect">
            <a:avLst/>
          </a:prstGeom>
          <a:solidFill>
            <a:srgbClr val="6D2E46"/>
          </a:solidFill>
          <a:ln w="12700">
            <a:solidFill>
              <a:srgbClr val="6D2E46">
                <a:alpha val="0"/>
              </a:srgbClr>
            </a:solidFill>
            <a:prstDash val="solid"/>
          </a:ln>
        </p:spPr>
      </p:sp>
      <p:sp>
        <p:nvSpPr>
          <p:cNvPr id="17" name="Shape 15"/>
          <p:cNvSpPr/>
          <p:nvPr/>
        </p:nvSpPr>
        <p:spPr>
          <a:xfrm>
            <a:off x="6254496" y="2121408"/>
            <a:ext cx="5431536" cy="3182112"/>
          </a:xfrm>
          <a:prstGeom prst="roundRect">
            <a:avLst>
              <a:gd name="adj" fmla="val 3448"/>
            </a:avLst>
          </a:prstGeom>
          <a:solidFill>
            <a:srgbClr val="F0DFE3"/>
          </a:solidFill>
          <a:ln w="12700">
            <a:solidFill>
              <a:srgbClr val="F0DFE3">
                <a:alpha val="0"/>
              </a:srgbClr>
            </a:solidFill>
            <a:prstDash val="solid"/>
          </a:ln>
        </p:spPr>
      </p:sp>
      <p:sp>
        <p:nvSpPr>
          <p:cNvPr id="18" name="Text 16"/>
          <p:cNvSpPr/>
          <p:nvPr/>
        </p:nvSpPr>
        <p:spPr>
          <a:xfrm>
            <a:off x="6473952" y="2359152"/>
            <a:ext cx="4992624" cy="329184"/>
          </a:xfrm>
          <a:prstGeom prst="rect">
            <a:avLst/>
          </a:prstGeom>
          <a:noFill/>
          <a:ln/>
        </p:spPr>
        <p:txBody>
          <a:bodyPr wrap="square" lIns="0" tIns="0" rIns="0" bIns="0" rtlCol="0" anchor="ctr"/>
          <a:lstStyle/>
          <a:p>
            <a:pPr indent="0" marL="0">
              <a:buNone/>
            </a:pPr>
            <a:r>
              <a:rPr lang="en-US" sz="2300" b="1" dirty="0">
                <a:solidFill>
                  <a:srgbClr val="6D2E46"/>
                </a:solidFill>
                <a:latin typeface="Calibri" pitchFamily="34" charset="0"/>
                <a:ea typeface="Calibri" pitchFamily="34" charset="-122"/>
                <a:cs typeface="Calibri" pitchFamily="34" charset="-120"/>
              </a:rPr>
              <a:t>Gross profit scenario · 12 weeks</a:t>
            </a:r>
            <a:endParaRPr lang="en-US" sz="2300" dirty="0"/>
          </a:p>
        </p:txBody>
      </p:sp>
      <p:sp>
        <p:nvSpPr>
          <p:cNvPr id="19" name="Text 17"/>
          <p:cNvSpPr/>
          <p:nvPr/>
        </p:nvSpPr>
        <p:spPr>
          <a:xfrm>
            <a:off x="6473952" y="2852928"/>
            <a:ext cx="3438144" cy="246888"/>
          </a:xfrm>
          <a:prstGeom prst="rect">
            <a:avLst/>
          </a:prstGeom>
          <a:noFill/>
          <a:ln/>
        </p:spPr>
        <p:txBody>
          <a:bodyPr wrap="square" lIns="0" tIns="0" rIns="0" bIns="0" rtlCol="0" anchor="ctr"/>
          <a:lstStyle/>
          <a:p>
            <a:pPr indent="0" marL="0">
              <a:buNone/>
            </a:pPr>
            <a:r>
              <a:rPr lang="en-US" sz="1670" dirty="0">
                <a:solidFill>
                  <a:srgbClr val="30282E"/>
                </a:solidFill>
                <a:latin typeface="Calibri" pitchFamily="34" charset="0"/>
                <a:ea typeface="Calibri" pitchFamily="34" charset="-122"/>
                <a:cs typeface="Calibri" pitchFamily="34" charset="-120"/>
              </a:rPr>
              <a:t>Full queue (11 cases)</a:t>
            </a:r>
            <a:endParaRPr lang="en-US" sz="1670" dirty="0"/>
          </a:p>
        </p:txBody>
      </p:sp>
      <p:sp>
        <p:nvSpPr>
          <p:cNvPr id="20" name="Text 18"/>
          <p:cNvSpPr/>
          <p:nvPr/>
        </p:nvSpPr>
        <p:spPr>
          <a:xfrm>
            <a:off x="9912096" y="2816352"/>
            <a:ext cx="1453896" cy="338328"/>
          </a:xfrm>
          <a:prstGeom prst="rect">
            <a:avLst/>
          </a:prstGeom>
          <a:noFill/>
          <a:ln/>
        </p:spPr>
        <p:txBody>
          <a:bodyPr wrap="square" lIns="0" tIns="0" rIns="0" bIns="0" rtlCol="0" anchor="ctr"/>
          <a:lstStyle/>
          <a:p>
            <a:pPr algn="r" indent="0" marL="0">
              <a:buNone/>
            </a:pPr>
            <a:r>
              <a:rPr lang="en-US" sz="2400" b="1" dirty="0">
                <a:solidFill>
                  <a:srgbClr val="6F6268"/>
                </a:solidFill>
                <a:latin typeface="Calibri" pitchFamily="34" charset="0"/>
                <a:ea typeface="Calibri" pitchFamily="34" charset="-122"/>
                <a:cs typeface="Calibri" pitchFamily="34" charset="-120"/>
              </a:rPr>
              <a:t>€24.9k</a:t>
            </a:r>
            <a:endParaRPr lang="en-US" sz="2400" dirty="0"/>
          </a:p>
        </p:txBody>
      </p:sp>
      <p:sp>
        <p:nvSpPr>
          <p:cNvPr id="21" name="Shape 19"/>
          <p:cNvSpPr/>
          <p:nvPr/>
        </p:nvSpPr>
        <p:spPr>
          <a:xfrm>
            <a:off x="6473952" y="3273552"/>
            <a:ext cx="4992624" cy="192024"/>
          </a:xfrm>
          <a:prstGeom prst="rect">
            <a:avLst/>
          </a:prstGeom>
          <a:solidFill>
            <a:srgbClr val="E4DAD4"/>
          </a:solidFill>
          <a:ln w="12700">
            <a:solidFill>
              <a:srgbClr val="E4DAD4">
                <a:alpha val="0"/>
              </a:srgbClr>
            </a:solidFill>
            <a:prstDash val="solid"/>
          </a:ln>
        </p:spPr>
      </p:sp>
      <p:sp>
        <p:nvSpPr>
          <p:cNvPr id="22" name="Text 20"/>
          <p:cNvSpPr/>
          <p:nvPr/>
        </p:nvSpPr>
        <p:spPr>
          <a:xfrm>
            <a:off x="6473952" y="3776472"/>
            <a:ext cx="4983480" cy="256032"/>
          </a:xfrm>
          <a:prstGeom prst="rect">
            <a:avLst/>
          </a:prstGeom>
          <a:noFill/>
          <a:ln/>
        </p:spPr>
        <p:txBody>
          <a:bodyPr wrap="square" lIns="0" tIns="0" rIns="0" bIns="0" rtlCol="0" anchor="ctr"/>
          <a:lstStyle/>
          <a:p>
            <a:pPr indent="0" marL="0">
              <a:buNone/>
            </a:pPr>
            <a:r>
              <a:rPr lang="en-US" sz="1700" b="1" dirty="0">
                <a:solidFill>
                  <a:srgbClr val="30282E"/>
                </a:solidFill>
                <a:latin typeface="Calibri" pitchFamily="34" charset="0"/>
                <a:ea typeface="Calibri" pitchFamily="34" charset="-122"/>
                <a:cs typeface="Calibri" pitchFamily="34" charset="-120"/>
              </a:rPr>
              <a:t>Within the five-product shortlist</a:t>
            </a:r>
            <a:endParaRPr lang="en-US" sz="1700" dirty="0"/>
          </a:p>
        </p:txBody>
      </p:sp>
      <p:sp>
        <p:nvSpPr>
          <p:cNvPr id="23" name="Text 21"/>
          <p:cNvSpPr/>
          <p:nvPr/>
        </p:nvSpPr>
        <p:spPr>
          <a:xfrm>
            <a:off x="6473952" y="4187952"/>
            <a:ext cx="2788920" cy="557784"/>
          </a:xfrm>
          <a:prstGeom prst="rect">
            <a:avLst/>
          </a:prstGeom>
          <a:noFill/>
          <a:ln/>
        </p:spPr>
        <p:txBody>
          <a:bodyPr wrap="square" lIns="0" tIns="0" rIns="0" bIns="0" rtlCol="0" anchor="ctr"/>
          <a:lstStyle/>
          <a:p>
            <a:pPr indent="0" marL="0">
              <a:buNone/>
            </a:pPr>
            <a:r>
              <a:rPr lang="en-US" sz="4200" b="1" dirty="0">
                <a:solidFill>
                  <a:srgbClr val="6D2E46"/>
                </a:solidFill>
                <a:latin typeface="Calibri" pitchFamily="34" charset="0"/>
                <a:ea typeface="Calibri" pitchFamily="34" charset="-122"/>
                <a:cs typeface="Calibri" pitchFamily="34" charset="-120"/>
              </a:rPr>
              <a:t>€4.4k</a:t>
            </a:r>
            <a:endParaRPr lang="en-US" sz="4200" dirty="0"/>
          </a:p>
        </p:txBody>
      </p:sp>
      <p:sp>
        <p:nvSpPr>
          <p:cNvPr id="24" name="Text 22"/>
          <p:cNvSpPr/>
          <p:nvPr/>
        </p:nvSpPr>
        <p:spPr>
          <a:xfrm>
            <a:off x="9336024" y="4306824"/>
            <a:ext cx="1938528" cy="274320"/>
          </a:xfrm>
          <a:prstGeom prst="rect">
            <a:avLst/>
          </a:prstGeom>
          <a:noFill/>
          <a:ln/>
        </p:spPr>
        <p:txBody>
          <a:bodyPr wrap="square" lIns="0" tIns="0" rIns="0" bIns="0" rtlCol="0" anchor="ctr"/>
          <a:lstStyle/>
          <a:p>
            <a:pPr algn="r" indent="0" marL="0">
              <a:buNone/>
            </a:pPr>
            <a:r>
              <a:rPr lang="en-US" sz="1720" dirty="0">
                <a:solidFill>
                  <a:srgbClr val="6F6268"/>
                </a:solidFill>
                <a:latin typeface="Calibri" pitchFamily="34" charset="0"/>
                <a:ea typeface="Calibri" pitchFamily="34" charset="-122"/>
                <a:cs typeface="Calibri" pitchFamily="34" charset="-120"/>
              </a:rPr>
              <a:t>1 quantified case</a:t>
            </a:r>
            <a:endParaRPr lang="en-US" sz="1720" dirty="0"/>
          </a:p>
        </p:txBody>
      </p:sp>
      <p:sp>
        <p:nvSpPr>
          <p:cNvPr id="25" name="Shape 23"/>
          <p:cNvSpPr/>
          <p:nvPr/>
        </p:nvSpPr>
        <p:spPr>
          <a:xfrm>
            <a:off x="6473952" y="4965192"/>
            <a:ext cx="4992624" cy="146304"/>
          </a:xfrm>
          <a:prstGeom prst="rect">
            <a:avLst/>
          </a:prstGeom>
          <a:solidFill>
            <a:srgbClr val="E4DAD4"/>
          </a:solidFill>
          <a:ln w="12700">
            <a:solidFill>
              <a:srgbClr val="E4DAD4">
                <a:alpha val="0"/>
              </a:srgbClr>
            </a:solidFill>
            <a:prstDash val="solid"/>
          </a:ln>
        </p:spPr>
      </p:sp>
      <p:sp>
        <p:nvSpPr>
          <p:cNvPr id="26" name="Shape 24"/>
          <p:cNvSpPr/>
          <p:nvPr/>
        </p:nvSpPr>
        <p:spPr>
          <a:xfrm>
            <a:off x="6473952" y="4965192"/>
            <a:ext cx="885886" cy="146304"/>
          </a:xfrm>
          <a:prstGeom prst="rect">
            <a:avLst/>
          </a:prstGeom>
          <a:solidFill>
            <a:srgbClr val="6D2E46"/>
          </a:solidFill>
          <a:ln w="12700">
            <a:solidFill>
              <a:srgbClr val="6D2E46">
                <a:alpha val="0"/>
              </a:srgbClr>
            </a:solidFill>
            <a:prstDash val="solid"/>
          </a:ln>
        </p:spPr>
      </p:sp>
      <p:sp>
        <p:nvSpPr>
          <p:cNvPr id="27" name="Shape 25"/>
          <p:cNvSpPr/>
          <p:nvPr/>
        </p:nvSpPr>
        <p:spPr>
          <a:xfrm>
            <a:off x="502920" y="5614416"/>
            <a:ext cx="11183112" cy="420624"/>
          </a:xfrm>
          <a:prstGeom prst="rect">
            <a:avLst/>
          </a:prstGeom>
          <a:solidFill>
            <a:srgbClr val="F0DFE3"/>
          </a:solidFill>
          <a:ln w="12700">
            <a:solidFill>
              <a:srgbClr val="F0DFE3">
                <a:alpha val="0"/>
              </a:srgbClr>
            </a:solidFill>
            <a:prstDash val="solid"/>
          </a:ln>
        </p:spPr>
      </p:sp>
      <p:sp>
        <p:nvSpPr>
          <p:cNvPr id="28" name="Text 26"/>
          <p:cNvSpPr/>
          <p:nvPr/>
        </p:nvSpPr>
        <p:spPr>
          <a:xfrm>
            <a:off x="667512" y="5705856"/>
            <a:ext cx="10853928" cy="228600"/>
          </a:xfrm>
          <a:prstGeom prst="rect">
            <a:avLst/>
          </a:prstGeom>
          <a:noFill/>
          <a:ln/>
        </p:spPr>
        <p:txBody>
          <a:bodyPr wrap="square" lIns="0" tIns="0" rIns="0" bIns="0" rtlCol="0" anchor="ctr"/>
          <a:lstStyle/>
          <a:p>
            <a:pPr indent="0" marL="0">
              <a:buNone/>
            </a:pPr>
            <a:r>
              <a:rPr lang="en-US" sz="1540" b="1" dirty="0">
                <a:solidFill>
                  <a:srgbClr val="502737"/>
                </a:solidFill>
                <a:latin typeface="Calibri" pitchFamily="34" charset="0"/>
                <a:ea typeface="Calibri" pitchFamily="34" charset="-122"/>
                <a:cs typeface="Calibri" pitchFamily="34" charset="-120"/>
              </a:rPr>
              <a:t>Do not add revenue to gross profit. 2 shortlisted decisions are unquantified; no realised benefit is measured.</a:t>
            </a:r>
            <a:endParaRPr lang="en-US" sz="15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6F6268"/>
                </a:solidFill>
                <a:latin typeface="Calibri" pitchFamily="34" charset="0"/>
                <a:ea typeface="Calibri" pitchFamily="34" charset="-122"/>
                <a:cs typeface="Calibri" pitchFamily="34" charset="-120"/>
              </a:rPr>
              <a:t>Source: implemented dashboard workflow; proposed success measures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6F6268"/>
                </a:solidFill>
                <a:latin typeface="Calibri" pitchFamily="34" charset="0"/>
                <a:ea typeface="Calibri" pitchFamily="34" charset="-122"/>
                <a:cs typeface="Calibri" pitchFamily="34" charset="-120"/>
              </a:rPr>
              <a:t>07 / 10</a:t>
            </a:r>
            <a:endParaRPr lang="en-US" sz="1050" dirty="0"/>
          </a:p>
        </p:txBody>
      </p:sp>
      <p:sp>
        <p:nvSpPr>
          <p:cNvPr id="4" name="Text 2"/>
          <p:cNvSpPr/>
          <p:nvPr/>
        </p:nvSpPr>
        <p:spPr>
          <a:xfrm>
            <a:off x="502920" y="457200"/>
            <a:ext cx="9601200" cy="173736"/>
          </a:xfrm>
          <a:prstGeom prst="rect">
            <a:avLst/>
          </a:prstGeom>
          <a:noFill/>
          <a:ln/>
        </p:spPr>
        <p:txBody>
          <a:bodyPr wrap="square" lIns="0" tIns="0" rIns="0" bIns="0" rtlCol="0" anchor="ctr"/>
          <a:lstStyle/>
          <a:p>
            <a:pPr indent="0" marL="0">
              <a:buNone/>
            </a:pPr>
            <a:r>
              <a:rPr lang="en-US" sz="1050" b="1" spc="130" kern="0" dirty="0">
                <a:solidFill>
                  <a:srgbClr val="6D2E46"/>
                </a:solidFill>
                <a:latin typeface="Calibri" pitchFamily="34" charset="0"/>
                <a:ea typeface="Calibri" pitchFamily="34" charset="-122"/>
                <a:cs typeface="Calibri" pitchFamily="34" charset="-120"/>
              </a:rPr>
              <a:t>ZENBEAUTY RETAIL  /  CATEGORY REVIEW</a:t>
            </a:r>
            <a:endParaRPr lang="en-US" sz="1050" dirty="0"/>
          </a:p>
        </p:txBody>
      </p:sp>
      <p:sp>
        <p:nvSpPr>
          <p:cNvPr id="5" name="Text 3"/>
          <p:cNvSpPr/>
          <p:nvPr/>
        </p:nvSpPr>
        <p:spPr>
          <a:xfrm>
            <a:off x="502920" y="813816"/>
            <a:ext cx="11183112" cy="603504"/>
          </a:xfrm>
          <a:prstGeom prst="rect">
            <a:avLst/>
          </a:prstGeom>
          <a:noFill/>
          <a:ln/>
        </p:spPr>
        <p:txBody>
          <a:bodyPr wrap="square" lIns="0" tIns="0" rIns="0" bIns="0" rtlCol="0" anchor="ctr"/>
          <a:lstStyle/>
          <a:p>
            <a:pPr indent="0" marL="0">
              <a:buNone/>
            </a:pPr>
            <a:r>
              <a:rPr lang="en-US" sz="3200" b="1" dirty="0">
                <a:solidFill>
                  <a:srgbClr val="30282E"/>
                </a:solidFill>
                <a:latin typeface="Calibri" pitchFamily="34" charset="0"/>
                <a:ea typeface="Calibri" pitchFamily="34" charset="-122"/>
                <a:cs typeface="Calibri" pitchFamily="34" charset="-120"/>
              </a:rPr>
              <a:t>A review record makes each decision owned and measurable</a:t>
            </a:r>
            <a:endParaRPr lang="en-US" sz="3200" dirty="0"/>
          </a:p>
        </p:txBody>
      </p:sp>
      <p:sp>
        <p:nvSpPr>
          <p:cNvPr id="6" name="Text 4"/>
          <p:cNvSpPr/>
          <p:nvPr/>
        </p:nvSpPr>
        <p:spPr>
          <a:xfrm>
            <a:off x="502920" y="1527048"/>
            <a:ext cx="11091672" cy="365760"/>
          </a:xfrm>
          <a:prstGeom prst="rect">
            <a:avLst/>
          </a:prstGeom>
          <a:noFill/>
          <a:ln/>
        </p:spPr>
        <p:txBody>
          <a:bodyPr wrap="square" lIns="0" tIns="0" rIns="0" bIns="0" rtlCol="0" anchor="ctr"/>
          <a:lstStyle/>
          <a:p>
            <a:pPr indent="0" marL="0">
              <a:buNone/>
            </a:pPr>
            <a:r>
              <a:rPr lang="en-US" sz="1750" dirty="0">
                <a:solidFill>
                  <a:srgbClr val="6F6268"/>
                </a:solidFill>
                <a:latin typeface="Calibri" pitchFamily="34" charset="0"/>
                <a:ea typeface="Calibri" pitchFamily="34" charset="-122"/>
                <a:cs typeface="Calibri" pitchFamily="34" charset="-120"/>
              </a:rPr>
              <a:t>The delivered capability is traceability and follow-through—not yet a measured commercial outcome.</a:t>
            </a:r>
            <a:endParaRPr lang="en-US" sz="1750" dirty="0"/>
          </a:p>
        </p:txBody>
      </p:sp>
      <p:sp>
        <p:nvSpPr>
          <p:cNvPr id="7" name="Shape 5"/>
          <p:cNvSpPr/>
          <p:nvPr/>
        </p:nvSpPr>
        <p:spPr>
          <a:xfrm>
            <a:off x="502920" y="2176272"/>
            <a:ext cx="2569464" cy="1335024"/>
          </a:xfrm>
          <a:prstGeom prst="roundRect">
            <a:avLst>
              <a:gd name="adj" fmla="val 8219"/>
            </a:avLst>
          </a:prstGeom>
          <a:solidFill>
            <a:srgbClr val="FFFDFA"/>
          </a:solidFill>
          <a:ln w="12700">
            <a:solidFill>
              <a:srgbClr val="FFFDFA">
                <a:alpha val="0"/>
              </a:srgbClr>
            </a:solidFill>
            <a:prstDash val="solid"/>
          </a:ln>
        </p:spPr>
      </p:sp>
      <p:sp>
        <p:nvSpPr>
          <p:cNvPr id="8" name="Shape 6"/>
          <p:cNvSpPr/>
          <p:nvPr/>
        </p:nvSpPr>
        <p:spPr>
          <a:xfrm>
            <a:off x="667512" y="2368296"/>
            <a:ext cx="310896" cy="310896"/>
          </a:xfrm>
          <a:prstGeom prst="ellipse">
            <a:avLst/>
          </a:prstGeom>
          <a:solidFill>
            <a:srgbClr val="6D2E46"/>
          </a:solidFill>
          <a:ln w="12700">
            <a:solidFill>
              <a:srgbClr val="6D2E46">
                <a:alpha val="0"/>
              </a:srgbClr>
            </a:solidFill>
            <a:prstDash val="solid"/>
          </a:ln>
        </p:spPr>
      </p:sp>
      <p:sp>
        <p:nvSpPr>
          <p:cNvPr id="9" name="Text 7"/>
          <p:cNvSpPr/>
          <p:nvPr/>
        </p:nvSpPr>
        <p:spPr>
          <a:xfrm>
            <a:off x="667512" y="2368296"/>
            <a:ext cx="310896" cy="310896"/>
          </a:xfrm>
          <a:prstGeom prst="rect">
            <a:avLst/>
          </a:prstGeom>
          <a:noFill/>
          <a:ln/>
        </p:spPr>
        <p:txBody>
          <a:bodyPr wrap="square" lIns="0" tIns="0" rIns="0" bIns="0" rtlCol="0" anchor="ctr"/>
          <a:lstStyle/>
          <a:p>
            <a:pPr algn="ctr" indent="0" marL="0">
              <a:buNone/>
            </a:pPr>
            <a:r>
              <a:rPr lang="en-US" sz="1700" b="1" dirty="0">
                <a:solidFill>
                  <a:srgbClr val="FFFDFA"/>
                </a:solidFill>
                <a:latin typeface="Calibri" pitchFamily="34" charset="0"/>
                <a:ea typeface="Calibri" pitchFamily="34" charset="-122"/>
                <a:cs typeface="Calibri" pitchFamily="34" charset="-120"/>
              </a:rPr>
              <a:t>1</a:t>
            </a:r>
            <a:endParaRPr lang="en-US" sz="1700" dirty="0"/>
          </a:p>
        </p:txBody>
      </p:sp>
      <p:sp>
        <p:nvSpPr>
          <p:cNvPr id="10" name="Text 8"/>
          <p:cNvSpPr/>
          <p:nvPr/>
        </p:nvSpPr>
        <p:spPr>
          <a:xfrm>
            <a:off x="1115568" y="2340864"/>
            <a:ext cx="1773936" cy="292608"/>
          </a:xfrm>
          <a:prstGeom prst="rect">
            <a:avLst/>
          </a:prstGeom>
          <a:noFill/>
          <a:ln/>
        </p:spPr>
        <p:txBody>
          <a:bodyPr wrap="square" lIns="0" tIns="0" rIns="0" bIns="0" rtlCol="0" anchor="ctr"/>
          <a:lstStyle/>
          <a:p>
            <a:pPr indent="0" marL="0">
              <a:buNone/>
            </a:pPr>
            <a:r>
              <a:rPr lang="en-US" sz="2100" b="1" dirty="0">
                <a:solidFill>
                  <a:srgbClr val="30282E"/>
                </a:solidFill>
                <a:latin typeface="Calibri" pitchFamily="34" charset="0"/>
                <a:ea typeface="Calibri" pitchFamily="34" charset="-122"/>
                <a:cs typeface="Calibri" pitchFamily="34" charset="-120"/>
              </a:rPr>
              <a:t>Evidence</a:t>
            </a:r>
            <a:endParaRPr lang="en-US" sz="2100" dirty="0"/>
          </a:p>
        </p:txBody>
      </p:sp>
      <p:sp>
        <p:nvSpPr>
          <p:cNvPr id="11" name="Text 9"/>
          <p:cNvSpPr/>
          <p:nvPr/>
        </p:nvSpPr>
        <p:spPr>
          <a:xfrm>
            <a:off x="667512" y="2816352"/>
            <a:ext cx="2194560" cy="475488"/>
          </a:xfrm>
          <a:prstGeom prst="rect">
            <a:avLst/>
          </a:prstGeom>
          <a:noFill/>
          <a:ln/>
        </p:spPr>
        <p:txBody>
          <a:bodyPr wrap="square" lIns="0" tIns="0" rIns="0" bIns="0" rtlCol="0" anchor="ctr"/>
          <a:lstStyle/>
          <a:p>
            <a:pPr indent="0" marL="0">
              <a:buNone/>
            </a:pPr>
            <a:r>
              <a:rPr lang="en-US" sz="1650" dirty="0">
                <a:solidFill>
                  <a:srgbClr val="6F6268"/>
                </a:solidFill>
                <a:latin typeface="Calibri" pitchFamily="34" charset="0"/>
                <a:ea typeface="Calibri" pitchFamily="34" charset="-122"/>
                <a:cs typeface="Calibri" pitchFamily="34" charset="-120"/>
              </a:rPr>
              <a:t>Source ID, metrics,</a:t>
            </a:r>
            <a:endParaRPr lang="en-US" sz="1650" dirty="0"/>
          </a:p>
          <a:p>
            <a:pPr indent="0" marL="0">
              <a:buNone/>
            </a:pPr>
            <a:r>
              <a:rPr lang="en-US" sz="1650" dirty="0">
                <a:solidFill>
                  <a:srgbClr val="6F6268"/>
                </a:solidFill>
                <a:latin typeface="Calibri" pitchFamily="34" charset="0"/>
                <a:ea typeface="Calibri" pitchFamily="34" charset="-122"/>
                <a:cs typeface="Calibri" pitchFamily="34" charset="-120"/>
              </a:rPr>
              <a:t>assumptions and limits</a:t>
            </a:r>
            <a:endParaRPr lang="en-US" sz="1650" dirty="0"/>
          </a:p>
        </p:txBody>
      </p:sp>
      <p:sp>
        <p:nvSpPr>
          <p:cNvPr id="12" name="Shape 10"/>
          <p:cNvSpPr/>
          <p:nvPr/>
        </p:nvSpPr>
        <p:spPr>
          <a:xfrm>
            <a:off x="3172968" y="2688336"/>
            <a:ext cx="109728" cy="219456"/>
          </a:xfrm>
          <a:prstGeom prst="chevron">
            <a:avLst/>
          </a:prstGeom>
          <a:solidFill>
            <a:srgbClr val="BD8192"/>
          </a:solidFill>
          <a:ln w="12700">
            <a:solidFill>
              <a:srgbClr val="BD8192">
                <a:alpha val="0"/>
              </a:srgbClr>
            </a:solidFill>
            <a:prstDash val="solid"/>
          </a:ln>
        </p:spPr>
      </p:sp>
      <p:sp>
        <p:nvSpPr>
          <p:cNvPr id="13" name="Shape 11"/>
          <p:cNvSpPr/>
          <p:nvPr/>
        </p:nvSpPr>
        <p:spPr>
          <a:xfrm>
            <a:off x="3374136" y="2176272"/>
            <a:ext cx="2569464" cy="1335024"/>
          </a:xfrm>
          <a:prstGeom prst="roundRect">
            <a:avLst>
              <a:gd name="adj" fmla="val 8219"/>
            </a:avLst>
          </a:prstGeom>
          <a:solidFill>
            <a:srgbClr val="FFFDFA"/>
          </a:solidFill>
          <a:ln w="12700">
            <a:solidFill>
              <a:srgbClr val="FFFDFA">
                <a:alpha val="0"/>
              </a:srgbClr>
            </a:solidFill>
            <a:prstDash val="solid"/>
          </a:ln>
        </p:spPr>
      </p:sp>
      <p:sp>
        <p:nvSpPr>
          <p:cNvPr id="14" name="Shape 12"/>
          <p:cNvSpPr/>
          <p:nvPr/>
        </p:nvSpPr>
        <p:spPr>
          <a:xfrm>
            <a:off x="3538728" y="2368296"/>
            <a:ext cx="310896" cy="310896"/>
          </a:xfrm>
          <a:prstGeom prst="ellipse">
            <a:avLst/>
          </a:prstGeom>
          <a:solidFill>
            <a:srgbClr val="6D2E46"/>
          </a:solidFill>
          <a:ln w="12700">
            <a:solidFill>
              <a:srgbClr val="6D2E46">
                <a:alpha val="0"/>
              </a:srgbClr>
            </a:solidFill>
            <a:prstDash val="solid"/>
          </a:ln>
        </p:spPr>
      </p:sp>
      <p:sp>
        <p:nvSpPr>
          <p:cNvPr id="15" name="Text 13"/>
          <p:cNvSpPr/>
          <p:nvPr/>
        </p:nvSpPr>
        <p:spPr>
          <a:xfrm>
            <a:off x="3538728" y="2368296"/>
            <a:ext cx="310896" cy="310896"/>
          </a:xfrm>
          <a:prstGeom prst="rect">
            <a:avLst/>
          </a:prstGeom>
          <a:noFill/>
          <a:ln/>
        </p:spPr>
        <p:txBody>
          <a:bodyPr wrap="square" lIns="0" tIns="0" rIns="0" bIns="0" rtlCol="0" anchor="ctr"/>
          <a:lstStyle/>
          <a:p>
            <a:pPr algn="ctr" indent="0" marL="0">
              <a:buNone/>
            </a:pPr>
            <a:r>
              <a:rPr lang="en-US" sz="1700" b="1" dirty="0">
                <a:solidFill>
                  <a:srgbClr val="FFFDFA"/>
                </a:solidFill>
                <a:latin typeface="Calibri" pitchFamily="34" charset="0"/>
                <a:ea typeface="Calibri" pitchFamily="34" charset="-122"/>
                <a:cs typeface="Calibri" pitchFamily="34" charset="-120"/>
              </a:rPr>
              <a:t>2</a:t>
            </a:r>
            <a:endParaRPr lang="en-US" sz="1700" dirty="0"/>
          </a:p>
        </p:txBody>
      </p:sp>
      <p:sp>
        <p:nvSpPr>
          <p:cNvPr id="16" name="Text 14"/>
          <p:cNvSpPr/>
          <p:nvPr/>
        </p:nvSpPr>
        <p:spPr>
          <a:xfrm>
            <a:off x="3986784" y="2340864"/>
            <a:ext cx="1773936" cy="292608"/>
          </a:xfrm>
          <a:prstGeom prst="rect">
            <a:avLst/>
          </a:prstGeom>
          <a:noFill/>
          <a:ln/>
        </p:spPr>
        <p:txBody>
          <a:bodyPr wrap="square" lIns="0" tIns="0" rIns="0" bIns="0" rtlCol="0" anchor="ctr"/>
          <a:lstStyle/>
          <a:p>
            <a:pPr indent="0" marL="0">
              <a:buNone/>
            </a:pPr>
            <a:r>
              <a:rPr lang="en-US" sz="2100" b="1" dirty="0">
                <a:solidFill>
                  <a:srgbClr val="30282E"/>
                </a:solidFill>
                <a:latin typeface="Calibri" pitchFamily="34" charset="0"/>
                <a:ea typeface="Calibri" pitchFamily="34" charset="-122"/>
                <a:cs typeface="Calibri" pitchFamily="34" charset="-120"/>
              </a:rPr>
              <a:t>Decision</a:t>
            </a:r>
            <a:endParaRPr lang="en-US" sz="2100" dirty="0"/>
          </a:p>
        </p:txBody>
      </p:sp>
      <p:sp>
        <p:nvSpPr>
          <p:cNvPr id="17" name="Text 15"/>
          <p:cNvSpPr/>
          <p:nvPr/>
        </p:nvSpPr>
        <p:spPr>
          <a:xfrm>
            <a:off x="3538728" y="2816352"/>
            <a:ext cx="2194560" cy="475488"/>
          </a:xfrm>
          <a:prstGeom prst="rect">
            <a:avLst/>
          </a:prstGeom>
          <a:noFill/>
          <a:ln/>
        </p:spPr>
        <p:txBody>
          <a:bodyPr wrap="square" lIns="0" tIns="0" rIns="0" bIns="0" rtlCol="0" anchor="ctr"/>
          <a:lstStyle/>
          <a:p>
            <a:pPr indent="0" marL="0">
              <a:buNone/>
            </a:pPr>
            <a:r>
              <a:rPr lang="en-US" sz="1650" dirty="0">
                <a:solidFill>
                  <a:srgbClr val="6F6268"/>
                </a:solidFill>
                <a:latin typeface="Calibri" pitchFamily="34" charset="0"/>
                <a:ea typeface="Calibri" pitchFamily="34" charset="-122"/>
                <a:cs typeface="Calibri" pitchFamily="34" charset="-120"/>
              </a:rPr>
              <a:t>Accept or defer;</a:t>
            </a:r>
            <a:endParaRPr lang="en-US" sz="1650" dirty="0"/>
          </a:p>
          <a:p>
            <a:pPr indent="0" marL="0">
              <a:buNone/>
            </a:pPr>
            <a:r>
              <a:rPr lang="en-US" sz="1650" dirty="0">
                <a:solidFill>
                  <a:srgbClr val="6F6268"/>
                </a:solidFill>
                <a:latin typeface="Calibri" pitchFamily="34" charset="0"/>
                <a:ea typeface="Calibri" pitchFamily="34" charset="-122"/>
                <a:cs typeface="Calibri" pitchFamily="34" charset="-120"/>
              </a:rPr>
              <a:t>record the rationale</a:t>
            </a:r>
            <a:endParaRPr lang="en-US" sz="1650" dirty="0"/>
          </a:p>
        </p:txBody>
      </p:sp>
      <p:sp>
        <p:nvSpPr>
          <p:cNvPr id="18" name="Shape 16"/>
          <p:cNvSpPr/>
          <p:nvPr/>
        </p:nvSpPr>
        <p:spPr>
          <a:xfrm>
            <a:off x="6044184" y="2688336"/>
            <a:ext cx="109728" cy="219456"/>
          </a:xfrm>
          <a:prstGeom prst="chevron">
            <a:avLst/>
          </a:prstGeom>
          <a:solidFill>
            <a:srgbClr val="BD8192"/>
          </a:solidFill>
          <a:ln w="12700">
            <a:solidFill>
              <a:srgbClr val="BD8192">
                <a:alpha val="0"/>
              </a:srgbClr>
            </a:solidFill>
            <a:prstDash val="solid"/>
          </a:ln>
        </p:spPr>
      </p:sp>
      <p:sp>
        <p:nvSpPr>
          <p:cNvPr id="19" name="Shape 17"/>
          <p:cNvSpPr/>
          <p:nvPr/>
        </p:nvSpPr>
        <p:spPr>
          <a:xfrm>
            <a:off x="6245352" y="2176272"/>
            <a:ext cx="2569464" cy="1335024"/>
          </a:xfrm>
          <a:prstGeom prst="roundRect">
            <a:avLst>
              <a:gd name="adj" fmla="val 8219"/>
            </a:avLst>
          </a:prstGeom>
          <a:solidFill>
            <a:srgbClr val="FFFDFA"/>
          </a:solidFill>
          <a:ln w="12700">
            <a:solidFill>
              <a:srgbClr val="FFFDFA">
                <a:alpha val="0"/>
              </a:srgbClr>
            </a:solidFill>
            <a:prstDash val="solid"/>
          </a:ln>
        </p:spPr>
      </p:sp>
      <p:sp>
        <p:nvSpPr>
          <p:cNvPr id="20" name="Shape 18"/>
          <p:cNvSpPr/>
          <p:nvPr/>
        </p:nvSpPr>
        <p:spPr>
          <a:xfrm>
            <a:off x="6409944" y="2368296"/>
            <a:ext cx="310896" cy="310896"/>
          </a:xfrm>
          <a:prstGeom prst="ellipse">
            <a:avLst/>
          </a:prstGeom>
          <a:solidFill>
            <a:srgbClr val="6D2E46"/>
          </a:solidFill>
          <a:ln w="12700">
            <a:solidFill>
              <a:srgbClr val="6D2E46">
                <a:alpha val="0"/>
              </a:srgbClr>
            </a:solidFill>
            <a:prstDash val="solid"/>
          </a:ln>
        </p:spPr>
      </p:sp>
      <p:sp>
        <p:nvSpPr>
          <p:cNvPr id="21" name="Text 19"/>
          <p:cNvSpPr/>
          <p:nvPr/>
        </p:nvSpPr>
        <p:spPr>
          <a:xfrm>
            <a:off x="6409944" y="2368296"/>
            <a:ext cx="310896" cy="310896"/>
          </a:xfrm>
          <a:prstGeom prst="rect">
            <a:avLst/>
          </a:prstGeom>
          <a:noFill/>
          <a:ln/>
        </p:spPr>
        <p:txBody>
          <a:bodyPr wrap="square" lIns="0" tIns="0" rIns="0" bIns="0" rtlCol="0" anchor="ctr"/>
          <a:lstStyle/>
          <a:p>
            <a:pPr algn="ctr" indent="0" marL="0">
              <a:buNone/>
            </a:pPr>
            <a:r>
              <a:rPr lang="en-US" sz="1700" b="1" dirty="0">
                <a:solidFill>
                  <a:srgbClr val="FFFDFA"/>
                </a:solidFill>
                <a:latin typeface="Calibri" pitchFamily="34" charset="0"/>
                <a:ea typeface="Calibri" pitchFamily="34" charset="-122"/>
                <a:cs typeface="Calibri" pitchFamily="34" charset="-120"/>
              </a:rPr>
              <a:t>3</a:t>
            </a:r>
            <a:endParaRPr lang="en-US" sz="1700" dirty="0"/>
          </a:p>
        </p:txBody>
      </p:sp>
      <p:sp>
        <p:nvSpPr>
          <p:cNvPr id="22" name="Text 20"/>
          <p:cNvSpPr/>
          <p:nvPr/>
        </p:nvSpPr>
        <p:spPr>
          <a:xfrm>
            <a:off x="6858000" y="2340864"/>
            <a:ext cx="1773936" cy="292608"/>
          </a:xfrm>
          <a:prstGeom prst="rect">
            <a:avLst/>
          </a:prstGeom>
          <a:noFill/>
          <a:ln/>
        </p:spPr>
        <p:txBody>
          <a:bodyPr wrap="square" lIns="0" tIns="0" rIns="0" bIns="0" rtlCol="0" anchor="ctr"/>
          <a:lstStyle/>
          <a:p>
            <a:pPr indent="0" marL="0">
              <a:buNone/>
            </a:pPr>
            <a:r>
              <a:rPr lang="en-US" sz="2100" b="1" dirty="0">
                <a:solidFill>
                  <a:srgbClr val="30282E"/>
                </a:solidFill>
                <a:latin typeface="Calibri" pitchFamily="34" charset="0"/>
                <a:ea typeface="Calibri" pitchFamily="34" charset="-122"/>
                <a:cs typeface="Calibri" pitchFamily="34" charset="-120"/>
              </a:rPr>
              <a:t>Ownership</a:t>
            </a:r>
            <a:endParaRPr lang="en-US" sz="2100" dirty="0"/>
          </a:p>
        </p:txBody>
      </p:sp>
      <p:sp>
        <p:nvSpPr>
          <p:cNvPr id="23" name="Text 21"/>
          <p:cNvSpPr/>
          <p:nvPr/>
        </p:nvSpPr>
        <p:spPr>
          <a:xfrm>
            <a:off x="6409944" y="2816352"/>
            <a:ext cx="2194560" cy="475488"/>
          </a:xfrm>
          <a:prstGeom prst="rect">
            <a:avLst/>
          </a:prstGeom>
          <a:noFill/>
          <a:ln/>
        </p:spPr>
        <p:txBody>
          <a:bodyPr wrap="square" lIns="0" tIns="0" rIns="0" bIns="0" rtlCol="0" anchor="ctr"/>
          <a:lstStyle/>
          <a:p>
            <a:pPr indent="0" marL="0">
              <a:buNone/>
            </a:pPr>
            <a:r>
              <a:rPr lang="en-US" sz="1650" dirty="0">
                <a:solidFill>
                  <a:srgbClr val="6F6268"/>
                </a:solidFill>
                <a:latin typeface="Calibri" pitchFamily="34" charset="0"/>
                <a:ea typeface="Calibri" pitchFamily="34" charset="-122"/>
                <a:cs typeface="Calibri" pitchFamily="34" charset="-120"/>
              </a:rPr>
              <a:t>Name the owner,</a:t>
            </a:r>
            <a:endParaRPr lang="en-US" sz="1650" dirty="0"/>
          </a:p>
          <a:p>
            <a:pPr indent="0" marL="0">
              <a:buNone/>
            </a:pPr>
            <a:r>
              <a:rPr lang="en-US" sz="1650" dirty="0">
                <a:solidFill>
                  <a:srgbClr val="6F6268"/>
                </a:solidFill>
                <a:latin typeface="Calibri" pitchFamily="34" charset="0"/>
                <a:ea typeface="Calibri" pitchFamily="34" charset="-122"/>
                <a:cs typeface="Calibri" pitchFamily="34" charset="-120"/>
              </a:rPr>
              <a:t>due date and status</a:t>
            </a:r>
            <a:endParaRPr lang="en-US" sz="1650" dirty="0"/>
          </a:p>
        </p:txBody>
      </p:sp>
      <p:sp>
        <p:nvSpPr>
          <p:cNvPr id="24" name="Shape 22"/>
          <p:cNvSpPr/>
          <p:nvPr/>
        </p:nvSpPr>
        <p:spPr>
          <a:xfrm>
            <a:off x="8915400" y="2688336"/>
            <a:ext cx="109728" cy="219456"/>
          </a:xfrm>
          <a:prstGeom prst="chevron">
            <a:avLst/>
          </a:prstGeom>
          <a:solidFill>
            <a:srgbClr val="BD8192"/>
          </a:solidFill>
          <a:ln w="12700">
            <a:solidFill>
              <a:srgbClr val="BD8192">
                <a:alpha val="0"/>
              </a:srgbClr>
            </a:solidFill>
            <a:prstDash val="solid"/>
          </a:ln>
        </p:spPr>
      </p:sp>
      <p:sp>
        <p:nvSpPr>
          <p:cNvPr id="25" name="Shape 23"/>
          <p:cNvSpPr/>
          <p:nvPr/>
        </p:nvSpPr>
        <p:spPr>
          <a:xfrm>
            <a:off x="9116568" y="2176272"/>
            <a:ext cx="2569464" cy="1335024"/>
          </a:xfrm>
          <a:prstGeom prst="roundRect">
            <a:avLst>
              <a:gd name="adj" fmla="val 8219"/>
            </a:avLst>
          </a:prstGeom>
          <a:solidFill>
            <a:srgbClr val="F0DFE3"/>
          </a:solidFill>
          <a:ln w="12700">
            <a:solidFill>
              <a:srgbClr val="F0DFE3">
                <a:alpha val="0"/>
              </a:srgbClr>
            </a:solidFill>
            <a:prstDash val="solid"/>
          </a:ln>
        </p:spPr>
      </p:sp>
      <p:sp>
        <p:nvSpPr>
          <p:cNvPr id="26" name="Shape 24"/>
          <p:cNvSpPr/>
          <p:nvPr/>
        </p:nvSpPr>
        <p:spPr>
          <a:xfrm>
            <a:off x="9281160" y="2368296"/>
            <a:ext cx="310896" cy="310896"/>
          </a:xfrm>
          <a:prstGeom prst="ellipse">
            <a:avLst/>
          </a:prstGeom>
          <a:solidFill>
            <a:srgbClr val="6D2E46"/>
          </a:solidFill>
          <a:ln w="12700">
            <a:solidFill>
              <a:srgbClr val="6D2E46">
                <a:alpha val="0"/>
              </a:srgbClr>
            </a:solidFill>
            <a:prstDash val="solid"/>
          </a:ln>
        </p:spPr>
      </p:sp>
      <p:sp>
        <p:nvSpPr>
          <p:cNvPr id="27" name="Text 25"/>
          <p:cNvSpPr/>
          <p:nvPr/>
        </p:nvSpPr>
        <p:spPr>
          <a:xfrm>
            <a:off x="9281160" y="2368296"/>
            <a:ext cx="310896" cy="310896"/>
          </a:xfrm>
          <a:prstGeom prst="rect">
            <a:avLst/>
          </a:prstGeom>
          <a:noFill/>
          <a:ln/>
        </p:spPr>
        <p:txBody>
          <a:bodyPr wrap="square" lIns="0" tIns="0" rIns="0" bIns="0" rtlCol="0" anchor="ctr"/>
          <a:lstStyle/>
          <a:p>
            <a:pPr algn="ctr" indent="0" marL="0">
              <a:buNone/>
            </a:pPr>
            <a:r>
              <a:rPr lang="en-US" sz="1700" b="1" dirty="0">
                <a:solidFill>
                  <a:srgbClr val="FFFDFA"/>
                </a:solidFill>
                <a:latin typeface="Calibri" pitchFamily="34" charset="0"/>
                <a:ea typeface="Calibri" pitchFamily="34" charset="-122"/>
                <a:cs typeface="Calibri" pitchFamily="34" charset="-120"/>
              </a:rPr>
              <a:t>4</a:t>
            </a:r>
            <a:endParaRPr lang="en-US" sz="1700" dirty="0"/>
          </a:p>
        </p:txBody>
      </p:sp>
      <p:sp>
        <p:nvSpPr>
          <p:cNvPr id="28" name="Text 26"/>
          <p:cNvSpPr/>
          <p:nvPr/>
        </p:nvSpPr>
        <p:spPr>
          <a:xfrm>
            <a:off x="9729216" y="2340864"/>
            <a:ext cx="1773936" cy="292608"/>
          </a:xfrm>
          <a:prstGeom prst="rect">
            <a:avLst/>
          </a:prstGeom>
          <a:noFill/>
          <a:ln/>
        </p:spPr>
        <p:txBody>
          <a:bodyPr wrap="square" lIns="0" tIns="0" rIns="0" bIns="0" rtlCol="0" anchor="ctr"/>
          <a:lstStyle/>
          <a:p>
            <a:pPr indent="0" marL="0">
              <a:buNone/>
            </a:pPr>
            <a:r>
              <a:rPr lang="en-US" sz="2100" b="1" dirty="0">
                <a:solidFill>
                  <a:srgbClr val="30282E"/>
                </a:solidFill>
                <a:latin typeface="Calibri" pitchFamily="34" charset="0"/>
                <a:ea typeface="Calibri" pitchFamily="34" charset="-122"/>
                <a:cs typeface="Calibri" pitchFamily="34" charset="-120"/>
              </a:rPr>
              <a:t>Follow-through</a:t>
            </a:r>
            <a:endParaRPr lang="en-US" sz="2100" dirty="0"/>
          </a:p>
        </p:txBody>
      </p:sp>
      <p:sp>
        <p:nvSpPr>
          <p:cNvPr id="29" name="Text 27"/>
          <p:cNvSpPr/>
          <p:nvPr/>
        </p:nvSpPr>
        <p:spPr>
          <a:xfrm>
            <a:off x="9281160" y="2816352"/>
            <a:ext cx="2194560" cy="475488"/>
          </a:xfrm>
          <a:prstGeom prst="rect">
            <a:avLst/>
          </a:prstGeom>
          <a:noFill/>
          <a:ln/>
        </p:spPr>
        <p:txBody>
          <a:bodyPr wrap="square" lIns="0" tIns="0" rIns="0" bIns="0" rtlCol="0" anchor="ctr"/>
          <a:lstStyle/>
          <a:p>
            <a:pPr indent="0" marL="0">
              <a:buNone/>
            </a:pPr>
            <a:r>
              <a:rPr lang="en-US" sz="1650" dirty="0">
                <a:solidFill>
                  <a:srgbClr val="6F6268"/>
                </a:solidFill>
                <a:latin typeface="Calibri" pitchFamily="34" charset="0"/>
                <a:ea typeface="Calibri" pitchFamily="34" charset="-122"/>
                <a:cs typeface="Calibri" pitchFamily="34" charset="-120"/>
              </a:rPr>
              <a:t>Export the plan;</a:t>
            </a:r>
            <a:endParaRPr lang="en-US" sz="1650" dirty="0"/>
          </a:p>
          <a:p>
            <a:pPr indent="0" marL="0">
              <a:buNone/>
            </a:pPr>
            <a:r>
              <a:rPr lang="en-US" sz="1650" dirty="0">
                <a:solidFill>
                  <a:srgbClr val="6F6268"/>
                </a:solidFill>
                <a:latin typeface="Calibri" pitchFamily="34" charset="0"/>
                <a:ea typeface="Calibri" pitchFamily="34" charset="-122"/>
                <a:cs typeface="Calibri" pitchFamily="34" charset="-120"/>
              </a:rPr>
              <a:t>review the checkpoint</a:t>
            </a:r>
            <a:endParaRPr lang="en-US" sz="1650" dirty="0"/>
          </a:p>
        </p:txBody>
      </p:sp>
      <p:sp>
        <p:nvSpPr>
          <p:cNvPr id="30" name="Text 28"/>
          <p:cNvSpPr/>
          <p:nvPr/>
        </p:nvSpPr>
        <p:spPr>
          <a:xfrm>
            <a:off x="502920" y="3849624"/>
            <a:ext cx="3118104"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PROPOSED OWNER</a:t>
            </a:r>
            <a:endParaRPr lang="en-US" sz="1180" dirty="0"/>
          </a:p>
        </p:txBody>
      </p:sp>
      <p:sp>
        <p:nvSpPr>
          <p:cNvPr id="31" name="Text 29"/>
          <p:cNvSpPr/>
          <p:nvPr/>
        </p:nvSpPr>
        <p:spPr>
          <a:xfrm>
            <a:off x="3749040" y="3849624"/>
            <a:ext cx="7717536" cy="219456"/>
          </a:xfrm>
          <a:prstGeom prst="rect">
            <a:avLst/>
          </a:prstGeom>
          <a:noFill/>
          <a:ln/>
        </p:spPr>
        <p:txBody>
          <a:bodyPr wrap="square" lIns="0" tIns="0" rIns="0" bIns="0" rtlCol="0" anchor="ctr"/>
          <a:lstStyle/>
          <a:p>
            <a:pPr indent="0" marL="0">
              <a:buNone/>
            </a:pPr>
            <a:r>
              <a:rPr lang="en-US" sz="1180" b="1" spc="80" kern="0" dirty="0">
                <a:solidFill>
                  <a:srgbClr val="6D2E46"/>
                </a:solidFill>
                <a:latin typeface="Calibri" pitchFamily="34" charset="0"/>
                <a:ea typeface="Calibri" pitchFamily="34" charset="-122"/>
                <a:cs typeface="Calibri" pitchFamily="34" charset="-120"/>
              </a:rPr>
              <a:t>REVIEW CHECKPOINT</a:t>
            </a:r>
            <a:endParaRPr lang="en-US" sz="1180" dirty="0"/>
          </a:p>
        </p:txBody>
      </p:sp>
      <p:sp>
        <p:nvSpPr>
          <p:cNvPr id="32" name="Text 30"/>
          <p:cNvSpPr/>
          <p:nvPr/>
        </p:nvSpPr>
        <p:spPr>
          <a:xfrm>
            <a:off x="502920" y="4261104"/>
            <a:ext cx="2990088" cy="265176"/>
          </a:xfrm>
          <a:prstGeom prst="rect">
            <a:avLst/>
          </a:prstGeom>
          <a:noFill/>
          <a:ln/>
        </p:spPr>
        <p:txBody>
          <a:bodyPr wrap="square" lIns="0" tIns="0" rIns="0" bIns="0" rtlCol="0" anchor="ctr"/>
          <a:lstStyle/>
          <a:p>
            <a:pPr indent="0" marL="0">
              <a:buNone/>
            </a:pPr>
            <a:r>
              <a:rPr lang="en-US" sz="1780" b="1" dirty="0">
                <a:solidFill>
                  <a:srgbClr val="30282E"/>
                </a:solidFill>
                <a:latin typeface="Calibri" pitchFamily="34" charset="0"/>
                <a:ea typeface="Calibri" pitchFamily="34" charset="-122"/>
                <a:cs typeface="Calibri" pitchFamily="34" charset="-120"/>
              </a:rPr>
              <a:t>Category lead</a:t>
            </a:r>
            <a:endParaRPr lang="en-US" sz="1780" dirty="0"/>
          </a:p>
        </p:txBody>
      </p:sp>
      <p:sp>
        <p:nvSpPr>
          <p:cNvPr id="33" name="Text 31"/>
          <p:cNvSpPr/>
          <p:nvPr/>
        </p:nvSpPr>
        <p:spPr>
          <a:xfrm>
            <a:off x="3749040" y="4261104"/>
            <a:ext cx="7690104" cy="265176"/>
          </a:xfrm>
          <a:prstGeom prst="rect">
            <a:avLst/>
          </a:prstGeom>
          <a:noFill/>
          <a:ln/>
        </p:spPr>
        <p:txBody>
          <a:bodyPr wrap="square" lIns="0" tIns="0" rIns="0" bIns="0" rtlCol="0" anchor="ctr"/>
          <a:lstStyle/>
          <a:p>
            <a:pPr indent="0" marL="0">
              <a:buNone/>
            </a:pPr>
            <a:r>
              <a:rPr lang="en-US" sz="1730" dirty="0">
                <a:solidFill>
                  <a:srgbClr val="30282E"/>
                </a:solidFill>
                <a:latin typeface="Calibri" pitchFamily="34" charset="0"/>
                <a:ea typeface="Calibri" pitchFamily="34" charset="-122"/>
                <a:cs typeface="Calibri" pitchFamily="34" charset="-120"/>
              </a:rPr>
              <a:t>Every chosen item has a decision, owner and due date.</a:t>
            </a:r>
            <a:endParaRPr lang="en-US" sz="1730" dirty="0"/>
          </a:p>
        </p:txBody>
      </p:sp>
      <p:sp>
        <p:nvSpPr>
          <p:cNvPr id="34" name="Text 32"/>
          <p:cNvSpPr/>
          <p:nvPr/>
        </p:nvSpPr>
        <p:spPr>
          <a:xfrm>
            <a:off x="502920" y="4654296"/>
            <a:ext cx="2990088" cy="265176"/>
          </a:xfrm>
          <a:prstGeom prst="rect">
            <a:avLst/>
          </a:prstGeom>
          <a:noFill/>
          <a:ln/>
        </p:spPr>
        <p:txBody>
          <a:bodyPr wrap="square" lIns="0" tIns="0" rIns="0" bIns="0" rtlCol="0" anchor="ctr"/>
          <a:lstStyle/>
          <a:p>
            <a:pPr indent="0" marL="0">
              <a:buNone/>
            </a:pPr>
            <a:r>
              <a:rPr lang="en-US" sz="1780" b="1" dirty="0">
                <a:solidFill>
                  <a:srgbClr val="30282E"/>
                </a:solidFill>
                <a:latin typeface="Calibri" pitchFamily="34" charset="0"/>
                <a:ea typeface="Calibri" pitchFamily="34" charset="-122"/>
                <a:cs typeface="Calibri" pitchFamily="34" charset="-120"/>
              </a:rPr>
              <a:t>Supply / e-commerce</a:t>
            </a:r>
            <a:endParaRPr lang="en-US" sz="1780" dirty="0"/>
          </a:p>
        </p:txBody>
      </p:sp>
      <p:sp>
        <p:nvSpPr>
          <p:cNvPr id="35" name="Text 33"/>
          <p:cNvSpPr/>
          <p:nvPr/>
        </p:nvSpPr>
        <p:spPr>
          <a:xfrm>
            <a:off x="3749040" y="4654296"/>
            <a:ext cx="7690104" cy="265176"/>
          </a:xfrm>
          <a:prstGeom prst="rect">
            <a:avLst/>
          </a:prstGeom>
          <a:noFill/>
          <a:ln/>
        </p:spPr>
        <p:txBody>
          <a:bodyPr wrap="square" lIns="0" tIns="0" rIns="0" bIns="0" rtlCol="0" anchor="ctr"/>
          <a:lstStyle/>
          <a:p>
            <a:pPr indent="0" marL="0">
              <a:buNone/>
            </a:pPr>
            <a:r>
              <a:rPr lang="en-US" sz="1730" dirty="0">
                <a:solidFill>
                  <a:srgbClr val="30282E"/>
                </a:solidFill>
                <a:latin typeface="Calibri" pitchFamily="34" charset="0"/>
                <a:ea typeface="Calibri" pitchFamily="34" charset="-122"/>
                <a:cs typeface="Calibri" pitchFamily="34" charset="-120"/>
              </a:rPr>
              <a:t>Stock or listing/feed evidence is validated before spend.</a:t>
            </a:r>
            <a:endParaRPr lang="en-US" sz="1730" dirty="0"/>
          </a:p>
        </p:txBody>
      </p:sp>
      <p:sp>
        <p:nvSpPr>
          <p:cNvPr id="36" name="Text 34"/>
          <p:cNvSpPr/>
          <p:nvPr/>
        </p:nvSpPr>
        <p:spPr>
          <a:xfrm>
            <a:off x="502920" y="5047488"/>
            <a:ext cx="2990088" cy="265176"/>
          </a:xfrm>
          <a:prstGeom prst="rect">
            <a:avLst/>
          </a:prstGeom>
          <a:noFill/>
          <a:ln/>
        </p:spPr>
        <p:txBody>
          <a:bodyPr wrap="square" lIns="0" tIns="0" rIns="0" bIns="0" rtlCol="0" anchor="ctr"/>
          <a:lstStyle/>
          <a:p>
            <a:pPr indent="0" marL="0">
              <a:buNone/>
            </a:pPr>
            <a:r>
              <a:rPr lang="en-US" sz="1780" b="1" dirty="0">
                <a:solidFill>
                  <a:srgbClr val="30282E"/>
                </a:solidFill>
                <a:latin typeface="Calibri" pitchFamily="34" charset="0"/>
                <a:ea typeface="Calibri" pitchFamily="34" charset="-122"/>
                <a:cs typeface="Calibri" pitchFamily="34" charset="-120"/>
              </a:rPr>
              <a:t>Buyer / finance</a:t>
            </a:r>
            <a:endParaRPr lang="en-US" sz="1780" dirty="0"/>
          </a:p>
        </p:txBody>
      </p:sp>
      <p:sp>
        <p:nvSpPr>
          <p:cNvPr id="37" name="Text 35"/>
          <p:cNvSpPr/>
          <p:nvPr/>
        </p:nvSpPr>
        <p:spPr>
          <a:xfrm>
            <a:off x="3749040" y="5047488"/>
            <a:ext cx="7690104" cy="265176"/>
          </a:xfrm>
          <a:prstGeom prst="rect">
            <a:avLst/>
          </a:prstGeom>
          <a:noFill/>
          <a:ln/>
        </p:spPr>
        <p:txBody>
          <a:bodyPr wrap="square" lIns="0" tIns="0" rIns="0" bIns="0" rtlCol="0" anchor="ctr"/>
          <a:lstStyle/>
          <a:p>
            <a:pPr indent="0" marL="0">
              <a:buNone/>
            </a:pPr>
            <a:r>
              <a:rPr lang="en-US" sz="1730" dirty="0">
                <a:solidFill>
                  <a:srgbClr val="30282E"/>
                </a:solidFill>
                <a:latin typeface="Calibri" pitchFamily="34" charset="0"/>
                <a:ea typeface="Calibri" pitchFamily="34" charset="-122"/>
                <a:cs typeface="Calibri" pitchFamily="34" charset="-120"/>
              </a:rPr>
              <a:t>A baseline and net gross-profit measure are agreed before testing.</a:t>
            </a:r>
            <a:endParaRPr lang="en-US" sz="1730" dirty="0"/>
          </a:p>
        </p:txBody>
      </p:sp>
      <p:sp>
        <p:nvSpPr>
          <p:cNvPr id="38" name="Shape 36"/>
          <p:cNvSpPr/>
          <p:nvPr/>
        </p:nvSpPr>
        <p:spPr>
          <a:xfrm>
            <a:off x="502920" y="5614416"/>
            <a:ext cx="11183112" cy="420624"/>
          </a:xfrm>
          <a:prstGeom prst="rect">
            <a:avLst/>
          </a:prstGeom>
          <a:solidFill>
            <a:srgbClr val="F0DFE3"/>
          </a:solidFill>
          <a:ln w="12700">
            <a:solidFill>
              <a:srgbClr val="F0DFE3">
                <a:alpha val="0"/>
              </a:srgbClr>
            </a:solidFill>
            <a:prstDash val="solid"/>
          </a:ln>
        </p:spPr>
      </p:sp>
      <p:sp>
        <p:nvSpPr>
          <p:cNvPr id="39" name="Text 37"/>
          <p:cNvSpPr/>
          <p:nvPr/>
        </p:nvSpPr>
        <p:spPr>
          <a:xfrm>
            <a:off x="667512" y="5705856"/>
            <a:ext cx="10853928" cy="228600"/>
          </a:xfrm>
          <a:prstGeom prst="rect">
            <a:avLst/>
          </a:prstGeom>
          <a:noFill/>
          <a:ln/>
        </p:spPr>
        <p:txBody>
          <a:bodyPr wrap="square" lIns="0" tIns="0" rIns="0" bIns="0" rtlCol="0" anchor="ctr"/>
          <a:lstStyle/>
          <a:p>
            <a:pPr indent="0" marL="0">
              <a:buNone/>
            </a:pPr>
            <a:r>
              <a:rPr lang="en-US" sz="1540" b="1" dirty="0">
                <a:solidFill>
                  <a:srgbClr val="502737"/>
                </a:solidFill>
                <a:latin typeface="Calibri" pitchFamily="34" charset="0"/>
                <a:ea typeface="Calibri" pitchFamily="34" charset="-122"/>
                <a:cs typeface="Calibri" pitchFamily="34" charset="-120"/>
              </a:rPr>
              <a:t>Available now: browser-local review and export. Shared assignment and operational-system execution are not implemented.</a:t>
            </a:r>
            <a:endParaRPr lang="en-US" sz="15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C252B"/>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D1BFC6"/>
                </a:solidFill>
                <a:latin typeface="Calibri" pitchFamily="34" charset="0"/>
                <a:ea typeface="Calibri" pitchFamily="34" charset="-122"/>
                <a:cs typeface="Calibri" pitchFamily="34" charset="-120"/>
              </a:rPr>
              <a:t>Leadership recommendation · proposed gates, not approved commitments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D1BFC6"/>
                </a:solidFill>
                <a:latin typeface="Calibri" pitchFamily="34" charset="0"/>
                <a:ea typeface="Calibri" pitchFamily="34" charset="-122"/>
                <a:cs typeface="Calibri" pitchFamily="34" charset="-120"/>
              </a:rPr>
              <a:t>08 / 10</a:t>
            </a:r>
            <a:endParaRPr lang="en-US" sz="1050" dirty="0"/>
          </a:p>
        </p:txBody>
      </p:sp>
      <p:sp>
        <p:nvSpPr>
          <p:cNvPr id="4" name="Text 2"/>
          <p:cNvSpPr/>
          <p:nvPr/>
        </p:nvSpPr>
        <p:spPr>
          <a:xfrm>
            <a:off x="594360" y="548640"/>
            <a:ext cx="9326880" cy="219456"/>
          </a:xfrm>
          <a:prstGeom prst="rect">
            <a:avLst/>
          </a:prstGeom>
          <a:noFill/>
          <a:ln/>
        </p:spPr>
        <p:txBody>
          <a:bodyPr wrap="square" lIns="0" tIns="0" rIns="0" bIns="0" rtlCol="0" anchor="ctr"/>
          <a:lstStyle/>
          <a:p>
            <a:pPr indent="0" marL="0">
              <a:buNone/>
            </a:pPr>
            <a:r>
              <a:rPr lang="en-US" sz="1200" b="1" spc="160" kern="0" dirty="0">
                <a:solidFill>
                  <a:srgbClr val="E6BFCA"/>
                </a:solidFill>
                <a:latin typeface="Calibri" pitchFamily="34" charset="0"/>
                <a:ea typeface="Calibri" pitchFamily="34" charset="-122"/>
                <a:cs typeface="Calibri" pitchFamily="34" charset="-120"/>
              </a:rPr>
              <a:t>DECISION REQUIRED</a:t>
            </a:r>
            <a:endParaRPr lang="en-US" sz="1200" dirty="0"/>
          </a:p>
        </p:txBody>
      </p:sp>
      <p:sp>
        <p:nvSpPr>
          <p:cNvPr id="5" name="Text 3"/>
          <p:cNvSpPr/>
          <p:nvPr/>
        </p:nvSpPr>
        <p:spPr>
          <a:xfrm>
            <a:off x="594360" y="1024128"/>
            <a:ext cx="10826496" cy="1042416"/>
          </a:xfrm>
          <a:prstGeom prst="rect">
            <a:avLst/>
          </a:prstGeom>
          <a:noFill/>
          <a:ln/>
        </p:spPr>
        <p:txBody>
          <a:bodyPr wrap="square" lIns="0" tIns="0" rIns="0" bIns="0" rtlCol="0" anchor="t"/>
          <a:lstStyle/>
          <a:p>
            <a:pPr indent="0" marL="0">
              <a:buNone/>
            </a:pPr>
            <a:r>
              <a:rPr lang="en-US" sz="3700" dirty="0">
                <a:solidFill>
                  <a:srgbClr val="FAF6EF"/>
                </a:solidFill>
                <a:latin typeface="Georgia" pitchFamily="34" charset="0"/>
                <a:ea typeface="Georgia" pitchFamily="34" charset="-122"/>
                <a:cs typeface="Georgia" pitchFamily="34" charset="-120"/>
              </a:rPr>
              <a:t>Approve the checks.</a:t>
            </a:r>
            <a:endParaRPr lang="en-US" sz="3700" dirty="0"/>
          </a:p>
          <a:p>
            <a:pPr indent="0" marL="0">
              <a:buNone/>
            </a:pPr>
            <a:r>
              <a:rPr lang="en-US" sz="3700" dirty="0">
                <a:solidFill>
                  <a:srgbClr val="FAF6EF"/>
                </a:solidFill>
                <a:latin typeface="Georgia" pitchFamily="34" charset="0"/>
                <a:ea typeface="Georgia" pitchFamily="34" charset="-122"/>
                <a:cs typeface="Georgia" pitchFamily="34" charset="-120"/>
              </a:rPr>
              <a:t>Make scale conditional.</a:t>
            </a:r>
            <a:endParaRPr lang="en-US" sz="3700" dirty="0"/>
          </a:p>
        </p:txBody>
      </p:sp>
      <p:sp>
        <p:nvSpPr>
          <p:cNvPr id="6" name="Shape 4"/>
          <p:cNvSpPr/>
          <p:nvPr/>
        </p:nvSpPr>
        <p:spPr>
          <a:xfrm>
            <a:off x="594360" y="2505456"/>
            <a:ext cx="3547872" cy="2194560"/>
          </a:xfrm>
          <a:prstGeom prst="roundRect">
            <a:avLst>
              <a:gd name="adj" fmla="val 5000"/>
            </a:avLst>
          </a:prstGeom>
          <a:solidFill>
            <a:srgbClr val="502737"/>
          </a:solidFill>
          <a:ln w="12700">
            <a:solidFill>
              <a:srgbClr val="502737">
                <a:alpha val="0"/>
              </a:srgbClr>
            </a:solidFill>
            <a:prstDash val="solid"/>
          </a:ln>
        </p:spPr>
      </p:sp>
      <p:sp>
        <p:nvSpPr>
          <p:cNvPr id="7" name="Shape 5"/>
          <p:cNvSpPr/>
          <p:nvPr/>
        </p:nvSpPr>
        <p:spPr>
          <a:xfrm>
            <a:off x="777240" y="2734056"/>
            <a:ext cx="320040" cy="320040"/>
          </a:xfrm>
          <a:prstGeom prst="ellipse">
            <a:avLst/>
          </a:prstGeom>
          <a:solidFill>
            <a:srgbClr val="E6BFCA"/>
          </a:solidFill>
          <a:ln w="12700">
            <a:solidFill>
              <a:srgbClr val="E6BFCA">
                <a:alpha val="0"/>
              </a:srgbClr>
            </a:solidFill>
            <a:prstDash val="solid"/>
          </a:ln>
        </p:spPr>
      </p:sp>
      <p:sp>
        <p:nvSpPr>
          <p:cNvPr id="8" name="Text 6"/>
          <p:cNvSpPr/>
          <p:nvPr/>
        </p:nvSpPr>
        <p:spPr>
          <a:xfrm>
            <a:off x="777240" y="2734056"/>
            <a:ext cx="320040" cy="320040"/>
          </a:xfrm>
          <a:prstGeom prst="rect">
            <a:avLst/>
          </a:prstGeom>
          <a:noFill/>
          <a:ln/>
        </p:spPr>
        <p:txBody>
          <a:bodyPr wrap="square" lIns="0" tIns="0" rIns="0" bIns="0" rtlCol="0" anchor="ctr"/>
          <a:lstStyle/>
          <a:p>
            <a:pPr algn="ctr" indent="0" marL="0">
              <a:buNone/>
            </a:pPr>
            <a:r>
              <a:rPr lang="en-US" sz="1700" b="1" dirty="0">
                <a:solidFill>
                  <a:srgbClr val="502737"/>
                </a:solidFill>
                <a:latin typeface="Calibri" pitchFamily="34" charset="0"/>
                <a:ea typeface="Calibri" pitchFamily="34" charset="-122"/>
                <a:cs typeface="Calibri" pitchFamily="34" charset="-120"/>
              </a:rPr>
              <a:t>1</a:t>
            </a:r>
            <a:endParaRPr lang="en-US" sz="1700" dirty="0"/>
          </a:p>
        </p:txBody>
      </p:sp>
      <p:sp>
        <p:nvSpPr>
          <p:cNvPr id="9" name="Text 7"/>
          <p:cNvSpPr/>
          <p:nvPr/>
        </p:nvSpPr>
        <p:spPr>
          <a:xfrm>
            <a:off x="1252728" y="2715768"/>
            <a:ext cx="2633472" cy="274320"/>
          </a:xfrm>
          <a:prstGeom prst="rect">
            <a:avLst/>
          </a:prstGeom>
          <a:noFill/>
          <a:ln/>
        </p:spPr>
        <p:txBody>
          <a:bodyPr wrap="square" lIns="0" tIns="0" rIns="0" bIns="0" rtlCol="0" anchor="ctr"/>
          <a:lstStyle/>
          <a:p>
            <a:pPr indent="0" marL="0">
              <a:buNone/>
            </a:pPr>
            <a:r>
              <a:rPr lang="en-US" sz="2050" b="1" dirty="0">
                <a:solidFill>
                  <a:srgbClr val="FAF6EF"/>
                </a:solidFill>
                <a:latin typeface="Calibri" pitchFamily="34" charset="0"/>
                <a:ea typeface="Calibri" pitchFamily="34" charset="-122"/>
                <a:cs typeface="Calibri" pitchFamily="34" charset="-120"/>
              </a:rPr>
              <a:t>VALIDATE</a:t>
            </a:r>
            <a:endParaRPr lang="en-US" sz="2050" dirty="0"/>
          </a:p>
        </p:txBody>
      </p:sp>
      <p:sp>
        <p:nvSpPr>
          <p:cNvPr id="10" name="Text 8"/>
          <p:cNvSpPr/>
          <p:nvPr/>
        </p:nvSpPr>
        <p:spPr>
          <a:xfrm>
            <a:off x="777240" y="3291840"/>
            <a:ext cx="3163824" cy="329184"/>
          </a:xfrm>
          <a:prstGeom prst="rect">
            <a:avLst/>
          </a:prstGeom>
          <a:noFill/>
          <a:ln/>
        </p:spPr>
        <p:txBody>
          <a:bodyPr wrap="square" lIns="0" tIns="0" rIns="0" bIns="0" rtlCol="0" anchor="ctr"/>
          <a:lstStyle/>
          <a:p>
            <a:pPr indent="0" marL="0">
              <a:buNone/>
            </a:pPr>
            <a:r>
              <a:rPr lang="en-US" sz="1650" b="1" dirty="0">
                <a:solidFill>
                  <a:srgbClr val="E6BFCA"/>
                </a:solidFill>
                <a:latin typeface="Calibri" pitchFamily="34" charset="0"/>
                <a:ea typeface="Calibri" pitchFamily="34" charset="-122"/>
                <a:cs typeface="Calibri" pitchFamily="34" charset="-120"/>
              </a:rPr>
              <a:t>Category lead + data owners</a:t>
            </a:r>
            <a:endParaRPr lang="en-US" sz="1650" dirty="0"/>
          </a:p>
        </p:txBody>
      </p:sp>
      <p:sp>
        <p:nvSpPr>
          <p:cNvPr id="11" name="Text 9"/>
          <p:cNvSpPr/>
          <p:nvPr/>
        </p:nvSpPr>
        <p:spPr>
          <a:xfrm>
            <a:off x="777240" y="3822192"/>
            <a:ext cx="3145536" cy="621792"/>
          </a:xfrm>
          <a:prstGeom prst="rect">
            <a:avLst/>
          </a:prstGeom>
          <a:noFill/>
          <a:ln/>
        </p:spPr>
        <p:txBody>
          <a:bodyPr wrap="square" lIns="0" tIns="0" rIns="0" bIns="0" rtlCol="0" anchor="ctr"/>
          <a:lstStyle/>
          <a:p>
            <a:pPr indent="0" marL="0">
              <a:buNone/>
            </a:pPr>
            <a:r>
              <a:rPr lang="en-US" sz="1770" dirty="0">
                <a:solidFill>
                  <a:srgbClr val="FAF6EF"/>
                </a:solidFill>
                <a:latin typeface="Calibri" pitchFamily="34" charset="0"/>
                <a:ea typeface="Calibri" pitchFamily="34" charset="-122"/>
                <a:cs typeface="Calibri" pitchFamily="34" charset="-120"/>
              </a:rPr>
              <a:t>Freshness, listing and lifecycle</a:t>
            </a:r>
            <a:endParaRPr lang="en-US" sz="1770" dirty="0"/>
          </a:p>
          <a:p>
            <a:pPr indent="0" marL="0">
              <a:buNone/>
            </a:pPr>
            <a:r>
              <a:rPr lang="en-US" sz="1770" dirty="0">
                <a:solidFill>
                  <a:srgbClr val="FAF6EF"/>
                </a:solidFill>
                <a:latin typeface="Calibri" pitchFamily="34" charset="0"/>
                <a:ea typeface="Calibri" pitchFamily="34" charset="-122"/>
                <a:cs typeface="Calibri" pitchFamily="34" charset="-120"/>
              </a:rPr>
              <a:t>questions are resolved.</a:t>
            </a:r>
            <a:endParaRPr lang="en-US" sz="1770" dirty="0"/>
          </a:p>
        </p:txBody>
      </p:sp>
      <p:sp>
        <p:nvSpPr>
          <p:cNvPr id="12" name="Shape 10"/>
          <p:cNvSpPr/>
          <p:nvPr/>
        </p:nvSpPr>
        <p:spPr>
          <a:xfrm>
            <a:off x="4416552" y="2505456"/>
            <a:ext cx="3547872" cy="2194560"/>
          </a:xfrm>
          <a:prstGeom prst="roundRect">
            <a:avLst>
              <a:gd name="adj" fmla="val 5000"/>
            </a:avLst>
          </a:prstGeom>
          <a:solidFill>
            <a:srgbClr val="502737"/>
          </a:solidFill>
          <a:ln w="12700">
            <a:solidFill>
              <a:srgbClr val="502737">
                <a:alpha val="0"/>
              </a:srgbClr>
            </a:solidFill>
            <a:prstDash val="solid"/>
          </a:ln>
        </p:spPr>
      </p:sp>
      <p:sp>
        <p:nvSpPr>
          <p:cNvPr id="13" name="Shape 11"/>
          <p:cNvSpPr/>
          <p:nvPr/>
        </p:nvSpPr>
        <p:spPr>
          <a:xfrm>
            <a:off x="4599432" y="2734056"/>
            <a:ext cx="320040" cy="320040"/>
          </a:xfrm>
          <a:prstGeom prst="ellipse">
            <a:avLst/>
          </a:prstGeom>
          <a:solidFill>
            <a:srgbClr val="E6BFCA"/>
          </a:solidFill>
          <a:ln w="12700">
            <a:solidFill>
              <a:srgbClr val="E6BFCA">
                <a:alpha val="0"/>
              </a:srgbClr>
            </a:solidFill>
            <a:prstDash val="solid"/>
          </a:ln>
        </p:spPr>
      </p:sp>
      <p:sp>
        <p:nvSpPr>
          <p:cNvPr id="14" name="Text 12"/>
          <p:cNvSpPr/>
          <p:nvPr/>
        </p:nvSpPr>
        <p:spPr>
          <a:xfrm>
            <a:off x="4599432" y="2734056"/>
            <a:ext cx="320040" cy="320040"/>
          </a:xfrm>
          <a:prstGeom prst="rect">
            <a:avLst/>
          </a:prstGeom>
          <a:noFill/>
          <a:ln/>
        </p:spPr>
        <p:txBody>
          <a:bodyPr wrap="square" lIns="0" tIns="0" rIns="0" bIns="0" rtlCol="0" anchor="ctr"/>
          <a:lstStyle/>
          <a:p>
            <a:pPr algn="ctr" indent="0" marL="0">
              <a:buNone/>
            </a:pPr>
            <a:r>
              <a:rPr lang="en-US" sz="1700" b="1" dirty="0">
                <a:solidFill>
                  <a:srgbClr val="502737"/>
                </a:solidFill>
                <a:latin typeface="Calibri" pitchFamily="34" charset="0"/>
                <a:ea typeface="Calibri" pitchFamily="34" charset="-122"/>
                <a:cs typeface="Calibri" pitchFamily="34" charset="-120"/>
              </a:rPr>
              <a:t>2</a:t>
            </a:r>
            <a:endParaRPr lang="en-US" sz="1700" dirty="0"/>
          </a:p>
        </p:txBody>
      </p:sp>
      <p:sp>
        <p:nvSpPr>
          <p:cNvPr id="15" name="Text 13"/>
          <p:cNvSpPr/>
          <p:nvPr/>
        </p:nvSpPr>
        <p:spPr>
          <a:xfrm>
            <a:off x="5074920" y="2715768"/>
            <a:ext cx="2633472" cy="274320"/>
          </a:xfrm>
          <a:prstGeom prst="rect">
            <a:avLst/>
          </a:prstGeom>
          <a:noFill/>
          <a:ln/>
        </p:spPr>
        <p:txBody>
          <a:bodyPr wrap="square" lIns="0" tIns="0" rIns="0" bIns="0" rtlCol="0" anchor="ctr"/>
          <a:lstStyle/>
          <a:p>
            <a:pPr indent="0" marL="0">
              <a:buNone/>
            </a:pPr>
            <a:r>
              <a:rPr lang="en-US" sz="2050" b="1" dirty="0">
                <a:solidFill>
                  <a:srgbClr val="FAF6EF"/>
                </a:solidFill>
                <a:latin typeface="Calibri" pitchFamily="34" charset="0"/>
                <a:ea typeface="Calibri" pitchFamily="34" charset="-122"/>
                <a:cs typeface="Calibri" pitchFamily="34" charset="-120"/>
              </a:rPr>
              <a:t>TEST</a:t>
            </a:r>
            <a:endParaRPr lang="en-US" sz="2050" dirty="0"/>
          </a:p>
        </p:txBody>
      </p:sp>
      <p:sp>
        <p:nvSpPr>
          <p:cNvPr id="16" name="Text 14"/>
          <p:cNvSpPr/>
          <p:nvPr/>
        </p:nvSpPr>
        <p:spPr>
          <a:xfrm>
            <a:off x="4599432" y="3291840"/>
            <a:ext cx="3163824" cy="329184"/>
          </a:xfrm>
          <a:prstGeom prst="rect">
            <a:avLst/>
          </a:prstGeom>
          <a:noFill/>
          <a:ln/>
        </p:spPr>
        <p:txBody>
          <a:bodyPr wrap="square" lIns="0" tIns="0" rIns="0" bIns="0" rtlCol="0" anchor="ctr"/>
          <a:lstStyle/>
          <a:p>
            <a:pPr indent="0" marL="0">
              <a:buNone/>
            </a:pPr>
            <a:r>
              <a:rPr lang="en-US" sz="1650" b="1" dirty="0">
                <a:solidFill>
                  <a:srgbClr val="E6BFCA"/>
                </a:solidFill>
                <a:latin typeface="Calibri" pitchFamily="34" charset="0"/>
                <a:ea typeface="Calibri" pitchFamily="34" charset="-122"/>
                <a:cs typeface="Calibri" pitchFamily="34" charset="-120"/>
              </a:rPr>
              <a:t>Buyer + finance</a:t>
            </a:r>
            <a:endParaRPr lang="en-US" sz="1650" dirty="0"/>
          </a:p>
        </p:txBody>
      </p:sp>
      <p:sp>
        <p:nvSpPr>
          <p:cNvPr id="17" name="Text 15"/>
          <p:cNvSpPr/>
          <p:nvPr/>
        </p:nvSpPr>
        <p:spPr>
          <a:xfrm>
            <a:off x="4599432" y="3822192"/>
            <a:ext cx="3145536" cy="621792"/>
          </a:xfrm>
          <a:prstGeom prst="rect">
            <a:avLst/>
          </a:prstGeom>
          <a:noFill/>
          <a:ln/>
        </p:spPr>
        <p:txBody>
          <a:bodyPr wrap="square" lIns="0" tIns="0" rIns="0" bIns="0" rtlCol="0" anchor="ctr"/>
          <a:lstStyle/>
          <a:p>
            <a:pPr indent="0" marL="0">
              <a:buNone/>
            </a:pPr>
            <a:r>
              <a:rPr lang="en-US" sz="1770" dirty="0">
                <a:solidFill>
                  <a:srgbClr val="FAF6EF"/>
                </a:solidFill>
                <a:latin typeface="Calibri" pitchFamily="34" charset="0"/>
                <a:ea typeface="Calibri" pitchFamily="34" charset="-122"/>
                <a:cs typeface="Calibri" pitchFamily="34" charset="-120"/>
              </a:rPr>
              <a:t>Scope, costs, baseline/control and</a:t>
            </a:r>
            <a:endParaRPr lang="en-US" sz="1770" dirty="0"/>
          </a:p>
          <a:p>
            <a:pPr indent="0" marL="0">
              <a:buNone/>
            </a:pPr>
            <a:r>
              <a:rPr lang="en-US" sz="1770" dirty="0">
                <a:solidFill>
                  <a:srgbClr val="FAF6EF"/>
                </a:solidFill>
                <a:latin typeface="Calibri" pitchFamily="34" charset="0"/>
                <a:ea typeface="Calibri" pitchFamily="34" charset="-122"/>
                <a:cs typeface="Calibri" pitchFamily="34" charset="-120"/>
              </a:rPr>
              <a:t>success criteria are agreed first.</a:t>
            </a:r>
            <a:endParaRPr lang="en-US" sz="1770" dirty="0"/>
          </a:p>
        </p:txBody>
      </p:sp>
      <p:sp>
        <p:nvSpPr>
          <p:cNvPr id="18" name="Shape 16"/>
          <p:cNvSpPr/>
          <p:nvPr/>
        </p:nvSpPr>
        <p:spPr>
          <a:xfrm>
            <a:off x="8238744" y="2505456"/>
            <a:ext cx="3547872" cy="2194560"/>
          </a:xfrm>
          <a:prstGeom prst="roundRect">
            <a:avLst>
              <a:gd name="adj" fmla="val 5000"/>
            </a:avLst>
          </a:prstGeom>
          <a:solidFill>
            <a:srgbClr val="6D2E46"/>
          </a:solidFill>
          <a:ln w="12700">
            <a:solidFill>
              <a:srgbClr val="6D2E46">
                <a:alpha val="0"/>
              </a:srgbClr>
            </a:solidFill>
            <a:prstDash val="solid"/>
          </a:ln>
        </p:spPr>
      </p:sp>
      <p:sp>
        <p:nvSpPr>
          <p:cNvPr id="19" name="Shape 17"/>
          <p:cNvSpPr/>
          <p:nvPr/>
        </p:nvSpPr>
        <p:spPr>
          <a:xfrm>
            <a:off x="8421624" y="2734056"/>
            <a:ext cx="320040" cy="320040"/>
          </a:xfrm>
          <a:prstGeom prst="ellipse">
            <a:avLst/>
          </a:prstGeom>
          <a:solidFill>
            <a:srgbClr val="E6BFCA"/>
          </a:solidFill>
          <a:ln w="12700">
            <a:solidFill>
              <a:srgbClr val="E6BFCA">
                <a:alpha val="0"/>
              </a:srgbClr>
            </a:solidFill>
            <a:prstDash val="solid"/>
          </a:ln>
        </p:spPr>
      </p:sp>
      <p:sp>
        <p:nvSpPr>
          <p:cNvPr id="20" name="Text 18"/>
          <p:cNvSpPr/>
          <p:nvPr/>
        </p:nvSpPr>
        <p:spPr>
          <a:xfrm>
            <a:off x="8421624" y="2734056"/>
            <a:ext cx="320040" cy="320040"/>
          </a:xfrm>
          <a:prstGeom prst="rect">
            <a:avLst/>
          </a:prstGeom>
          <a:noFill/>
          <a:ln/>
        </p:spPr>
        <p:txBody>
          <a:bodyPr wrap="square" lIns="0" tIns="0" rIns="0" bIns="0" rtlCol="0" anchor="ctr"/>
          <a:lstStyle/>
          <a:p>
            <a:pPr algn="ctr" indent="0" marL="0">
              <a:buNone/>
            </a:pPr>
            <a:r>
              <a:rPr lang="en-US" sz="1700" b="1" dirty="0">
                <a:solidFill>
                  <a:srgbClr val="502737"/>
                </a:solidFill>
                <a:latin typeface="Calibri" pitchFamily="34" charset="0"/>
                <a:ea typeface="Calibri" pitchFamily="34" charset="-122"/>
                <a:cs typeface="Calibri" pitchFamily="34" charset="-120"/>
              </a:rPr>
              <a:t>3</a:t>
            </a:r>
            <a:endParaRPr lang="en-US" sz="1700" dirty="0"/>
          </a:p>
        </p:txBody>
      </p:sp>
      <p:sp>
        <p:nvSpPr>
          <p:cNvPr id="21" name="Text 19"/>
          <p:cNvSpPr/>
          <p:nvPr/>
        </p:nvSpPr>
        <p:spPr>
          <a:xfrm>
            <a:off x="8897112" y="2715768"/>
            <a:ext cx="2633472" cy="274320"/>
          </a:xfrm>
          <a:prstGeom prst="rect">
            <a:avLst/>
          </a:prstGeom>
          <a:noFill/>
          <a:ln/>
        </p:spPr>
        <p:txBody>
          <a:bodyPr wrap="square" lIns="0" tIns="0" rIns="0" bIns="0" rtlCol="0" anchor="ctr"/>
          <a:lstStyle/>
          <a:p>
            <a:pPr indent="0" marL="0">
              <a:buNone/>
            </a:pPr>
            <a:r>
              <a:rPr lang="en-US" sz="2050" b="1" dirty="0">
                <a:solidFill>
                  <a:srgbClr val="FAF6EF"/>
                </a:solidFill>
                <a:latin typeface="Calibri" pitchFamily="34" charset="0"/>
                <a:ea typeface="Calibri" pitchFamily="34" charset="-122"/>
                <a:cs typeface="Calibri" pitchFamily="34" charset="-120"/>
              </a:rPr>
              <a:t>SCALE</a:t>
            </a:r>
            <a:endParaRPr lang="en-US" sz="2050" dirty="0"/>
          </a:p>
        </p:txBody>
      </p:sp>
      <p:sp>
        <p:nvSpPr>
          <p:cNvPr id="22" name="Text 20"/>
          <p:cNvSpPr/>
          <p:nvPr/>
        </p:nvSpPr>
        <p:spPr>
          <a:xfrm>
            <a:off x="8421624" y="3291840"/>
            <a:ext cx="3163824" cy="329184"/>
          </a:xfrm>
          <a:prstGeom prst="rect">
            <a:avLst/>
          </a:prstGeom>
          <a:noFill/>
          <a:ln/>
        </p:spPr>
        <p:txBody>
          <a:bodyPr wrap="square" lIns="0" tIns="0" rIns="0" bIns="0" rtlCol="0" anchor="ctr"/>
          <a:lstStyle/>
          <a:p>
            <a:pPr indent="0" marL="0">
              <a:buNone/>
            </a:pPr>
            <a:r>
              <a:rPr lang="en-US" sz="1650" b="1" dirty="0">
                <a:solidFill>
                  <a:srgbClr val="E6BFCA"/>
                </a:solidFill>
                <a:latin typeface="Calibri" pitchFamily="34" charset="0"/>
                <a:ea typeface="Calibri" pitchFamily="34" charset="-122"/>
                <a:cs typeface="Calibri" pitchFamily="34" charset="-120"/>
              </a:rPr>
              <a:t>Sponsor + technology owner</a:t>
            </a:r>
            <a:endParaRPr lang="en-US" sz="1650" dirty="0"/>
          </a:p>
        </p:txBody>
      </p:sp>
      <p:sp>
        <p:nvSpPr>
          <p:cNvPr id="23" name="Text 21"/>
          <p:cNvSpPr/>
          <p:nvPr/>
        </p:nvSpPr>
        <p:spPr>
          <a:xfrm>
            <a:off x="8421624" y="3822192"/>
            <a:ext cx="3145536" cy="621792"/>
          </a:xfrm>
          <a:prstGeom prst="rect">
            <a:avLst/>
          </a:prstGeom>
          <a:noFill/>
          <a:ln/>
        </p:spPr>
        <p:txBody>
          <a:bodyPr wrap="square" lIns="0" tIns="0" rIns="0" bIns="0" rtlCol="0" anchor="ctr"/>
          <a:lstStyle/>
          <a:p>
            <a:pPr indent="0" marL="0">
              <a:buNone/>
            </a:pPr>
            <a:r>
              <a:rPr lang="en-US" sz="1770" dirty="0">
                <a:solidFill>
                  <a:srgbClr val="FAF6EF"/>
                </a:solidFill>
                <a:latin typeface="Calibri" pitchFamily="34" charset="0"/>
                <a:ea typeface="Calibri" pitchFamily="34" charset="-122"/>
                <a:cs typeface="Calibri" pitchFamily="34" charset="-120"/>
              </a:rPr>
              <a:t>Review results and adoption;</a:t>
            </a:r>
            <a:endParaRPr lang="en-US" sz="1770" dirty="0"/>
          </a:p>
          <a:p>
            <a:pPr indent="0" marL="0">
              <a:buNone/>
            </a:pPr>
            <a:r>
              <a:rPr lang="en-US" sz="1770" dirty="0">
                <a:solidFill>
                  <a:srgbClr val="FAF6EF"/>
                </a:solidFill>
                <a:latin typeface="Calibri" pitchFamily="34" charset="0"/>
                <a:ea typeface="Calibri" pitchFamily="34" charset="-122"/>
                <a:cs typeface="Calibri" pitchFamily="34" charset="-120"/>
              </a:rPr>
              <a:t>fund tooling only if justified.</a:t>
            </a:r>
            <a:endParaRPr lang="en-US" sz="1770" dirty="0"/>
          </a:p>
        </p:txBody>
      </p:sp>
      <p:sp>
        <p:nvSpPr>
          <p:cNvPr id="24" name="Text 22"/>
          <p:cNvSpPr/>
          <p:nvPr/>
        </p:nvSpPr>
        <p:spPr>
          <a:xfrm>
            <a:off x="594360" y="5093208"/>
            <a:ext cx="1554480" cy="246888"/>
          </a:xfrm>
          <a:prstGeom prst="rect">
            <a:avLst/>
          </a:prstGeom>
          <a:noFill/>
          <a:ln/>
        </p:spPr>
        <p:txBody>
          <a:bodyPr wrap="square" lIns="0" tIns="0" rIns="0" bIns="0" rtlCol="0" anchor="ctr"/>
          <a:lstStyle/>
          <a:p>
            <a:pPr indent="0" marL="0">
              <a:buNone/>
            </a:pPr>
            <a:r>
              <a:rPr lang="en-US" sz="1240" b="1" spc="70" kern="0" dirty="0">
                <a:solidFill>
                  <a:srgbClr val="E6BFCA"/>
                </a:solidFill>
                <a:latin typeface="Calibri" pitchFamily="34" charset="0"/>
                <a:ea typeface="Calibri" pitchFamily="34" charset="-122"/>
                <a:cs typeface="Calibri" pitchFamily="34" charset="-120"/>
              </a:rPr>
              <a:t>TODAY'S ASK</a:t>
            </a:r>
            <a:endParaRPr lang="en-US" sz="1240" dirty="0"/>
          </a:p>
        </p:txBody>
      </p:sp>
      <p:sp>
        <p:nvSpPr>
          <p:cNvPr id="25" name="Text 23"/>
          <p:cNvSpPr/>
          <p:nvPr/>
        </p:nvSpPr>
        <p:spPr>
          <a:xfrm>
            <a:off x="2221992" y="5038344"/>
            <a:ext cx="9317736" cy="393192"/>
          </a:xfrm>
          <a:prstGeom prst="rect">
            <a:avLst/>
          </a:prstGeom>
          <a:noFill/>
          <a:ln/>
        </p:spPr>
        <p:txBody>
          <a:bodyPr wrap="square" lIns="0" tIns="0" rIns="0" bIns="0" rtlCol="0" anchor="ctr"/>
          <a:lstStyle/>
          <a:p>
            <a:pPr indent="0" marL="0">
              <a:buNone/>
            </a:pPr>
            <a:r>
              <a:rPr lang="en-US" sz="1940" b="1" dirty="0">
                <a:solidFill>
                  <a:srgbClr val="FAF6EF"/>
                </a:solidFill>
                <a:latin typeface="Calibri" pitchFamily="34" charset="0"/>
                <a:ea typeface="Calibri" pitchFamily="34" charset="-122"/>
                <a:cs typeface="Calibri" pitchFamily="34" charset="-120"/>
              </a:rPr>
              <a:t>Endorse the five checks  |  Nominate owners  |  Agree pilot scope and success criteria</a:t>
            </a:r>
            <a:endParaRPr lang="en-US" sz="1940" dirty="0"/>
          </a:p>
        </p:txBody>
      </p:sp>
      <p:sp>
        <p:nvSpPr>
          <p:cNvPr id="26" name="Text 24">
            <a:hlinkClick r:id="rId1" tooltip=""/>
          </p:cNvPr>
          <p:cNvSpPr/>
          <p:nvPr/>
        </p:nvSpPr>
        <p:spPr>
          <a:xfrm>
            <a:off x="594360" y="5696712"/>
            <a:ext cx="3429000" cy="274320"/>
          </a:xfrm>
          <a:prstGeom prst="rect">
            <a:avLst/>
          </a:prstGeom>
          <a:noFill/>
          <a:ln/>
        </p:spPr>
        <p:txBody>
          <a:bodyPr wrap="square" lIns="0" tIns="0" rIns="0" bIns="0" rtlCol="0" anchor="ctr"/>
          <a:lstStyle/>
          <a:p>
            <a:pPr indent="0" marL="0">
              <a:buNone/>
            </a:pPr>
            <a:r>
              <a:rPr lang="en-US" sz="1750" u="sng" dirty="0">
                <a:solidFill>
                  <a:srgbClr val="E6BFC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live dashboard</a:t>
            </a:r>
            <a:endParaRPr lang="en-US" sz="1750" dirty="0"/>
          </a:p>
        </p:txBody>
      </p:sp>
      <p:sp>
        <p:nvSpPr>
          <p:cNvPr id="27" name="Text 25">
            <a:hlinkClick r:id="rId2" tooltip=""/>
          </p:cNvPr>
          <p:cNvSpPr/>
          <p:nvPr/>
        </p:nvSpPr>
        <p:spPr>
          <a:xfrm>
            <a:off x="4270248" y="5696712"/>
            <a:ext cx="3657600" cy="274320"/>
          </a:xfrm>
          <a:prstGeom prst="rect">
            <a:avLst/>
          </a:prstGeom>
          <a:noFill/>
          <a:ln/>
        </p:spPr>
        <p:txBody>
          <a:bodyPr wrap="square" lIns="0" tIns="0" rIns="0" bIns="0" rtlCol="0" anchor="ctr"/>
          <a:lstStyle/>
          <a:p>
            <a:pPr indent="0" marL="0">
              <a:buNone/>
            </a:pPr>
            <a:r>
              <a:rPr lang="en-US" sz="1750" u="sng" dirty="0">
                <a:solidFill>
                  <a:srgbClr val="E6BFC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code and evidence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6F6268"/>
                </a:solidFill>
                <a:latin typeface="Calibri" pitchFamily="34" charset="0"/>
                <a:ea typeface="Calibri" pitchFamily="34" charset="-122"/>
                <a:cs typeface="Calibri" pitchFamily="34" charset="-120"/>
              </a:rPr>
              <a:t>Source: supplied CSVs; review.json methodology and data_quality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6F6268"/>
                </a:solidFill>
                <a:latin typeface="Calibri" pitchFamily="34" charset="0"/>
                <a:ea typeface="Calibri" pitchFamily="34" charset="-122"/>
                <a:cs typeface="Calibri" pitchFamily="34" charset="-120"/>
              </a:rPr>
              <a:t>09 / 10</a:t>
            </a:r>
            <a:endParaRPr lang="en-US" sz="1050" dirty="0"/>
          </a:p>
        </p:txBody>
      </p:sp>
      <p:sp>
        <p:nvSpPr>
          <p:cNvPr id="4" name="Text 2"/>
          <p:cNvSpPr/>
          <p:nvPr/>
        </p:nvSpPr>
        <p:spPr>
          <a:xfrm>
            <a:off x="502920" y="457200"/>
            <a:ext cx="9601200" cy="173736"/>
          </a:xfrm>
          <a:prstGeom prst="rect">
            <a:avLst/>
          </a:prstGeom>
          <a:noFill/>
          <a:ln/>
        </p:spPr>
        <p:txBody>
          <a:bodyPr wrap="square" lIns="0" tIns="0" rIns="0" bIns="0" rtlCol="0" anchor="ctr"/>
          <a:lstStyle/>
          <a:p>
            <a:pPr indent="0" marL="0">
              <a:buNone/>
            </a:pPr>
            <a:r>
              <a:rPr lang="en-US" sz="1050" b="1" spc="130" kern="0" dirty="0">
                <a:solidFill>
                  <a:srgbClr val="6D2E46"/>
                </a:solidFill>
                <a:latin typeface="Calibri" pitchFamily="34" charset="0"/>
                <a:ea typeface="Calibri" pitchFamily="34" charset="-122"/>
                <a:cs typeface="Calibri" pitchFamily="34" charset="-120"/>
              </a:rPr>
              <a:t>ZENBEAUTY RETAIL  /  CATEGORY REVIEW</a:t>
            </a:r>
            <a:endParaRPr lang="en-US" sz="1050" dirty="0"/>
          </a:p>
        </p:txBody>
      </p:sp>
      <p:sp>
        <p:nvSpPr>
          <p:cNvPr id="5" name="Text 3"/>
          <p:cNvSpPr/>
          <p:nvPr/>
        </p:nvSpPr>
        <p:spPr>
          <a:xfrm>
            <a:off x="502920" y="813816"/>
            <a:ext cx="11183112" cy="603504"/>
          </a:xfrm>
          <a:prstGeom prst="rect">
            <a:avLst/>
          </a:prstGeom>
          <a:noFill/>
          <a:ln/>
        </p:spPr>
        <p:txBody>
          <a:bodyPr wrap="square" lIns="0" tIns="0" rIns="0" bIns="0" rtlCol="0" anchor="ctr"/>
          <a:lstStyle/>
          <a:p>
            <a:pPr indent="0" marL="0">
              <a:buNone/>
            </a:pPr>
            <a:r>
              <a:rPr lang="en-US" sz="3200" b="1" dirty="0">
                <a:solidFill>
                  <a:srgbClr val="30282E"/>
                </a:solidFill>
                <a:latin typeface="Calibri" pitchFamily="34" charset="0"/>
                <a:ea typeface="Calibri" pitchFamily="34" charset="-122"/>
                <a:cs typeface="Calibri" pitchFamily="34" charset="-120"/>
              </a:rPr>
              <a:t>Source controls keep the interpretation defensible</a:t>
            </a:r>
            <a:endParaRPr lang="en-US" sz="3200" dirty="0"/>
          </a:p>
        </p:txBody>
      </p:sp>
      <p:sp>
        <p:nvSpPr>
          <p:cNvPr id="6" name="Text 4"/>
          <p:cNvSpPr/>
          <p:nvPr/>
        </p:nvSpPr>
        <p:spPr>
          <a:xfrm>
            <a:off x="502920" y="1527048"/>
            <a:ext cx="11091672" cy="365760"/>
          </a:xfrm>
          <a:prstGeom prst="rect">
            <a:avLst/>
          </a:prstGeom>
          <a:noFill/>
          <a:ln/>
        </p:spPr>
        <p:txBody>
          <a:bodyPr wrap="square" lIns="0" tIns="0" rIns="0" bIns="0" rtlCol="0" anchor="ctr"/>
          <a:lstStyle/>
          <a:p>
            <a:pPr indent="0" marL="0">
              <a:buNone/>
            </a:pPr>
            <a:r>
              <a:rPr lang="en-US" sz="1750" dirty="0">
                <a:solidFill>
                  <a:srgbClr val="6F6268"/>
                </a:solidFill>
                <a:latin typeface="Calibri" pitchFamily="34" charset="0"/>
                <a:ea typeface="Calibri" pitchFamily="34" charset="-122"/>
                <a:cs typeface="Calibri" pitchFamily="34" charset="-120"/>
              </a:rPr>
              <a:t>APPENDIX A  |  How the review separates an observed signal from a proposed action.</a:t>
            </a:r>
            <a:endParaRPr lang="en-US" sz="1750" dirty="0"/>
          </a:p>
        </p:txBody>
      </p:sp>
      <p:sp>
        <p:nvSpPr>
          <p:cNvPr id="7" name="Shape 5"/>
          <p:cNvSpPr/>
          <p:nvPr/>
        </p:nvSpPr>
        <p:spPr>
          <a:xfrm>
            <a:off x="502920" y="2112264"/>
            <a:ext cx="3547872" cy="1389888"/>
          </a:xfrm>
          <a:prstGeom prst="roundRect">
            <a:avLst>
              <a:gd name="adj" fmla="val 7895"/>
            </a:avLst>
          </a:prstGeom>
          <a:solidFill>
            <a:srgbClr val="FFFDFA"/>
          </a:solidFill>
          <a:ln w="12700">
            <a:solidFill>
              <a:srgbClr val="FFFDFA">
                <a:alpha val="0"/>
              </a:srgbClr>
            </a:solidFill>
            <a:prstDash val="solid"/>
          </a:ln>
        </p:spPr>
      </p:sp>
      <p:sp>
        <p:nvSpPr>
          <p:cNvPr id="8" name="Shape 6"/>
          <p:cNvSpPr/>
          <p:nvPr/>
        </p:nvSpPr>
        <p:spPr>
          <a:xfrm>
            <a:off x="667512" y="2359152"/>
            <a:ext cx="621792" cy="621792"/>
          </a:xfrm>
          <a:prstGeom prst="ellipse">
            <a:avLst/>
          </a:prstGeom>
          <a:solidFill>
            <a:srgbClr val="F0DFE3"/>
          </a:solidFill>
          <a:ln w="12700">
            <a:solidFill>
              <a:srgbClr val="F0DFE3">
                <a:alpha val="0"/>
              </a:srgbClr>
            </a:solidFill>
            <a:prstDash val="solid"/>
          </a:ln>
        </p:spPr>
      </p:sp>
      <p:sp>
        <p:nvSpPr>
          <p:cNvPr id="9" name="Text 7"/>
          <p:cNvSpPr/>
          <p:nvPr/>
        </p:nvSpPr>
        <p:spPr>
          <a:xfrm>
            <a:off x="667512" y="2359152"/>
            <a:ext cx="621792" cy="621792"/>
          </a:xfrm>
          <a:prstGeom prst="rect">
            <a:avLst/>
          </a:prstGeom>
          <a:noFill/>
          <a:ln/>
        </p:spPr>
        <p:txBody>
          <a:bodyPr wrap="square" lIns="0" tIns="0" rIns="0" bIns="0" rtlCol="0" anchor="ctr"/>
          <a:lstStyle/>
          <a:p>
            <a:pPr algn="ctr" indent="0" marL="0">
              <a:buNone/>
            </a:pPr>
            <a:endParaRPr lang="en-US" sz="1700" dirty="0"/>
          </a:p>
        </p:txBody>
      </p:sp>
      <p:sp>
        <p:nvSpPr>
          <p:cNvPr id="10" name="Shape 8"/>
          <p:cNvSpPr/>
          <p:nvPr/>
        </p:nvSpPr>
        <p:spPr>
          <a:xfrm>
            <a:off x="813816" y="2642616"/>
            <a:ext cx="77724" cy="164592"/>
          </a:xfrm>
          <a:prstGeom prst="rect">
            <a:avLst/>
          </a:prstGeom>
          <a:solidFill>
            <a:srgbClr val="6D2E46"/>
          </a:solidFill>
          <a:ln w="12700">
            <a:solidFill>
              <a:srgbClr val="6D2E46">
                <a:alpha val="0"/>
              </a:srgbClr>
            </a:solidFill>
            <a:prstDash val="solid"/>
          </a:ln>
        </p:spPr>
      </p:sp>
      <p:sp>
        <p:nvSpPr>
          <p:cNvPr id="11" name="Shape 9"/>
          <p:cNvSpPr/>
          <p:nvPr/>
        </p:nvSpPr>
        <p:spPr>
          <a:xfrm>
            <a:off x="932688" y="2532888"/>
            <a:ext cx="77724" cy="274320"/>
          </a:xfrm>
          <a:prstGeom prst="rect">
            <a:avLst/>
          </a:prstGeom>
          <a:solidFill>
            <a:srgbClr val="6D2E46"/>
          </a:solidFill>
          <a:ln w="12700">
            <a:solidFill>
              <a:srgbClr val="6D2E46">
                <a:alpha val="0"/>
              </a:srgbClr>
            </a:solidFill>
            <a:prstDash val="solid"/>
          </a:ln>
        </p:spPr>
      </p:sp>
      <p:sp>
        <p:nvSpPr>
          <p:cNvPr id="12" name="Shape 10"/>
          <p:cNvSpPr/>
          <p:nvPr/>
        </p:nvSpPr>
        <p:spPr>
          <a:xfrm>
            <a:off x="1051560" y="2414016"/>
            <a:ext cx="77724" cy="393192"/>
          </a:xfrm>
          <a:prstGeom prst="rect">
            <a:avLst/>
          </a:prstGeom>
          <a:solidFill>
            <a:srgbClr val="6D2E46"/>
          </a:solidFill>
          <a:ln w="12700">
            <a:solidFill>
              <a:srgbClr val="6D2E46">
                <a:alpha val="0"/>
              </a:srgbClr>
            </a:solidFill>
            <a:prstDash val="solid"/>
          </a:ln>
        </p:spPr>
      </p:sp>
      <p:sp>
        <p:nvSpPr>
          <p:cNvPr id="13" name="Text 11"/>
          <p:cNvSpPr/>
          <p:nvPr/>
        </p:nvSpPr>
        <p:spPr>
          <a:xfrm>
            <a:off x="1453896" y="2286000"/>
            <a:ext cx="2359152" cy="320040"/>
          </a:xfrm>
          <a:prstGeom prst="rect">
            <a:avLst/>
          </a:prstGeom>
          <a:noFill/>
          <a:ln/>
        </p:spPr>
        <p:txBody>
          <a:bodyPr wrap="square" lIns="0" tIns="0" rIns="0" bIns="0" rtlCol="0" anchor="ctr"/>
          <a:lstStyle/>
          <a:p>
            <a:pPr indent="0" marL="0">
              <a:buNone/>
            </a:pPr>
            <a:r>
              <a:rPr lang="en-US" sz="1830" b="1" dirty="0">
                <a:solidFill>
                  <a:srgbClr val="30282E"/>
                </a:solidFill>
                <a:latin typeface="Calibri" pitchFamily="34" charset="0"/>
                <a:ea typeface="Calibri" pitchFamily="34" charset="-122"/>
                <a:cs typeface="Calibri" pitchFamily="34" charset="-120"/>
              </a:rPr>
              <a:t>SKU performance</a:t>
            </a:r>
            <a:endParaRPr lang="en-US" sz="1830" dirty="0"/>
          </a:p>
        </p:txBody>
      </p:sp>
      <p:sp>
        <p:nvSpPr>
          <p:cNvPr id="14" name="Text 12"/>
          <p:cNvSpPr/>
          <p:nvPr/>
        </p:nvSpPr>
        <p:spPr>
          <a:xfrm>
            <a:off x="1453896" y="2798064"/>
            <a:ext cx="2350008" cy="502920"/>
          </a:xfrm>
          <a:prstGeom prst="rect">
            <a:avLst/>
          </a:prstGeom>
          <a:noFill/>
          <a:ln/>
        </p:spPr>
        <p:txBody>
          <a:bodyPr wrap="square" lIns="0" tIns="0" rIns="0" bIns="0" rtlCol="0" anchor="ctr"/>
          <a:lstStyle/>
          <a:p>
            <a:pPr indent="0" marL="0">
              <a:buNone/>
            </a:pPr>
            <a:r>
              <a:rPr lang="en-US" sz="1590" dirty="0">
                <a:solidFill>
                  <a:srgbClr val="6F6268"/>
                </a:solidFill>
                <a:latin typeface="Calibri" pitchFamily="34" charset="0"/>
                <a:ea typeface="Calibri" pitchFamily="34" charset="-122"/>
                <a:cs typeface="Calibri" pitchFamily="34" charset="-120"/>
              </a:rPr>
              <a:t>Revenue, units, margin,</a:t>
            </a:r>
            <a:endParaRPr lang="en-US" sz="1590" dirty="0"/>
          </a:p>
          <a:p>
            <a:pPr indent="0" marL="0">
              <a:buNone/>
            </a:pPr>
            <a:r>
              <a:rPr lang="en-US" sz="1590" dirty="0">
                <a:solidFill>
                  <a:srgbClr val="6F6268"/>
                </a:solidFill>
                <a:latin typeface="Calibri" pitchFamily="34" charset="0"/>
                <a:ea typeface="Calibri" pitchFamily="34" charset="-122"/>
                <a:cs typeface="Calibri" pitchFamily="34" charset="-120"/>
              </a:rPr>
              <a:t>status and stock</a:t>
            </a:r>
            <a:endParaRPr lang="en-US" sz="1590" dirty="0"/>
          </a:p>
        </p:txBody>
      </p:sp>
      <p:sp>
        <p:nvSpPr>
          <p:cNvPr id="15" name="Shape 13"/>
          <p:cNvSpPr/>
          <p:nvPr/>
        </p:nvSpPr>
        <p:spPr>
          <a:xfrm>
            <a:off x="4325112" y="2112264"/>
            <a:ext cx="3547872" cy="1389888"/>
          </a:xfrm>
          <a:prstGeom prst="roundRect">
            <a:avLst>
              <a:gd name="adj" fmla="val 7895"/>
            </a:avLst>
          </a:prstGeom>
          <a:solidFill>
            <a:srgbClr val="FFFDFA"/>
          </a:solidFill>
          <a:ln w="12700">
            <a:solidFill>
              <a:srgbClr val="FFFDFA">
                <a:alpha val="0"/>
              </a:srgbClr>
            </a:solidFill>
            <a:prstDash val="solid"/>
          </a:ln>
        </p:spPr>
      </p:sp>
      <p:sp>
        <p:nvSpPr>
          <p:cNvPr id="16" name="Shape 14"/>
          <p:cNvSpPr/>
          <p:nvPr/>
        </p:nvSpPr>
        <p:spPr>
          <a:xfrm>
            <a:off x="4489704" y="2359152"/>
            <a:ext cx="621792" cy="621792"/>
          </a:xfrm>
          <a:prstGeom prst="ellipse">
            <a:avLst/>
          </a:prstGeom>
          <a:solidFill>
            <a:srgbClr val="F0DFE3"/>
          </a:solidFill>
          <a:ln w="12700">
            <a:solidFill>
              <a:srgbClr val="F0DFE3">
                <a:alpha val="0"/>
              </a:srgbClr>
            </a:solidFill>
            <a:prstDash val="solid"/>
          </a:ln>
        </p:spPr>
      </p:sp>
      <p:sp>
        <p:nvSpPr>
          <p:cNvPr id="17" name="Text 15"/>
          <p:cNvSpPr/>
          <p:nvPr/>
        </p:nvSpPr>
        <p:spPr>
          <a:xfrm>
            <a:off x="4489704" y="2359152"/>
            <a:ext cx="621792" cy="621792"/>
          </a:xfrm>
          <a:prstGeom prst="rect">
            <a:avLst/>
          </a:prstGeom>
          <a:noFill/>
          <a:ln/>
        </p:spPr>
        <p:txBody>
          <a:bodyPr wrap="square" lIns="0" tIns="0" rIns="0" bIns="0" rtlCol="0" anchor="ctr"/>
          <a:lstStyle/>
          <a:p>
            <a:pPr algn="ctr" indent="0" marL="0">
              <a:buNone/>
            </a:pPr>
            <a:endParaRPr lang="en-US" sz="1700" dirty="0"/>
          </a:p>
        </p:txBody>
      </p:sp>
      <p:sp>
        <p:nvSpPr>
          <p:cNvPr id="18" name="Shape 16"/>
          <p:cNvSpPr/>
          <p:nvPr/>
        </p:nvSpPr>
        <p:spPr>
          <a:xfrm>
            <a:off x="4677156" y="2468880"/>
            <a:ext cx="246888" cy="393192"/>
          </a:xfrm>
          <a:prstGeom prst="roundRect">
            <a:avLst>
              <a:gd name="adj" fmla="val 11111"/>
            </a:avLst>
          </a:prstGeom>
          <a:solidFill>
            <a:srgbClr val="6D2E46"/>
          </a:solidFill>
          <a:ln w="12700">
            <a:solidFill>
              <a:srgbClr val="6D2E46">
                <a:alpha val="0"/>
              </a:srgbClr>
            </a:solidFill>
            <a:prstDash val="solid"/>
          </a:ln>
        </p:spPr>
      </p:sp>
      <p:sp>
        <p:nvSpPr>
          <p:cNvPr id="19" name="Shape 17"/>
          <p:cNvSpPr/>
          <p:nvPr/>
        </p:nvSpPr>
        <p:spPr>
          <a:xfrm>
            <a:off x="4732020" y="2441448"/>
            <a:ext cx="137160" cy="54864"/>
          </a:xfrm>
          <a:prstGeom prst="rect">
            <a:avLst/>
          </a:prstGeom>
          <a:solidFill>
            <a:srgbClr val="6D2E46"/>
          </a:solidFill>
          <a:ln w="12700">
            <a:solidFill>
              <a:srgbClr val="6D2E46">
                <a:alpha val="0"/>
              </a:srgbClr>
            </a:solidFill>
            <a:prstDash val="solid"/>
          </a:ln>
        </p:spPr>
      </p:sp>
      <p:sp>
        <p:nvSpPr>
          <p:cNvPr id="20" name="Shape 18"/>
          <p:cNvSpPr/>
          <p:nvPr/>
        </p:nvSpPr>
        <p:spPr>
          <a:xfrm>
            <a:off x="4722876" y="2633472"/>
            <a:ext cx="155448" cy="68580"/>
          </a:xfrm>
          <a:prstGeom prst="rect">
            <a:avLst/>
          </a:prstGeom>
          <a:solidFill>
            <a:srgbClr val="FAF6EF"/>
          </a:solidFill>
          <a:ln w="12700">
            <a:solidFill>
              <a:srgbClr val="FAF6EF">
                <a:alpha val="0"/>
              </a:srgbClr>
            </a:solidFill>
            <a:prstDash val="solid"/>
          </a:ln>
        </p:spPr>
      </p:sp>
      <p:sp>
        <p:nvSpPr>
          <p:cNvPr id="21" name="Text 19"/>
          <p:cNvSpPr/>
          <p:nvPr/>
        </p:nvSpPr>
        <p:spPr>
          <a:xfrm>
            <a:off x="5276088" y="2286000"/>
            <a:ext cx="2359152" cy="320040"/>
          </a:xfrm>
          <a:prstGeom prst="rect">
            <a:avLst/>
          </a:prstGeom>
          <a:noFill/>
          <a:ln/>
        </p:spPr>
        <p:txBody>
          <a:bodyPr wrap="square" lIns="0" tIns="0" rIns="0" bIns="0" rtlCol="0" anchor="ctr"/>
          <a:lstStyle/>
          <a:p>
            <a:pPr indent="0" marL="0">
              <a:buNone/>
            </a:pPr>
            <a:r>
              <a:rPr lang="en-US" sz="1830" b="1" dirty="0">
                <a:solidFill>
                  <a:srgbClr val="30282E"/>
                </a:solidFill>
                <a:latin typeface="Calibri" pitchFamily="34" charset="0"/>
                <a:ea typeface="Calibri" pitchFamily="34" charset="-122"/>
                <a:cs typeface="Calibri" pitchFamily="34" charset="-120"/>
              </a:rPr>
              <a:t>Product metadata</a:t>
            </a:r>
            <a:endParaRPr lang="en-US" sz="1830" dirty="0"/>
          </a:p>
        </p:txBody>
      </p:sp>
      <p:sp>
        <p:nvSpPr>
          <p:cNvPr id="22" name="Text 20"/>
          <p:cNvSpPr/>
          <p:nvPr/>
        </p:nvSpPr>
        <p:spPr>
          <a:xfrm>
            <a:off x="5276088" y="2798064"/>
            <a:ext cx="2350008" cy="502920"/>
          </a:xfrm>
          <a:prstGeom prst="rect">
            <a:avLst/>
          </a:prstGeom>
          <a:noFill/>
          <a:ln/>
        </p:spPr>
        <p:txBody>
          <a:bodyPr wrap="square" lIns="0" tIns="0" rIns="0" bIns="0" rtlCol="0" anchor="ctr"/>
          <a:lstStyle/>
          <a:p>
            <a:pPr indent="0" marL="0">
              <a:buNone/>
            </a:pPr>
            <a:r>
              <a:rPr lang="en-US" sz="1590" dirty="0">
                <a:solidFill>
                  <a:srgbClr val="6F6268"/>
                </a:solidFill>
                <a:latin typeface="Calibri" pitchFamily="34" charset="0"/>
                <a:ea typeface="Calibri" pitchFamily="34" charset="-122"/>
                <a:cs typeface="Calibri" pitchFamily="34" charset="-120"/>
              </a:rPr>
              <a:t>Product role, supplier,</a:t>
            </a:r>
            <a:endParaRPr lang="en-US" sz="1590" dirty="0"/>
          </a:p>
          <a:p>
            <a:pPr indent="0" marL="0">
              <a:buNone/>
            </a:pPr>
            <a:r>
              <a:rPr lang="en-US" sz="1590" dirty="0">
                <a:solidFill>
                  <a:srgbClr val="6F6268"/>
                </a:solidFill>
                <a:latin typeface="Calibri" pitchFamily="34" charset="0"/>
                <a:ea typeface="Calibri" pitchFamily="34" charset="-122"/>
                <a:cs typeface="Calibri" pitchFamily="34" charset="-120"/>
              </a:rPr>
              <a:t>variant and seasonality</a:t>
            </a:r>
            <a:endParaRPr lang="en-US" sz="1590" dirty="0"/>
          </a:p>
        </p:txBody>
      </p:sp>
      <p:sp>
        <p:nvSpPr>
          <p:cNvPr id="23" name="Shape 21"/>
          <p:cNvSpPr/>
          <p:nvPr/>
        </p:nvSpPr>
        <p:spPr>
          <a:xfrm>
            <a:off x="8147304" y="2112264"/>
            <a:ext cx="3547872" cy="1389888"/>
          </a:xfrm>
          <a:prstGeom prst="roundRect">
            <a:avLst>
              <a:gd name="adj" fmla="val 7895"/>
            </a:avLst>
          </a:prstGeom>
          <a:solidFill>
            <a:srgbClr val="FFFDFA"/>
          </a:solidFill>
          <a:ln w="12700">
            <a:solidFill>
              <a:srgbClr val="FFFDFA">
                <a:alpha val="0"/>
              </a:srgbClr>
            </a:solidFill>
            <a:prstDash val="solid"/>
          </a:ln>
        </p:spPr>
      </p:sp>
      <p:sp>
        <p:nvSpPr>
          <p:cNvPr id="24" name="Shape 22"/>
          <p:cNvSpPr/>
          <p:nvPr/>
        </p:nvSpPr>
        <p:spPr>
          <a:xfrm>
            <a:off x="8311896" y="2359152"/>
            <a:ext cx="621792" cy="621792"/>
          </a:xfrm>
          <a:prstGeom prst="ellipse">
            <a:avLst/>
          </a:prstGeom>
          <a:solidFill>
            <a:srgbClr val="F0DFE3"/>
          </a:solidFill>
          <a:ln w="12700">
            <a:solidFill>
              <a:srgbClr val="F0DFE3">
                <a:alpha val="0"/>
              </a:srgbClr>
            </a:solidFill>
            <a:prstDash val="solid"/>
          </a:ln>
        </p:spPr>
      </p:sp>
      <p:sp>
        <p:nvSpPr>
          <p:cNvPr id="25" name="Text 23"/>
          <p:cNvSpPr/>
          <p:nvPr/>
        </p:nvSpPr>
        <p:spPr>
          <a:xfrm>
            <a:off x="8311896" y="2359152"/>
            <a:ext cx="621792" cy="621792"/>
          </a:xfrm>
          <a:prstGeom prst="rect">
            <a:avLst/>
          </a:prstGeom>
          <a:noFill/>
          <a:ln/>
        </p:spPr>
        <p:txBody>
          <a:bodyPr wrap="square" lIns="0" tIns="0" rIns="0" bIns="0" rtlCol="0" anchor="ctr"/>
          <a:lstStyle/>
          <a:p>
            <a:pPr algn="ctr" indent="0" marL="0">
              <a:buNone/>
            </a:pPr>
            <a:endParaRPr lang="en-US" sz="1700" dirty="0"/>
          </a:p>
        </p:txBody>
      </p:sp>
      <p:sp>
        <p:nvSpPr>
          <p:cNvPr id="26" name="Shape 24"/>
          <p:cNvSpPr/>
          <p:nvPr/>
        </p:nvSpPr>
        <p:spPr>
          <a:xfrm>
            <a:off x="8435340" y="2615184"/>
            <a:ext cx="118872" cy="118872"/>
          </a:xfrm>
          <a:prstGeom prst="ellipse">
            <a:avLst/>
          </a:prstGeom>
          <a:solidFill>
            <a:srgbClr val="6D2E46"/>
          </a:solidFill>
          <a:ln w="12700">
            <a:solidFill>
              <a:srgbClr val="6D2E46">
                <a:alpha val="0"/>
              </a:srgbClr>
            </a:solidFill>
            <a:prstDash val="solid"/>
          </a:ln>
        </p:spPr>
      </p:sp>
      <p:sp>
        <p:nvSpPr>
          <p:cNvPr id="27" name="Shape 25"/>
          <p:cNvSpPr/>
          <p:nvPr/>
        </p:nvSpPr>
        <p:spPr>
          <a:xfrm>
            <a:off x="8572500" y="2578608"/>
            <a:ext cx="118872" cy="118872"/>
          </a:xfrm>
          <a:prstGeom prst="ellipse">
            <a:avLst/>
          </a:prstGeom>
          <a:solidFill>
            <a:srgbClr val="6D2E46"/>
          </a:solidFill>
          <a:ln w="12700">
            <a:solidFill>
              <a:srgbClr val="6D2E46">
                <a:alpha val="0"/>
              </a:srgbClr>
            </a:solidFill>
            <a:prstDash val="solid"/>
          </a:ln>
        </p:spPr>
      </p:sp>
      <p:sp>
        <p:nvSpPr>
          <p:cNvPr id="28" name="Shape 26"/>
          <p:cNvSpPr/>
          <p:nvPr/>
        </p:nvSpPr>
        <p:spPr>
          <a:xfrm>
            <a:off x="8709660" y="2542032"/>
            <a:ext cx="118872" cy="118872"/>
          </a:xfrm>
          <a:prstGeom prst="ellipse">
            <a:avLst/>
          </a:prstGeom>
          <a:solidFill>
            <a:srgbClr val="6D2E46"/>
          </a:solidFill>
          <a:ln w="12700">
            <a:solidFill>
              <a:srgbClr val="6D2E46">
                <a:alpha val="0"/>
              </a:srgbClr>
            </a:solidFill>
            <a:prstDash val="solid"/>
          </a:ln>
        </p:spPr>
      </p:sp>
      <p:sp>
        <p:nvSpPr>
          <p:cNvPr id="29" name="Shape 27"/>
          <p:cNvSpPr/>
          <p:nvPr/>
        </p:nvSpPr>
        <p:spPr>
          <a:xfrm>
            <a:off x="8485632" y="2779776"/>
            <a:ext cx="301752" cy="0"/>
          </a:xfrm>
          <a:prstGeom prst="line">
            <a:avLst/>
          </a:prstGeom>
          <a:noFill/>
          <a:ln w="17780">
            <a:solidFill>
              <a:srgbClr val="6D2E46"/>
            </a:solidFill>
            <a:prstDash val="solid"/>
          </a:ln>
        </p:spPr>
      </p:sp>
      <p:sp>
        <p:nvSpPr>
          <p:cNvPr id="30" name="Text 28"/>
          <p:cNvSpPr/>
          <p:nvPr/>
        </p:nvSpPr>
        <p:spPr>
          <a:xfrm>
            <a:off x="9098280" y="2286000"/>
            <a:ext cx="2359152" cy="320040"/>
          </a:xfrm>
          <a:prstGeom prst="rect">
            <a:avLst/>
          </a:prstGeom>
          <a:noFill/>
          <a:ln/>
        </p:spPr>
        <p:txBody>
          <a:bodyPr wrap="square" lIns="0" tIns="0" rIns="0" bIns="0" rtlCol="0" anchor="ctr"/>
          <a:lstStyle/>
          <a:p>
            <a:pPr indent="0" marL="0">
              <a:buNone/>
            </a:pPr>
            <a:r>
              <a:rPr lang="en-US" sz="1830" b="1" dirty="0">
                <a:solidFill>
                  <a:srgbClr val="30282E"/>
                </a:solidFill>
                <a:latin typeface="Calibri" pitchFamily="34" charset="0"/>
                <a:ea typeface="Calibri" pitchFamily="34" charset="-122"/>
                <a:cs typeface="Calibri" pitchFamily="34" charset="-120"/>
              </a:rPr>
              <a:t>Competitor observations</a:t>
            </a:r>
            <a:endParaRPr lang="en-US" sz="1830" dirty="0"/>
          </a:p>
        </p:txBody>
      </p:sp>
      <p:sp>
        <p:nvSpPr>
          <p:cNvPr id="31" name="Text 29"/>
          <p:cNvSpPr/>
          <p:nvPr/>
        </p:nvSpPr>
        <p:spPr>
          <a:xfrm>
            <a:off x="9098280" y="2798064"/>
            <a:ext cx="2350008" cy="502920"/>
          </a:xfrm>
          <a:prstGeom prst="rect">
            <a:avLst/>
          </a:prstGeom>
          <a:noFill/>
          <a:ln/>
        </p:spPr>
        <p:txBody>
          <a:bodyPr wrap="square" lIns="0" tIns="0" rIns="0" bIns="0" rtlCol="0" anchor="ctr"/>
          <a:lstStyle/>
          <a:p>
            <a:pPr indent="0" marL="0">
              <a:buNone/>
            </a:pPr>
            <a:r>
              <a:rPr lang="en-US" sz="1590" dirty="0">
                <a:solidFill>
                  <a:srgbClr val="6F6268"/>
                </a:solidFill>
                <a:latin typeface="Calibri" pitchFamily="34" charset="0"/>
                <a:ea typeface="Calibri" pitchFamily="34" charset="-122"/>
                <a:cs typeface="Calibri" pitchFamily="34" charset="-120"/>
              </a:rPr>
              <a:t>Category/shade context;</a:t>
            </a:r>
            <a:endParaRPr lang="en-US" sz="1590" dirty="0"/>
          </a:p>
          <a:p>
            <a:pPr indent="0" marL="0">
              <a:buNone/>
            </a:pPr>
            <a:r>
              <a:rPr lang="en-US" sz="1590" dirty="0">
                <a:solidFill>
                  <a:srgbClr val="6F6268"/>
                </a:solidFill>
                <a:latin typeface="Calibri" pitchFamily="34" charset="0"/>
                <a:ea typeface="Calibri" pitchFamily="34" charset="-122"/>
                <a:cs typeface="Calibri" pitchFamily="34" charset="-120"/>
              </a:rPr>
              <a:t>comparability unverified</a:t>
            </a:r>
            <a:endParaRPr lang="en-US" sz="1590" dirty="0"/>
          </a:p>
        </p:txBody>
      </p:sp>
      <p:sp>
        <p:nvSpPr>
          <p:cNvPr id="32" name="Text 30"/>
          <p:cNvSpPr/>
          <p:nvPr/>
        </p:nvSpPr>
        <p:spPr>
          <a:xfrm>
            <a:off x="502920" y="3813048"/>
            <a:ext cx="2359152" cy="265176"/>
          </a:xfrm>
          <a:prstGeom prst="rect">
            <a:avLst/>
          </a:prstGeom>
          <a:noFill/>
          <a:ln/>
        </p:spPr>
        <p:txBody>
          <a:bodyPr wrap="square" lIns="0" tIns="0" rIns="0" bIns="0" rtlCol="0" anchor="ctr"/>
          <a:lstStyle/>
          <a:p>
            <a:pPr indent="0" marL="0">
              <a:buNone/>
            </a:pPr>
            <a:r>
              <a:rPr lang="en-US" sz="1710" b="1" dirty="0">
                <a:solidFill>
                  <a:srgbClr val="6D2E46"/>
                </a:solidFill>
                <a:latin typeface="Calibri" pitchFamily="34" charset="0"/>
                <a:ea typeface="Calibri" pitchFamily="34" charset="-122"/>
                <a:cs typeface="Calibri" pitchFamily="34" charset="-120"/>
              </a:rPr>
              <a:t>Validate</a:t>
            </a:r>
            <a:endParaRPr lang="en-US" sz="1710" dirty="0"/>
          </a:p>
        </p:txBody>
      </p:sp>
      <p:sp>
        <p:nvSpPr>
          <p:cNvPr id="33" name="Text 31"/>
          <p:cNvSpPr/>
          <p:nvPr/>
        </p:nvSpPr>
        <p:spPr>
          <a:xfrm>
            <a:off x="3063240" y="3813048"/>
            <a:ext cx="8613648" cy="265176"/>
          </a:xfrm>
          <a:prstGeom prst="rect">
            <a:avLst/>
          </a:prstGeom>
          <a:noFill/>
          <a:ln/>
        </p:spPr>
        <p:txBody>
          <a:bodyPr wrap="square" lIns="0" tIns="0" rIns="0" bIns="0" rtlCol="0" anchor="ctr"/>
          <a:lstStyle/>
          <a:p>
            <a:pPr indent="0" marL="0">
              <a:buNone/>
            </a:pPr>
            <a:r>
              <a:rPr lang="en-US" sz="1670" dirty="0">
                <a:solidFill>
                  <a:srgbClr val="30282E"/>
                </a:solidFill>
                <a:latin typeface="Calibri" pitchFamily="34" charset="0"/>
                <a:ea typeface="Calibri" pitchFamily="34" charset="-122"/>
                <a:cs typeface="Calibri" pitchFamily="34" charset="-120"/>
              </a:rPr>
              <a:t>Required fields, joins and duplicates; preserve source IDs.</a:t>
            </a:r>
            <a:endParaRPr lang="en-US" sz="1670" dirty="0"/>
          </a:p>
        </p:txBody>
      </p:sp>
      <p:sp>
        <p:nvSpPr>
          <p:cNvPr id="34" name="Text 32"/>
          <p:cNvSpPr/>
          <p:nvPr/>
        </p:nvSpPr>
        <p:spPr>
          <a:xfrm>
            <a:off x="502920" y="4178808"/>
            <a:ext cx="2359152" cy="265176"/>
          </a:xfrm>
          <a:prstGeom prst="rect">
            <a:avLst/>
          </a:prstGeom>
          <a:noFill/>
          <a:ln/>
        </p:spPr>
        <p:txBody>
          <a:bodyPr wrap="square" lIns="0" tIns="0" rIns="0" bIns="0" rtlCol="0" anchor="ctr"/>
          <a:lstStyle/>
          <a:p>
            <a:pPr indent="0" marL="0">
              <a:buNone/>
            </a:pPr>
            <a:r>
              <a:rPr lang="en-US" sz="1710" b="1" dirty="0">
                <a:solidFill>
                  <a:srgbClr val="6D2E46"/>
                </a:solidFill>
                <a:latin typeface="Calibri" pitchFamily="34" charset="0"/>
                <a:ea typeface="Calibri" pitchFamily="34" charset="-122"/>
                <a:cs typeface="Calibri" pitchFamily="34" charset="-120"/>
              </a:rPr>
              <a:t>Apply guardrails</a:t>
            </a:r>
            <a:endParaRPr lang="en-US" sz="1710" dirty="0"/>
          </a:p>
        </p:txBody>
      </p:sp>
      <p:sp>
        <p:nvSpPr>
          <p:cNvPr id="35" name="Text 33"/>
          <p:cNvSpPr/>
          <p:nvPr/>
        </p:nvSpPr>
        <p:spPr>
          <a:xfrm>
            <a:off x="3063240" y="4178808"/>
            <a:ext cx="8613648" cy="265176"/>
          </a:xfrm>
          <a:prstGeom prst="rect">
            <a:avLst/>
          </a:prstGeom>
          <a:noFill/>
          <a:ln/>
        </p:spPr>
        <p:txBody>
          <a:bodyPr wrap="square" lIns="0" tIns="0" rIns="0" bIns="0" rtlCol="0" anchor="ctr"/>
          <a:lstStyle/>
          <a:p>
            <a:pPr indent="0" marL="0">
              <a:buNone/>
            </a:pPr>
            <a:r>
              <a:rPr lang="en-US" sz="1670" dirty="0">
                <a:solidFill>
                  <a:srgbClr val="30282E"/>
                </a:solidFill>
                <a:latin typeface="Calibri" pitchFamily="34" charset="0"/>
                <a:ea typeface="Calibri" pitchFamily="34" charset="-122"/>
                <a:cs typeface="Calibri" pitchFamily="34" charset="-120"/>
              </a:rPr>
              <a:t>Inactive is not an automatic delist; stock issues stay visible.</a:t>
            </a:r>
            <a:endParaRPr lang="en-US" sz="1670" dirty="0"/>
          </a:p>
        </p:txBody>
      </p:sp>
      <p:sp>
        <p:nvSpPr>
          <p:cNvPr id="36" name="Text 34"/>
          <p:cNvSpPr/>
          <p:nvPr/>
        </p:nvSpPr>
        <p:spPr>
          <a:xfrm>
            <a:off x="502920" y="4544568"/>
            <a:ext cx="2359152" cy="265176"/>
          </a:xfrm>
          <a:prstGeom prst="rect">
            <a:avLst/>
          </a:prstGeom>
          <a:noFill/>
          <a:ln/>
        </p:spPr>
        <p:txBody>
          <a:bodyPr wrap="square" lIns="0" tIns="0" rIns="0" bIns="0" rtlCol="0" anchor="ctr"/>
          <a:lstStyle/>
          <a:p>
            <a:pPr indent="0" marL="0">
              <a:buNone/>
            </a:pPr>
            <a:r>
              <a:rPr lang="en-US" sz="1710" b="1" dirty="0">
                <a:solidFill>
                  <a:srgbClr val="6D2E46"/>
                </a:solidFill>
                <a:latin typeface="Calibri" pitchFamily="34" charset="0"/>
                <a:ea typeface="Calibri" pitchFamily="34" charset="-122"/>
                <a:cs typeface="Calibri" pitchFamily="34" charset="-120"/>
              </a:rPr>
              <a:t>Prioritise</a:t>
            </a:r>
            <a:endParaRPr lang="en-US" sz="1710" dirty="0"/>
          </a:p>
        </p:txBody>
      </p:sp>
      <p:sp>
        <p:nvSpPr>
          <p:cNvPr id="37" name="Text 35"/>
          <p:cNvSpPr/>
          <p:nvPr/>
        </p:nvSpPr>
        <p:spPr>
          <a:xfrm>
            <a:off x="3063240" y="4544568"/>
            <a:ext cx="8613648" cy="265176"/>
          </a:xfrm>
          <a:prstGeom prst="rect">
            <a:avLst/>
          </a:prstGeom>
          <a:noFill/>
          <a:ln/>
        </p:spPr>
        <p:txBody>
          <a:bodyPr wrap="square" lIns="0" tIns="0" rIns="0" bIns="0" rtlCol="0" anchor="ctr"/>
          <a:lstStyle/>
          <a:p>
            <a:pPr indent="0" marL="0">
              <a:buNone/>
            </a:pPr>
            <a:r>
              <a:rPr lang="en-US" sz="1670" dirty="0">
                <a:solidFill>
                  <a:srgbClr val="30282E"/>
                </a:solidFill>
                <a:latin typeface="Calibri" pitchFamily="34" charset="0"/>
                <a:ea typeface="Calibri" pitchFamily="34" charset="-122"/>
                <a:cs typeface="Calibri" pitchFamily="34" charset="-120"/>
              </a:rPr>
              <a:t>Operational prerequisites first; review one concrete item per action.</a:t>
            </a:r>
            <a:endParaRPr lang="en-US" sz="1670" dirty="0"/>
          </a:p>
        </p:txBody>
      </p:sp>
      <p:sp>
        <p:nvSpPr>
          <p:cNvPr id="38" name="Text 36"/>
          <p:cNvSpPr/>
          <p:nvPr/>
        </p:nvSpPr>
        <p:spPr>
          <a:xfrm>
            <a:off x="502920" y="4910328"/>
            <a:ext cx="2359152" cy="265176"/>
          </a:xfrm>
          <a:prstGeom prst="rect">
            <a:avLst/>
          </a:prstGeom>
          <a:noFill/>
          <a:ln/>
        </p:spPr>
        <p:txBody>
          <a:bodyPr wrap="square" lIns="0" tIns="0" rIns="0" bIns="0" rtlCol="0" anchor="ctr"/>
          <a:lstStyle/>
          <a:p>
            <a:pPr indent="0" marL="0">
              <a:buNone/>
            </a:pPr>
            <a:r>
              <a:rPr lang="en-US" sz="1710" b="1" dirty="0">
                <a:solidFill>
                  <a:srgbClr val="6D2E46"/>
                </a:solidFill>
                <a:latin typeface="Calibri" pitchFamily="34" charset="0"/>
                <a:ea typeface="Calibri" pitchFamily="34" charset="-122"/>
                <a:cs typeface="Calibri" pitchFamily="34" charset="-120"/>
              </a:rPr>
              <a:t>Expose uncertainty</a:t>
            </a:r>
            <a:endParaRPr lang="en-US" sz="1710" dirty="0"/>
          </a:p>
        </p:txBody>
      </p:sp>
      <p:sp>
        <p:nvSpPr>
          <p:cNvPr id="39" name="Text 37"/>
          <p:cNvSpPr/>
          <p:nvPr/>
        </p:nvSpPr>
        <p:spPr>
          <a:xfrm>
            <a:off x="3063240" y="4910328"/>
            <a:ext cx="8613648" cy="265176"/>
          </a:xfrm>
          <a:prstGeom prst="rect">
            <a:avLst/>
          </a:prstGeom>
          <a:noFill/>
          <a:ln/>
        </p:spPr>
        <p:txBody>
          <a:bodyPr wrap="square" lIns="0" tIns="0" rIns="0" bIns="0" rtlCol="0" anchor="ctr"/>
          <a:lstStyle/>
          <a:p>
            <a:pPr indent="0" marL="0">
              <a:buNone/>
            </a:pPr>
            <a:r>
              <a:rPr lang="en-US" sz="1670" dirty="0">
                <a:solidFill>
                  <a:srgbClr val="30282E"/>
                </a:solidFill>
                <a:latin typeface="Calibri" pitchFamily="34" charset="0"/>
                <a:ea typeface="Calibri" pitchFamily="34" charset="-122"/>
                <a:cs typeface="Calibri" pitchFamily="34" charset="-120"/>
              </a:rPr>
              <a:t>Scenarios, assumptions, freshness and limits travel with the decision.</a:t>
            </a:r>
            <a:endParaRPr lang="en-US" sz="1670" dirty="0"/>
          </a:p>
        </p:txBody>
      </p:sp>
      <p:sp>
        <p:nvSpPr>
          <p:cNvPr id="40" name="Shape 38"/>
          <p:cNvSpPr/>
          <p:nvPr/>
        </p:nvSpPr>
        <p:spPr>
          <a:xfrm>
            <a:off x="502920" y="5614416"/>
            <a:ext cx="11183112" cy="420624"/>
          </a:xfrm>
          <a:prstGeom prst="rect">
            <a:avLst/>
          </a:prstGeom>
          <a:solidFill>
            <a:srgbClr val="F0DFE3"/>
          </a:solidFill>
          <a:ln w="12700">
            <a:solidFill>
              <a:srgbClr val="F0DFE3">
                <a:alpha val="0"/>
              </a:srgbClr>
            </a:solidFill>
            <a:prstDash val="solid"/>
          </a:ln>
        </p:spPr>
      </p:sp>
      <p:sp>
        <p:nvSpPr>
          <p:cNvPr id="41" name="Text 39"/>
          <p:cNvSpPr/>
          <p:nvPr/>
        </p:nvSpPr>
        <p:spPr>
          <a:xfrm>
            <a:off x="667512" y="5705856"/>
            <a:ext cx="10853928" cy="228600"/>
          </a:xfrm>
          <a:prstGeom prst="rect">
            <a:avLst/>
          </a:prstGeom>
          <a:noFill/>
          <a:ln/>
        </p:spPr>
        <p:txBody>
          <a:bodyPr wrap="square" lIns="0" tIns="0" rIns="0" bIns="0" rtlCol="0" anchor="ctr"/>
          <a:lstStyle/>
          <a:p>
            <a:pPr indent="0" marL="0">
              <a:buNone/>
            </a:pPr>
            <a:r>
              <a:rPr lang="en-US" sz="1540" b="1" dirty="0">
                <a:solidFill>
                  <a:srgbClr val="502737"/>
                </a:solidFill>
                <a:latin typeface="Calibri" pitchFamily="34" charset="0"/>
                <a:ea typeface="Calibri" pitchFamily="34" charset="-122"/>
                <a:cs typeface="Calibri" pitchFamily="34" charset="-120"/>
              </a:rPr>
              <a:t>1 Jul 2026 competitor data: 81 days old; 4 invalid scores excluded. The 12-week period end is unknown.</a:t>
            </a:r>
            <a:endParaRPr lang="en-US" sz="15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Text 0"/>
          <p:cNvSpPr/>
          <p:nvPr/>
        </p:nvSpPr>
        <p:spPr>
          <a:xfrm>
            <a:off x="502920" y="6231636"/>
            <a:ext cx="10588752" cy="182880"/>
          </a:xfrm>
          <a:prstGeom prst="rect">
            <a:avLst/>
          </a:prstGeom>
          <a:noFill/>
          <a:ln/>
        </p:spPr>
        <p:txBody>
          <a:bodyPr wrap="square" lIns="0" tIns="0" rIns="0" bIns="0" rtlCol="0" anchor="ctr"/>
          <a:lstStyle/>
          <a:p>
            <a:pPr indent="0" marL="0">
              <a:buNone/>
            </a:pPr>
            <a:r>
              <a:rPr lang="en-US" sz="1050" dirty="0">
                <a:solidFill>
                  <a:srgbClr val="6F6268"/>
                </a:solidFill>
                <a:latin typeface="Calibri" pitchFamily="34" charset="0"/>
                <a:ea typeface="Calibri" pitchFamily="34" charset="-122"/>
                <a:cs typeface="Calibri" pitchFamily="34" charset="-120"/>
              </a:rPr>
              <a:t>Source: shared architecture artwork/specification; official references in notes  |  a772921f8ac4c1194db8</a:t>
            </a:r>
            <a:endParaRPr lang="en-US" sz="1050" dirty="0"/>
          </a:p>
        </p:txBody>
      </p:sp>
      <p:sp>
        <p:nvSpPr>
          <p:cNvPr id="3" name="Text 1"/>
          <p:cNvSpPr/>
          <p:nvPr/>
        </p:nvSpPr>
        <p:spPr>
          <a:xfrm>
            <a:off x="11155680" y="6231636"/>
            <a:ext cx="530352" cy="182880"/>
          </a:xfrm>
          <a:prstGeom prst="rect">
            <a:avLst/>
          </a:prstGeom>
          <a:noFill/>
          <a:ln/>
        </p:spPr>
        <p:txBody>
          <a:bodyPr wrap="square" lIns="0" tIns="0" rIns="0" bIns="0" rtlCol="0" anchor="ctr"/>
          <a:lstStyle/>
          <a:p>
            <a:pPr algn="r" indent="0" marL="0">
              <a:buNone/>
            </a:pPr>
            <a:r>
              <a:rPr lang="en-US" sz="1050" dirty="0">
                <a:solidFill>
                  <a:srgbClr val="6F6268"/>
                </a:solidFill>
                <a:latin typeface="Calibri" pitchFamily="34" charset="0"/>
                <a:ea typeface="Calibri" pitchFamily="34" charset="-122"/>
                <a:cs typeface="Calibri" pitchFamily="34" charset="-120"/>
              </a:rPr>
              <a:t>10 / 10</a:t>
            </a:r>
            <a:endParaRPr lang="en-US" sz="1050" dirty="0"/>
          </a:p>
        </p:txBody>
      </p:sp>
      <p:sp>
        <p:nvSpPr>
          <p:cNvPr id="4" name="Text 2"/>
          <p:cNvSpPr/>
          <p:nvPr/>
        </p:nvSpPr>
        <p:spPr>
          <a:xfrm>
            <a:off x="502920" y="493776"/>
            <a:ext cx="11183112" cy="612648"/>
          </a:xfrm>
          <a:prstGeom prst="rect">
            <a:avLst/>
          </a:prstGeom>
          <a:noFill/>
          <a:ln/>
        </p:spPr>
        <p:txBody>
          <a:bodyPr wrap="square" lIns="0" tIns="0" rIns="0" bIns="0" rtlCol="0" anchor="ctr"/>
          <a:lstStyle/>
          <a:p>
            <a:pPr indent="0" marL="0">
              <a:buNone/>
            </a:pPr>
            <a:r>
              <a:rPr lang="en-US" sz="3050" b="1" dirty="0">
                <a:solidFill>
                  <a:srgbClr val="30282E"/>
                </a:solidFill>
                <a:latin typeface="Calibri" pitchFamily="34" charset="0"/>
                <a:ea typeface="Calibri" pitchFamily="34" charset="-122"/>
                <a:cs typeface="Calibri" pitchFamily="34" charset="-120"/>
              </a:rPr>
              <a:t>A shared Azure workflow is a scale option—not a pilot prerequisite</a:t>
            </a:r>
            <a:endParaRPr lang="en-US" sz="3050" dirty="0"/>
          </a:p>
        </p:txBody>
      </p:sp>
      <p:sp>
        <p:nvSpPr>
          <p:cNvPr id="5" name="Text 3"/>
          <p:cNvSpPr/>
          <p:nvPr/>
        </p:nvSpPr>
        <p:spPr>
          <a:xfrm>
            <a:off x="502920" y="1179576"/>
            <a:ext cx="11183112" cy="292608"/>
          </a:xfrm>
          <a:prstGeom prst="rect">
            <a:avLst/>
          </a:prstGeom>
          <a:noFill/>
          <a:ln/>
        </p:spPr>
        <p:txBody>
          <a:bodyPr wrap="square" lIns="0" tIns="0" rIns="0" bIns="0" rtlCol="0" anchor="ctr"/>
          <a:lstStyle/>
          <a:p>
            <a:pPr indent="0" marL="0">
              <a:buNone/>
            </a:pPr>
            <a:r>
              <a:rPr lang="en-US" sz="1620" dirty="0">
                <a:solidFill>
                  <a:srgbClr val="6F6268"/>
                </a:solidFill>
                <a:latin typeface="Calibri" pitchFamily="34" charset="0"/>
                <a:ea typeface="Calibri" pitchFamily="34" charset="-122"/>
                <a:cs typeface="Calibri" pitchFamily="34" charset="-120"/>
              </a:rPr>
              <a:t>APPENDIX B  |  Proposed, not deployed. API, sign-in and shared-plan persistence still need building.</a:t>
            </a:r>
            <a:endParaRPr lang="en-US" sz="1620" dirty="0"/>
          </a:p>
        </p:txBody>
      </p:sp>
      <p:pic>
        <p:nvPicPr>
          <p:cNvPr id="6" name="Image 0" descr="Proposed Azure production architecture, identical to the dashboard Architecture view. Not deployed.">
            <a:hlinkClick r:id="rId2" tooltip=""/>
          </p:cNvPr>
          <p:cNvPicPr>
            <a:picLocks noChangeAspect="1"/>
          </p:cNvPicPr>
          <p:nvPr/>
        </p:nvPicPr>
        <p:blipFill>
          <a:blip r:embed="rId1"/>
          <a:stretch>
            <a:fillRect/>
          </a:stretch>
        </p:blipFill>
        <p:spPr>
          <a:xfrm>
            <a:off x="688307" y="1536192"/>
            <a:ext cx="10815385" cy="45902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ZenBeauty Retail — fictional case 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Validate first. Pilot selectively. Scale on evidence.</dc:title>
  <dc:subject>Decision-led business review: validate first, pilot selectively, scale on evidence</dc:subject>
  <dc:creator>ZenBeauty Retail category opportunity review</dc:creator>
  <cp:lastModifiedBy>ZenBeauty Retail category opportunity review</cp:lastModifiedBy>
  <cp:revision>1</cp:revision>
  <dcterms:created xsi:type="dcterms:W3CDTF">2026-09-20T16:57:35Z</dcterms:created>
  <dcterms:modified xsi:type="dcterms:W3CDTF">2026-09-20T16:57:35Z</dcterms:modified>
</cp:coreProperties>
</file>